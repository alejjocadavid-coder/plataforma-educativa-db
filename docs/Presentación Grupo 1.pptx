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57" r:id="rId3"/>
    <p:sldId id="296" r:id="rId4"/>
    <p:sldId id="293" r:id="rId5"/>
    <p:sldId id="282" r:id="rId6"/>
    <p:sldId id="294" r:id="rId7"/>
    <p:sldId id="283" r:id="rId8"/>
    <p:sldId id="284" r:id="rId9"/>
    <p:sldId id="281"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0" autoAdjust="0"/>
  </p:normalViewPr>
  <p:slideViewPr>
    <p:cSldViewPr snapToGrid="0" snapToObjects="1" showGuides="1">
      <p:cViewPr varScale="1">
        <p:scale>
          <a:sx n="61" d="100"/>
          <a:sy n="61"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Preséntate con tu nombre, programa y explica brevemente el tema.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92757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86513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87564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5153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4620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 qué es la comunicación y por qué es importante en el trabajo.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71200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Explica</a:t>
            </a:r>
            <a:r>
              <a:rPr dirty="0"/>
              <a:t> </a:t>
            </a:r>
            <a:r>
              <a:rPr dirty="0" err="1"/>
              <a:t>qué</a:t>
            </a:r>
            <a:r>
              <a:rPr dirty="0"/>
              <a:t> es la </a:t>
            </a:r>
            <a:r>
              <a:rPr dirty="0" err="1"/>
              <a:t>comunicación</a:t>
            </a:r>
            <a:r>
              <a:rPr dirty="0"/>
              <a:t> y por </a:t>
            </a:r>
            <a:r>
              <a:rPr dirty="0" err="1"/>
              <a:t>qué</a:t>
            </a:r>
            <a:r>
              <a:rPr dirty="0"/>
              <a:t> es </a:t>
            </a:r>
            <a:r>
              <a:rPr dirty="0" err="1"/>
              <a:t>importante</a:t>
            </a:r>
            <a:r>
              <a:rPr dirty="0"/>
              <a:t> </a:t>
            </a:r>
            <a:r>
              <a:rPr dirty="0" err="1"/>
              <a:t>en</a:t>
            </a:r>
            <a:r>
              <a:rPr dirty="0"/>
              <a:t> </a:t>
            </a:r>
            <a:r>
              <a:rPr dirty="0" err="1"/>
              <a:t>el</a:t>
            </a:r>
            <a:r>
              <a:rPr dirty="0"/>
              <a:t> </a:t>
            </a:r>
            <a:r>
              <a:rPr dirty="0" err="1"/>
              <a:t>trabajo</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hasCustomPrompt="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hasCustomPrompt="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hasCustomPrompt="1"/>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hasCustomPrompt="1"/>
          </p:nvPr>
        </p:nvSpPr>
        <p:spPr>
          <a:xfrm>
            <a:off x="609599"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hasCustomPrompt="1"/>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hasCustomPrompt="1"/>
          </p:nvPr>
        </p:nvSpPr>
        <p:spPr>
          <a:xfrm>
            <a:off x="3866640"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hasCustomPrompt="1"/>
          </p:nvPr>
        </p:nvSpPr>
        <p:spPr>
          <a:xfrm>
            <a:off x="3571275" y="514925"/>
            <a:ext cx="3386037"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hasCustomPrompt="1"/>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hasCustomPrompt="1"/>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hasCustomPrompt="1"/>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hasCustomPrompt="1"/>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hasCustomPrompt="1"/>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hasCustomPrompt="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hasCustomPrompt="1"/>
          </p:nvPr>
        </p:nvSpPr>
        <p:spPr>
          <a:xfrm>
            <a:off x="609599" y="609600"/>
            <a:ext cx="5195026" cy="52514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921" y="578805"/>
            <a:ext cx="6408803" cy="861112"/>
          </a:xfrm>
        </p:spPr>
        <p:txBody>
          <a:bodyPr>
            <a:noAutofit/>
          </a:bodyPr>
          <a:lstStyle/>
          <a:p>
            <a:pPr algn="ctr"/>
            <a:r>
              <a:rPr lang="es-ES" sz="2400" b="1" dirty="0">
                <a:solidFill>
                  <a:srgbClr val="7030A0"/>
                </a:solidFill>
              </a:rPr>
              <a:t>PROYECTO 4 </a:t>
            </a:r>
            <a:br>
              <a:rPr lang="es-ES" sz="2400" b="1" dirty="0">
                <a:solidFill>
                  <a:srgbClr val="7030A0"/>
                </a:solidFill>
              </a:rPr>
            </a:br>
            <a:r>
              <a:rPr lang="es-ES" sz="2400" b="1" dirty="0">
                <a:solidFill>
                  <a:srgbClr val="7030A0"/>
                </a:solidFill>
              </a:rPr>
              <a:t>PLATAFORMA EDUCATIVA (E-LEARNING)</a:t>
            </a:r>
            <a:endParaRPr lang="es-CO" sz="2400" b="1" dirty="0">
              <a:solidFill>
                <a:srgbClr val="7030A0"/>
              </a:solidFill>
            </a:endParaRPr>
          </a:p>
        </p:txBody>
      </p:sp>
      <p:sp>
        <p:nvSpPr>
          <p:cNvPr id="3" name="Content Placeholder 2"/>
          <p:cNvSpPr>
            <a:spLocks noGrp="1"/>
          </p:cNvSpPr>
          <p:nvPr>
            <p:ph idx="1"/>
          </p:nvPr>
        </p:nvSpPr>
        <p:spPr>
          <a:xfrm>
            <a:off x="-189549" y="4987680"/>
            <a:ext cx="7633742" cy="1045156"/>
          </a:xfrm>
        </p:spPr>
        <p:txBody>
          <a:bodyPr>
            <a:normAutofit fontScale="77500" lnSpcReduction="20000"/>
          </a:bodyPr>
          <a:lstStyle/>
          <a:p>
            <a:pPr marL="0" indent="0" algn="ctr">
              <a:lnSpc>
                <a:spcPct val="150000"/>
              </a:lnSpc>
              <a:buNone/>
            </a:pPr>
            <a:r>
              <a:rPr lang="es-E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Proyecto 4 Entrega 1 – </a:t>
            </a:r>
            <a:r>
              <a:rPr lang="es-ES" b="1"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Makaia</a:t>
            </a:r>
            <a:r>
              <a:rPr lang="es-E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s-ES" b="1"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Bootcamp</a:t>
            </a:r>
            <a:br>
              <a:rPr lang="es-E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lang="es-E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Grupo 1</a:t>
            </a:r>
          </a:p>
          <a:p>
            <a:pPr marL="0" indent="0" algn="ctr">
              <a:lnSpc>
                <a:spcPct val="150000"/>
              </a:lnSpc>
              <a:buNone/>
            </a:pPr>
            <a:r>
              <a:rPr lang="es-E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COLOMBIA, BOGOTÁ. 2026</a:t>
            </a:r>
            <a:endParaRPr lang="es-CO"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2"/>
          <p:cNvSpPr txBox="1"/>
          <p:nvPr/>
        </p:nvSpPr>
        <p:spPr>
          <a:xfrm>
            <a:off x="957426" y="2500815"/>
            <a:ext cx="5717627" cy="1856369"/>
          </a:xfrm>
          <a:prstGeom prst="rect">
            <a:avLst/>
          </a:prstGeom>
        </p:spPr>
        <p:txBody>
          <a:bodyPr vert="horz" lIns="91440" tIns="45720" rIns="91440" bIns="45720" rtlCol="0">
            <a:noAutofit/>
          </a:bodyPr>
          <a:lstStyle>
            <a:lvl1pPr marL="228600" indent="-228600" algn="l" defTabSz="6858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6858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6858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6858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6858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lgn="ctr">
              <a:buNone/>
            </a:pPr>
            <a:r>
              <a:rPr lang="es-ES" sz="2800" dirty="0">
                <a:solidFill>
                  <a:schemeClr val="tx1"/>
                </a:solidFill>
                <a:latin typeface="Calibri" panose="020F0502020204030204" pitchFamily="34" charset="0"/>
                <a:ea typeface="Calibri" panose="020F0502020204030204" pitchFamily="34" charset="0"/>
                <a:cs typeface="Calibri" panose="020F0502020204030204" pitchFamily="34" charset="0"/>
              </a:rPr>
              <a:t>Alejandro Cadavid Velásquez</a:t>
            </a:r>
          </a:p>
          <a:p>
            <a:pPr marL="0" indent="0" algn="ctr">
              <a:buNone/>
            </a:pPr>
            <a:r>
              <a:rPr lang="es-ES" sz="2800" dirty="0" err="1">
                <a:solidFill>
                  <a:schemeClr val="tx1"/>
                </a:solidFill>
                <a:latin typeface="Calibri" panose="020F0502020204030204" pitchFamily="34" charset="0"/>
                <a:ea typeface="Calibri" panose="020F0502020204030204" pitchFamily="34" charset="0"/>
                <a:cs typeface="Calibri" panose="020F0502020204030204" pitchFamily="34" charset="0"/>
              </a:rPr>
              <a:t>Ingri</a:t>
            </a:r>
            <a:r>
              <a:rPr lang="es-ES" sz="2800" dirty="0">
                <a:solidFill>
                  <a:schemeClr val="tx1"/>
                </a:solidFill>
                <a:latin typeface="Calibri" panose="020F0502020204030204" pitchFamily="34" charset="0"/>
                <a:ea typeface="Calibri" panose="020F0502020204030204" pitchFamily="34" charset="0"/>
                <a:cs typeface="Calibri" panose="020F0502020204030204" pitchFamily="34" charset="0"/>
              </a:rPr>
              <a:t> Johana Rolón Torres</a:t>
            </a:r>
          </a:p>
          <a:p>
            <a:pPr marL="0" indent="0" algn="ctr">
              <a:buNone/>
            </a:pPr>
            <a:r>
              <a:rPr lang="es-ES" sz="2800" dirty="0">
                <a:solidFill>
                  <a:schemeClr val="tx1"/>
                </a:solidFill>
                <a:latin typeface="Calibri" panose="020F0502020204030204" pitchFamily="34" charset="0"/>
                <a:ea typeface="Calibri" panose="020F0502020204030204" pitchFamily="34" charset="0"/>
                <a:cs typeface="Calibri" panose="020F0502020204030204" pitchFamily="34" charset="0"/>
              </a:rPr>
              <a:t>Luz </a:t>
            </a:r>
            <a:r>
              <a:rPr lang="es-ES" sz="2800" dirty="0" err="1">
                <a:solidFill>
                  <a:schemeClr val="tx1"/>
                </a:solidFill>
                <a:latin typeface="Calibri" panose="020F0502020204030204" pitchFamily="34" charset="0"/>
                <a:ea typeface="Calibri" panose="020F0502020204030204" pitchFamily="34" charset="0"/>
                <a:cs typeface="Calibri" panose="020F0502020204030204" pitchFamily="34" charset="0"/>
              </a:rPr>
              <a:t>Angelith</a:t>
            </a:r>
            <a:r>
              <a:rPr lang="es-ES" sz="2800" dirty="0">
                <a:solidFill>
                  <a:schemeClr val="tx1"/>
                </a:solidFill>
                <a:latin typeface="Calibri" panose="020F0502020204030204" pitchFamily="34" charset="0"/>
                <a:ea typeface="Calibri" panose="020F0502020204030204" pitchFamily="34" charset="0"/>
                <a:cs typeface="Calibri" panose="020F0502020204030204" pitchFamily="34" charset="0"/>
              </a:rPr>
              <a:t> Espinosa Mendoza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822" y="591312"/>
            <a:ext cx="6347713" cy="679704"/>
          </a:xfrm>
        </p:spPr>
        <p:txBody>
          <a:bodyPr>
            <a:normAutofit fontScale="90000"/>
          </a:bodyPr>
          <a:lstStyle/>
          <a:p>
            <a:pPr algn="ctr"/>
            <a:r>
              <a:rPr lang="es-CO" sz="4400" dirty="0">
                <a:solidFill>
                  <a:srgbClr val="7030A0"/>
                </a:solidFill>
              </a:rPr>
              <a:t>RESUMEN / ABSTRACT</a:t>
            </a:r>
            <a:endParaRPr sz="4400" dirty="0">
              <a:solidFill>
                <a:srgbClr val="7030A0"/>
              </a:solidFill>
            </a:endParaRPr>
          </a:p>
        </p:txBody>
      </p:sp>
      <p:sp>
        <p:nvSpPr>
          <p:cNvPr id="3" name="Content Placeholder 2"/>
          <p:cNvSpPr>
            <a:spLocks noGrp="1"/>
          </p:cNvSpPr>
          <p:nvPr>
            <p:ph idx="1"/>
          </p:nvPr>
        </p:nvSpPr>
        <p:spPr>
          <a:xfrm>
            <a:off x="234249" y="1526943"/>
            <a:ext cx="8079434" cy="2908423"/>
          </a:xfrm>
        </p:spPr>
        <p:txBody>
          <a:bodyPr>
            <a:normAutofit fontScale="25000" lnSpcReduction="20000"/>
          </a:bodyPr>
          <a:lstStyle/>
          <a:p>
            <a:pPr marL="0" indent="0" algn="just">
              <a:buNone/>
            </a:pPr>
            <a:r>
              <a:rPr lang="es-ES" sz="8000" dirty="0">
                <a:effectLst/>
                <a:latin typeface="Arial" panose="020B0604020202020204" pitchFamily="34" charset="0"/>
                <a:ea typeface="Calibri" panose="020F0502020204030204" pitchFamily="34" charset="0"/>
                <a:cs typeface="Arial" panose="020B0604020202020204" pitchFamily="34" charset="0"/>
              </a:rPr>
              <a:t>Este proyecto presenta el diseño y la implementación de un modelo de datos relacional normalizado en Tercera Forma Normal (3FN), optimizado para gestionar plataformas de educación virtual de alta escalabilidad. La arquitectura se fundamenta en una estrategia de categorización semántica que organiza las entidades en capas maestras, de catálogo, transaccionales y de seguimiento detallado. El modelo no solo garantiza la integridad referencial y la eficiencia en el almacenamiento, sino que actúa como un motor de inteligencia de negocios. Mediante el análisis de métricas clave como la Tasa de Finalización (</a:t>
            </a:r>
            <a:r>
              <a:rPr lang="es-ES" sz="8000" dirty="0" err="1">
                <a:effectLst/>
                <a:latin typeface="Arial" panose="020B0604020202020204" pitchFamily="34" charset="0"/>
                <a:ea typeface="Calibri" panose="020F0502020204030204" pitchFamily="34" charset="0"/>
                <a:cs typeface="Arial" panose="020B0604020202020204" pitchFamily="34" charset="0"/>
              </a:rPr>
              <a:t>Completion</a:t>
            </a:r>
            <a:r>
              <a:rPr lang="es-ES" sz="8000" dirty="0">
                <a:effectLst/>
                <a:latin typeface="Arial" panose="020B0604020202020204" pitchFamily="34" charset="0"/>
                <a:ea typeface="Calibri" panose="020F0502020204030204" pitchFamily="34" charset="0"/>
                <a:cs typeface="Arial" panose="020B0604020202020204" pitchFamily="34" charset="0"/>
              </a:rPr>
              <a:t> </a:t>
            </a:r>
            <a:r>
              <a:rPr lang="es-ES" sz="8000" dirty="0" err="1">
                <a:effectLst/>
                <a:latin typeface="Arial" panose="020B0604020202020204" pitchFamily="34" charset="0"/>
                <a:ea typeface="Calibri" panose="020F0502020204030204" pitchFamily="34" charset="0"/>
                <a:cs typeface="Arial" panose="020B0604020202020204" pitchFamily="34" charset="0"/>
              </a:rPr>
              <a:t>Rate</a:t>
            </a:r>
            <a:r>
              <a:rPr lang="es-ES" sz="8000" dirty="0">
                <a:effectLst/>
                <a:latin typeface="Arial" panose="020B0604020202020204" pitchFamily="34" charset="0"/>
                <a:ea typeface="Calibri" panose="020F0502020204030204" pitchFamily="34" charset="0"/>
                <a:cs typeface="Arial" panose="020B0604020202020204" pitchFamily="34" charset="0"/>
              </a:rPr>
              <a:t>), el seguimiento granular del progreso por módulos y el balance de carga académica, el sistema permite identificar cuellos de botella en el aprendizaje y optimizar la retención estudiantil. Los resultados ofrecen una infraestructura técnica capaz de transformar datos operativos en decisiones estratégicas para mejorar la experiencia educativa.</a:t>
            </a:r>
            <a:endParaRPr lang="es-MX" sz="8000" dirty="0">
              <a:latin typeface="Arial" panose="020B0604020202020204" pitchFamily="34" charset="0"/>
              <a:cs typeface="Arial" panose="020B0604020202020204" pitchFamily="34" charset="0"/>
            </a:endParaRPr>
          </a:p>
          <a:p>
            <a:pPr marL="0" indent="0" algn="just">
              <a:buNone/>
            </a:pPr>
            <a:endParaRPr lang="es-E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822" y="163120"/>
            <a:ext cx="7049419" cy="679704"/>
          </a:xfrm>
        </p:spPr>
        <p:txBody>
          <a:bodyPr>
            <a:normAutofit/>
          </a:bodyPr>
          <a:lstStyle/>
          <a:p>
            <a:pPr algn="ctr"/>
            <a:r>
              <a:rPr lang="es-CO" sz="2000" dirty="0">
                <a:solidFill>
                  <a:srgbClr val="7030A0"/>
                </a:solidFill>
              </a:rPr>
              <a:t>PROYECTO 4 — PLATAFORMA EDUCATIVA (E-LEARNING)</a:t>
            </a:r>
            <a:endParaRPr sz="2000" dirty="0">
              <a:solidFill>
                <a:srgbClr val="7030A0"/>
              </a:solidFill>
            </a:endParaRPr>
          </a:p>
        </p:txBody>
      </p:sp>
      <p:pic>
        <p:nvPicPr>
          <p:cNvPr id="7" name="Marcador de contenido 6">
            <a:extLst>
              <a:ext uri="{FF2B5EF4-FFF2-40B4-BE49-F238E27FC236}">
                <a16:creationId xmlns:a16="http://schemas.microsoft.com/office/drawing/2014/main" id="{7F1F79F3-D2E9-49E7-835E-3D7189FD260B}"/>
              </a:ext>
            </a:extLst>
          </p:cNvPr>
          <p:cNvPicPr>
            <a:picLocks noGrp="1" noChangeAspect="1"/>
          </p:cNvPicPr>
          <p:nvPr>
            <p:ph idx="1"/>
          </p:nvPr>
        </p:nvPicPr>
        <p:blipFill>
          <a:blip r:embed="rId3"/>
          <a:stretch>
            <a:fillRect/>
          </a:stretch>
        </p:blipFill>
        <p:spPr>
          <a:xfrm>
            <a:off x="307822" y="842824"/>
            <a:ext cx="7735613" cy="5652569"/>
          </a:xfrm>
        </p:spPr>
      </p:pic>
    </p:spTree>
    <p:extLst>
      <p:ext uri="{BB962C8B-B14F-4D97-AF65-F5344CB8AC3E}">
        <p14:creationId xmlns:p14="http://schemas.microsoft.com/office/powerpoint/2010/main" val="3590013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822" y="591312"/>
            <a:ext cx="6649491" cy="679704"/>
          </a:xfrm>
        </p:spPr>
        <p:txBody>
          <a:bodyPr>
            <a:normAutofit fontScale="90000"/>
          </a:bodyPr>
          <a:lstStyle/>
          <a:p>
            <a:pPr algn="ctr"/>
            <a:r>
              <a:rPr lang="es-CO" sz="4400" dirty="0">
                <a:solidFill>
                  <a:srgbClr val="7030A0"/>
                </a:solidFill>
              </a:rPr>
              <a:t>Organización Semántica del Modelo</a:t>
            </a:r>
          </a:p>
        </p:txBody>
      </p:sp>
      <p:sp>
        <p:nvSpPr>
          <p:cNvPr id="5" name="Marcador de contenido 4">
            <a:extLst>
              <a:ext uri="{FF2B5EF4-FFF2-40B4-BE49-F238E27FC236}">
                <a16:creationId xmlns:a16="http://schemas.microsoft.com/office/drawing/2014/main" id="{7D285B82-0680-4C7C-A1C5-B267FBBCDFAC}"/>
              </a:ext>
            </a:extLst>
          </p:cNvPr>
          <p:cNvSpPr>
            <a:spLocks noGrp="1"/>
          </p:cNvSpPr>
          <p:nvPr>
            <p:ph idx="1"/>
          </p:nvPr>
        </p:nvSpPr>
        <p:spPr>
          <a:xfrm>
            <a:off x="609599" y="2160590"/>
            <a:ext cx="7052442" cy="3880773"/>
          </a:xfrm>
        </p:spPr>
        <p:txBody>
          <a:bodyPr>
            <a:noAutofit/>
          </a:bodyPr>
          <a:lstStyle/>
          <a:p>
            <a:pPr marL="0" indent="0">
              <a:buNone/>
            </a:pPr>
            <a:endParaRPr lang="es-ES" sz="2400" dirty="0">
              <a:latin typeface="Arial" panose="020B0604020202020204" pitchFamily="34" charset="0"/>
              <a:cs typeface="Arial" panose="020B0604020202020204" pitchFamily="34" charset="0"/>
            </a:endParaRPr>
          </a:p>
          <a:p>
            <a:pPr marL="0" indent="0">
              <a:buNone/>
            </a:pPr>
            <a:r>
              <a:rPr lang="es-ES" sz="2400" dirty="0">
                <a:latin typeface="Arial" panose="020B0604020202020204" pitchFamily="34" charset="0"/>
                <a:cs typeface="Arial" panose="020B0604020202020204" pitchFamily="34" charset="0"/>
              </a:rPr>
              <a:t>🔵 Maestras (Azul): ESTUDIANTES y DOCENTES. Identidad central del sistema.</a:t>
            </a:r>
          </a:p>
          <a:p>
            <a:pPr marL="0" indent="0">
              <a:buNone/>
            </a:pPr>
            <a:r>
              <a:rPr lang="es-ES" sz="2400" dirty="0">
                <a:latin typeface="Arial" panose="020B0604020202020204" pitchFamily="34" charset="0"/>
                <a:cs typeface="Arial" panose="020B0604020202020204" pitchFamily="34" charset="0"/>
              </a:rPr>
              <a:t>🟢 Catálogo (Verde): CURSOS y MODULOS. Oferta académica y estructura.</a:t>
            </a:r>
          </a:p>
          <a:p>
            <a:pPr marL="0" indent="0">
              <a:buNone/>
            </a:pPr>
            <a:r>
              <a:rPr lang="es-ES" sz="2400" dirty="0">
                <a:latin typeface="Arial" panose="020B0604020202020204" pitchFamily="34" charset="0"/>
                <a:cs typeface="Arial" panose="020B0604020202020204" pitchFamily="34" charset="0"/>
              </a:rPr>
              <a:t>🟠 Transaccional (Naranja): INSCRIPCIONES. Punto de unión entre usuario y producto.</a:t>
            </a:r>
          </a:p>
          <a:p>
            <a:pPr marL="0" indent="0">
              <a:buNone/>
            </a:pPr>
            <a:r>
              <a:rPr lang="es-ES" sz="2400" dirty="0">
                <a:latin typeface="Arial" panose="020B0604020202020204" pitchFamily="34" charset="0"/>
                <a:cs typeface="Arial" panose="020B0604020202020204" pitchFamily="34" charset="0"/>
              </a:rPr>
              <a:t>🔘 Detalle (Gris): PROGRESO. Trazabilidad de la actividad en tiempo real.</a:t>
            </a:r>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8393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213" y="107836"/>
            <a:ext cx="6649491" cy="679704"/>
          </a:xfrm>
        </p:spPr>
        <p:txBody>
          <a:bodyPr>
            <a:normAutofit fontScale="90000"/>
          </a:bodyPr>
          <a:lstStyle/>
          <a:p>
            <a:pPr algn="ctr"/>
            <a:r>
              <a:rPr lang="es-CO" sz="4400" dirty="0">
                <a:solidFill>
                  <a:srgbClr val="7030A0"/>
                </a:solidFill>
              </a:rPr>
              <a:t>Estructura Relacional (3FN)</a:t>
            </a:r>
          </a:p>
        </p:txBody>
      </p:sp>
      <p:sp>
        <p:nvSpPr>
          <p:cNvPr id="11" name="Rectangle 3">
            <a:extLst>
              <a:ext uri="{FF2B5EF4-FFF2-40B4-BE49-F238E27FC236}">
                <a16:creationId xmlns:a16="http://schemas.microsoft.com/office/drawing/2014/main" id="{716A7EF3-B5C9-49CC-AC40-12C0ED4999B7}"/>
              </a:ext>
            </a:extLst>
          </p:cNvPr>
          <p:cNvSpPr>
            <a:spLocks noGrp="1" noChangeArrowheads="1"/>
          </p:cNvSpPr>
          <p:nvPr>
            <p:ph idx="1"/>
          </p:nvPr>
        </p:nvSpPr>
        <p:spPr bwMode="auto">
          <a:xfrm>
            <a:off x="307822" y="4775501"/>
            <a:ext cx="69022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1" i="0" u="none" strike="noStrike" cap="none" normalizeH="0" baseline="0" dirty="0">
                <a:ln>
                  <a:noFill/>
                </a:ln>
                <a:solidFill>
                  <a:schemeClr val="tx1"/>
                </a:solidFill>
                <a:effectLst/>
                <a:latin typeface="Arial" panose="020B0604020202020204" pitchFamily="34" charset="0"/>
              </a:rPr>
              <a:t>Normalización:</a:t>
            </a:r>
            <a:r>
              <a:rPr kumimoji="0" lang="es-CO" altLang="es-CO" sz="1800" b="0" i="0" u="none" strike="noStrike" cap="none" normalizeH="0" baseline="0" dirty="0">
                <a:ln>
                  <a:noFill/>
                </a:ln>
                <a:solidFill>
                  <a:schemeClr val="tx1"/>
                </a:solidFill>
                <a:effectLst/>
                <a:latin typeface="Arial" panose="020B0604020202020204" pitchFamily="34" charset="0"/>
              </a:rPr>
              <a:t> Modelo en Tercera Forma Normal para máxima eficiencia.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1" i="0" u="none" strike="noStrike" cap="none" normalizeH="0" baseline="0" dirty="0">
                <a:ln>
                  <a:noFill/>
                </a:ln>
                <a:solidFill>
                  <a:schemeClr val="tx1"/>
                </a:solidFill>
                <a:effectLst/>
                <a:latin typeface="Arial" panose="020B0604020202020204" pitchFamily="34" charset="0"/>
              </a:rPr>
              <a:t>Escalabilidad:</a:t>
            </a:r>
            <a:r>
              <a:rPr kumimoji="0" lang="es-CO" altLang="es-CO" sz="1800" b="0" i="0" u="none" strike="noStrike" cap="none" normalizeH="0" baseline="0" dirty="0">
                <a:ln>
                  <a:noFill/>
                </a:ln>
                <a:solidFill>
                  <a:schemeClr val="tx1"/>
                </a:solidFill>
                <a:effectLst/>
                <a:latin typeface="Arial" panose="020B0604020202020204" pitchFamily="34" charset="0"/>
              </a:rPr>
              <a:t> Diseñado para soportar miles de usuarios y cursos sin redundancia.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1" i="0" u="none" strike="noStrike" cap="none" normalizeH="0" baseline="0" dirty="0">
                <a:ln>
                  <a:noFill/>
                </a:ln>
                <a:solidFill>
                  <a:schemeClr val="tx1"/>
                </a:solidFill>
                <a:effectLst/>
                <a:latin typeface="Arial" panose="020B0604020202020204" pitchFamily="34" charset="0"/>
              </a:rPr>
              <a:t>Relaciones Clave:</a:t>
            </a:r>
            <a:r>
              <a:rPr kumimoji="0" lang="es-CO" altLang="es-CO" sz="1800" b="0" i="0" u="none" strike="noStrike" cap="none" normalizeH="0" baseline="0" dirty="0">
                <a:ln>
                  <a:noFill/>
                </a:ln>
                <a:solidFill>
                  <a:schemeClr val="tx1"/>
                </a:solidFill>
                <a:effectLst/>
                <a:latin typeface="Arial" panose="020B0604020202020204" pitchFamily="34" charset="0"/>
              </a:rPr>
              <a:t> Conexiones directas mediante PK (Llaves Primarias) y FK (Llaves Foráneas).</a:t>
            </a:r>
          </a:p>
        </p:txBody>
      </p:sp>
      <p:pic>
        <p:nvPicPr>
          <p:cNvPr id="13" name="Imagen 12">
            <a:extLst>
              <a:ext uri="{FF2B5EF4-FFF2-40B4-BE49-F238E27FC236}">
                <a16:creationId xmlns:a16="http://schemas.microsoft.com/office/drawing/2014/main" id="{DE270FF4-96BD-4819-B67C-C43D92E9E4AE}"/>
              </a:ext>
            </a:extLst>
          </p:cNvPr>
          <p:cNvPicPr>
            <a:picLocks noChangeAspect="1"/>
          </p:cNvPicPr>
          <p:nvPr/>
        </p:nvPicPr>
        <p:blipFill>
          <a:blip r:embed="rId3"/>
          <a:stretch>
            <a:fillRect/>
          </a:stretch>
        </p:blipFill>
        <p:spPr>
          <a:xfrm>
            <a:off x="115614" y="743088"/>
            <a:ext cx="8720564" cy="4032413"/>
          </a:xfrm>
          <a:prstGeom prst="rect">
            <a:avLst/>
          </a:prstGeom>
        </p:spPr>
      </p:pic>
    </p:spTree>
    <p:extLst>
      <p:ext uri="{BB962C8B-B14F-4D97-AF65-F5344CB8AC3E}">
        <p14:creationId xmlns:p14="http://schemas.microsoft.com/office/powerpoint/2010/main" val="199054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45" y="-11679"/>
            <a:ext cx="7816408" cy="679704"/>
          </a:xfrm>
        </p:spPr>
        <p:txBody>
          <a:bodyPr>
            <a:normAutofit fontScale="90000"/>
          </a:bodyPr>
          <a:lstStyle/>
          <a:p>
            <a:pPr algn="ctr"/>
            <a:r>
              <a:rPr lang="es-ES" sz="4400" dirty="0">
                <a:solidFill>
                  <a:srgbClr val="7030A0"/>
                </a:solidFill>
              </a:rPr>
              <a:t>Definición de Tablas y Atributos</a:t>
            </a:r>
            <a:endParaRPr lang="es-CO" sz="4400" dirty="0">
              <a:solidFill>
                <a:srgbClr val="7030A0"/>
              </a:solidFill>
            </a:endParaRPr>
          </a:p>
        </p:txBody>
      </p:sp>
      <p:pic>
        <p:nvPicPr>
          <p:cNvPr id="7" name="Imagen 6">
            <a:extLst>
              <a:ext uri="{FF2B5EF4-FFF2-40B4-BE49-F238E27FC236}">
                <a16:creationId xmlns:a16="http://schemas.microsoft.com/office/drawing/2014/main" id="{DAAB46F7-7FF8-4A86-BFEC-4308A7B45C84}"/>
              </a:ext>
            </a:extLst>
          </p:cNvPr>
          <p:cNvPicPr>
            <a:picLocks noChangeAspect="1"/>
          </p:cNvPicPr>
          <p:nvPr/>
        </p:nvPicPr>
        <p:blipFill>
          <a:blip r:embed="rId3"/>
          <a:stretch>
            <a:fillRect/>
          </a:stretch>
        </p:blipFill>
        <p:spPr>
          <a:xfrm>
            <a:off x="442338" y="668025"/>
            <a:ext cx="7529625" cy="6038502"/>
          </a:xfrm>
          <a:prstGeom prst="rect">
            <a:avLst/>
          </a:prstGeom>
        </p:spPr>
      </p:pic>
    </p:spTree>
    <p:extLst>
      <p:ext uri="{BB962C8B-B14F-4D97-AF65-F5344CB8AC3E}">
        <p14:creationId xmlns:p14="http://schemas.microsoft.com/office/powerpoint/2010/main" val="1981058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656" y="156867"/>
            <a:ext cx="6881254" cy="679704"/>
          </a:xfrm>
        </p:spPr>
        <p:txBody>
          <a:bodyPr>
            <a:normAutofit fontScale="90000"/>
          </a:bodyPr>
          <a:lstStyle/>
          <a:p>
            <a:pPr algn="ctr"/>
            <a:r>
              <a:rPr lang="es-ES" sz="4400" dirty="0">
                <a:solidFill>
                  <a:srgbClr val="7030A0"/>
                </a:solidFill>
              </a:rPr>
              <a:t>Tasa de Finalización (</a:t>
            </a:r>
            <a:r>
              <a:rPr lang="es-ES" sz="4400" dirty="0" err="1">
                <a:solidFill>
                  <a:srgbClr val="7030A0"/>
                </a:solidFill>
              </a:rPr>
              <a:t>Completion</a:t>
            </a:r>
            <a:r>
              <a:rPr lang="es-ES" sz="4400" dirty="0">
                <a:solidFill>
                  <a:srgbClr val="7030A0"/>
                </a:solidFill>
              </a:rPr>
              <a:t> </a:t>
            </a:r>
            <a:r>
              <a:rPr lang="es-ES" sz="4400" dirty="0" err="1">
                <a:solidFill>
                  <a:srgbClr val="7030A0"/>
                </a:solidFill>
              </a:rPr>
              <a:t>Rate</a:t>
            </a:r>
            <a:r>
              <a:rPr lang="es-ES" sz="4400" dirty="0">
                <a:solidFill>
                  <a:srgbClr val="7030A0"/>
                </a:solidFill>
              </a:rPr>
              <a:t>):</a:t>
            </a:r>
            <a:endParaRPr sz="4400" dirty="0">
              <a:solidFill>
                <a:srgbClr val="7030A0"/>
              </a:solidFill>
            </a:endParaRPr>
          </a:p>
        </p:txBody>
      </p:sp>
      <p:sp>
        <p:nvSpPr>
          <p:cNvPr id="7" name="Rectangle 2">
            <a:extLst>
              <a:ext uri="{FF2B5EF4-FFF2-40B4-BE49-F238E27FC236}">
                <a16:creationId xmlns:a16="http://schemas.microsoft.com/office/drawing/2014/main" id="{AB7E2988-D769-481D-85B4-7AF89D1A2CB2}"/>
              </a:ext>
            </a:extLst>
          </p:cNvPr>
          <p:cNvSpPr>
            <a:spLocks noChangeArrowheads="1"/>
          </p:cNvSpPr>
          <p:nvPr/>
        </p:nvSpPr>
        <p:spPr bwMode="auto">
          <a:xfrm>
            <a:off x="294290" y="2693930"/>
            <a:ext cx="7451834" cy="220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Fórmula:</a:t>
            </a:r>
            <a:r>
              <a:rPr kumimoji="0" lang="es-CO" altLang="es-CO"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CO" altLang="es-CO"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Propósito:</a:t>
            </a:r>
            <a:r>
              <a:rPr kumimoji="0" lang="es-CO" altLang="es-CO"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Evaluar la efectividad del contenido y la motivación del alumno.</a:t>
            </a:r>
          </a:p>
          <a:p>
            <a:pPr marL="0" marR="0" lvl="0" indent="0" algn="l" defTabSz="914400" rtl="0" eaLnBrk="0" fontAlgn="base" latinLnBrk="0" hangingPunct="0">
              <a:lnSpc>
                <a:spcPct val="100000"/>
              </a:lnSpc>
              <a:spcBef>
                <a:spcPct val="0"/>
              </a:spcBef>
              <a:spcAft>
                <a:spcPct val="0"/>
              </a:spcAft>
              <a:buClrTx/>
              <a:buSzTx/>
              <a:tabLst/>
            </a:pPr>
            <a:r>
              <a:rPr kumimoji="0" lang="es-CO" altLang="es-CO"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Visual:</a:t>
            </a:r>
            <a:r>
              <a:rPr kumimoji="0" lang="es-CO" altLang="es-CO"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Barra de progreso que cambia de "En curso" a "Completado".</a:t>
            </a:r>
          </a:p>
        </p:txBody>
      </p:sp>
      <p:pic>
        <p:nvPicPr>
          <p:cNvPr id="11" name="Imagen 10">
            <a:extLst>
              <a:ext uri="{FF2B5EF4-FFF2-40B4-BE49-F238E27FC236}">
                <a16:creationId xmlns:a16="http://schemas.microsoft.com/office/drawing/2014/main" id="{4D3C7085-96FA-4EF7-8350-0549D1D9B24E}"/>
              </a:ext>
            </a:extLst>
          </p:cNvPr>
          <p:cNvPicPr>
            <a:picLocks noChangeAspect="1"/>
          </p:cNvPicPr>
          <p:nvPr/>
        </p:nvPicPr>
        <p:blipFill>
          <a:blip r:embed="rId3"/>
          <a:stretch>
            <a:fillRect/>
          </a:stretch>
        </p:blipFill>
        <p:spPr>
          <a:xfrm>
            <a:off x="2243758" y="2102069"/>
            <a:ext cx="3841732" cy="1052018"/>
          </a:xfrm>
          <a:prstGeom prst="rect">
            <a:avLst/>
          </a:prstGeom>
        </p:spPr>
      </p:pic>
    </p:spTree>
    <p:extLst>
      <p:ext uri="{BB962C8B-B14F-4D97-AF65-F5344CB8AC3E}">
        <p14:creationId xmlns:p14="http://schemas.microsoft.com/office/powerpoint/2010/main" val="3630432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822" y="591312"/>
            <a:ext cx="7020630" cy="679704"/>
          </a:xfrm>
        </p:spPr>
        <p:txBody>
          <a:bodyPr>
            <a:normAutofit fontScale="90000"/>
          </a:bodyPr>
          <a:lstStyle/>
          <a:p>
            <a:pPr algn="ctr"/>
            <a:r>
              <a:rPr lang="es-ES" sz="4400" dirty="0">
                <a:solidFill>
                  <a:srgbClr val="7030A0"/>
                </a:solidFill>
              </a:rPr>
              <a:t>Identificación de Tendencias y Retención</a:t>
            </a:r>
            <a:endParaRPr sz="4400" dirty="0">
              <a:solidFill>
                <a:srgbClr val="7030A0"/>
              </a:solidFill>
            </a:endParaRPr>
          </a:p>
        </p:txBody>
      </p:sp>
      <p:sp>
        <p:nvSpPr>
          <p:cNvPr id="6" name="Rectangle 2">
            <a:extLst>
              <a:ext uri="{FF2B5EF4-FFF2-40B4-BE49-F238E27FC236}">
                <a16:creationId xmlns:a16="http://schemas.microsoft.com/office/drawing/2014/main" id="{297D1251-176E-4541-9795-2C79BEA0FAF8}"/>
              </a:ext>
            </a:extLst>
          </p:cNvPr>
          <p:cNvSpPr>
            <a:spLocks noGrp="1" noChangeArrowheads="1"/>
          </p:cNvSpPr>
          <p:nvPr>
            <p:ph idx="1"/>
          </p:nvPr>
        </p:nvSpPr>
        <p:spPr bwMode="auto">
          <a:xfrm>
            <a:off x="307822" y="2431091"/>
            <a:ext cx="716503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CO" altLang="es-CO" sz="2800" b="1" i="0" u="none" strike="noStrike" cap="none" normalizeH="0" baseline="0" dirty="0">
                <a:ln>
                  <a:noFill/>
                </a:ln>
                <a:solidFill>
                  <a:schemeClr val="tx1"/>
                </a:solidFill>
                <a:effectLst/>
                <a:latin typeface="Arial" panose="020B0604020202020204" pitchFamily="34" charset="0"/>
              </a:rPr>
              <a:t>Cursos Proclives:</a:t>
            </a:r>
            <a:r>
              <a:rPr kumimoji="0" lang="es-CO" altLang="es-CO" sz="2800" b="0" i="0" u="none" strike="noStrike" cap="none" normalizeH="0" baseline="0" dirty="0">
                <a:ln>
                  <a:noFill/>
                </a:ln>
                <a:solidFill>
                  <a:schemeClr val="tx1"/>
                </a:solidFill>
                <a:effectLst/>
                <a:latin typeface="Arial" panose="020B0604020202020204" pitchFamily="34" charset="0"/>
              </a:rPr>
              <a:t> Conteo de inscripciones para detectar temas de alta demanda.</a:t>
            </a:r>
          </a:p>
          <a:p>
            <a:pPr marL="0" marR="0" lvl="0" indent="0" algn="l" defTabSz="914400" rtl="0" eaLnBrk="0" fontAlgn="base" latinLnBrk="0" hangingPunct="0">
              <a:lnSpc>
                <a:spcPct val="100000"/>
              </a:lnSpc>
              <a:spcBef>
                <a:spcPct val="0"/>
              </a:spcBef>
              <a:spcAft>
                <a:spcPct val="0"/>
              </a:spcAft>
              <a:buClrTx/>
              <a:buSzTx/>
              <a:buNone/>
              <a:tabLst/>
            </a:pPr>
            <a:r>
              <a:rPr kumimoji="0" lang="es-CO" altLang="es-CO" sz="2800" b="1" i="0" u="none" strike="noStrike" cap="none" normalizeH="0" baseline="0" dirty="0">
                <a:ln>
                  <a:noFill/>
                </a:ln>
                <a:solidFill>
                  <a:schemeClr val="tx1"/>
                </a:solidFill>
                <a:effectLst/>
                <a:latin typeface="Arial" panose="020B0604020202020204" pitchFamily="34" charset="0"/>
              </a:rPr>
              <a:t>Análisis de Deserción:</a:t>
            </a:r>
            <a:r>
              <a:rPr kumimoji="0" lang="es-CO" altLang="es-CO" sz="2800" b="0" i="0" u="none" strike="noStrike" cap="none" normalizeH="0" baseline="0" dirty="0">
                <a:ln>
                  <a:noFill/>
                </a:ln>
                <a:solidFill>
                  <a:schemeClr val="tx1"/>
                </a:solidFill>
                <a:effectLst/>
                <a:latin typeface="Arial" panose="020B0604020202020204" pitchFamily="34" charset="0"/>
              </a:rPr>
              <a:t> Detección de módulos críticos donde el progreso se detiene.</a:t>
            </a:r>
          </a:p>
          <a:p>
            <a:pPr marL="0" marR="0" lvl="0" indent="0" algn="l" defTabSz="914400" rtl="0" eaLnBrk="0" fontAlgn="base" latinLnBrk="0" hangingPunct="0">
              <a:lnSpc>
                <a:spcPct val="100000"/>
              </a:lnSpc>
              <a:spcBef>
                <a:spcPct val="0"/>
              </a:spcBef>
              <a:spcAft>
                <a:spcPct val="0"/>
              </a:spcAft>
              <a:buClrTx/>
              <a:buSzTx/>
              <a:buNone/>
              <a:tabLst/>
            </a:pPr>
            <a:r>
              <a:rPr kumimoji="0" lang="es-CO" altLang="es-CO" sz="2800" b="1" i="0" u="none" strike="noStrike" cap="none" normalizeH="0" baseline="0" dirty="0">
                <a:ln>
                  <a:noFill/>
                </a:ln>
                <a:solidFill>
                  <a:schemeClr val="tx1"/>
                </a:solidFill>
                <a:effectLst/>
                <a:latin typeface="Arial" panose="020B0604020202020204" pitchFamily="34" charset="0"/>
              </a:rPr>
              <a:t>Carga Docente:</a:t>
            </a:r>
            <a:r>
              <a:rPr kumimoji="0" lang="es-CO" altLang="es-CO" sz="2800" b="0" i="0" u="none" strike="noStrike" cap="none" normalizeH="0" baseline="0" dirty="0">
                <a:ln>
                  <a:noFill/>
                </a:ln>
                <a:solidFill>
                  <a:schemeClr val="tx1"/>
                </a:solidFill>
                <a:effectLst/>
                <a:latin typeface="Arial" panose="020B0604020202020204" pitchFamily="34" charset="0"/>
              </a:rPr>
              <a:t> Equilibrio de volumen de alumnos para garantizar calidad educativa.</a:t>
            </a:r>
          </a:p>
        </p:txBody>
      </p:sp>
    </p:spTree>
    <p:extLst>
      <p:ext uri="{BB962C8B-B14F-4D97-AF65-F5344CB8AC3E}">
        <p14:creationId xmlns:p14="http://schemas.microsoft.com/office/powerpoint/2010/main" val="3150962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161" y="835573"/>
            <a:ext cx="8797160" cy="725214"/>
          </a:xfrm>
        </p:spPr>
        <p:txBody>
          <a:bodyPr>
            <a:normAutofit fontScale="90000"/>
          </a:bodyPr>
          <a:lstStyle/>
          <a:p>
            <a:pPr algn="ctr"/>
            <a:r>
              <a:rPr lang="es-CO" sz="4400" dirty="0">
                <a:solidFill>
                  <a:srgbClr val="7030A0"/>
                </a:solidFill>
              </a:rPr>
              <a:t>CONCLUSIONES</a:t>
            </a:r>
          </a:p>
        </p:txBody>
      </p:sp>
      <p:sp>
        <p:nvSpPr>
          <p:cNvPr id="6" name="Rectangle 2">
            <a:extLst>
              <a:ext uri="{FF2B5EF4-FFF2-40B4-BE49-F238E27FC236}">
                <a16:creationId xmlns:a16="http://schemas.microsoft.com/office/drawing/2014/main" id="{08F3F2E1-CE85-4D34-8EF1-043B97948BD0}"/>
              </a:ext>
            </a:extLst>
          </p:cNvPr>
          <p:cNvSpPr>
            <a:spLocks noGrp="1" noChangeArrowheads="1"/>
          </p:cNvSpPr>
          <p:nvPr>
            <p:ph idx="1"/>
          </p:nvPr>
        </p:nvSpPr>
        <p:spPr bwMode="auto">
          <a:xfrm>
            <a:off x="609599" y="2488484"/>
            <a:ext cx="7819698"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CO" altLang="es-CO" sz="2400" b="1" i="0" u="none" strike="noStrike" cap="none" normalizeH="0" baseline="0" dirty="0">
                <a:ln>
                  <a:noFill/>
                </a:ln>
                <a:solidFill>
                  <a:schemeClr val="tx1"/>
                </a:solidFill>
                <a:effectLst/>
                <a:latin typeface="Arial" panose="020B0604020202020204" pitchFamily="34" charset="0"/>
              </a:rPr>
              <a:t>Integridad:</a:t>
            </a:r>
            <a:r>
              <a:rPr kumimoji="0" lang="es-CO" altLang="es-CO" sz="2400" b="0" i="0" u="none" strike="noStrike" cap="none" normalizeH="0" baseline="0" dirty="0">
                <a:ln>
                  <a:noFill/>
                </a:ln>
                <a:solidFill>
                  <a:schemeClr val="tx1"/>
                </a:solidFill>
                <a:effectLst/>
                <a:latin typeface="Arial" panose="020B0604020202020204" pitchFamily="34" charset="0"/>
              </a:rPr>
              <a:t> Datos seguros y bien estructurados.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s-CO" altLang="es-CO" sz="2400" b="1" i="0" u="none" strike="noStrike" cap="none" normalizeH="0" baseline="0" dirty="0">
                <a:ln>
                  <a:noFill/>
                </a:ln>
                <a:solidFill>
                  <a:schemeClr val="tx1"/>
                </a:solidFill>
                <a:effectLst/>
                <a:latin typeface="Arial" panose="020B0604020202020204" pitchFamily="34" charset="0"/>
              </a:rPr>
              <a:t>Visibilidad:</a:t>
            </a:r>
            <a:r>
              <a:rPr kumimoji="0" lang="es-CO" altLang="es-CO" sz="2400" b="0" i="0" u="none" strike="noStrike" cap="none" normalizeH="0" baseline="0" dirty="0">
                <a:ln>
                  <a:noFill/>
                </a:ln>
                <a:solidFill>
                  <a:schemeClr val="tx1"/>
                </a:solidFill>
                <a:effectLst/>
                <a:latin typeface="Arial" panose="020B0604020202020204" pitchFamily="34" charset="0"/>
              </a:rPr>
              <a:t> Seguimiento granular del éxito del estudiante.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s-CO" altLang="es-CO" sz="2400" b="1" i="0" u="none" strike="noStrike" cap="none" normalizeH="0" baseline="0" dirty="0">
                <a:ln>
                  <a:noFill/>
                </a:ln>
                <a:solidFill>
                  <a:schemeClr val="tx1"/>
                </a:solidFill>
                <a:effectLst/>
                <a:latin typeface="Arial" panose="020B0604020202020204" pitchFamily="34" charset="0"/>
              </a:rPr>
              <a:t>Futuro:</a:t>
            </a:r>
            <a:r>
              <a:rPr kumimoji="0" lang="es-CO" altLang="es-CO" sz="2400" b="0" i="0" u="none" strike="noStrike" cap="none" normalizeH="0" baseline="0" dirty="0">
                <a:ln>
                  <a:noFill/>
                </a:ln>
                <a:solidFill>
                  <a:schemeClr val="tx1"/>
                </a:solidFill>
                <a:effectLst/>
                <a:latin typeface="Arial" panose="020B0604020202020204" pitchFamily="34" charset="0"/>
              </a:rPr>
              <a:t> Preparado para integración con </a:t>
            </a:r>
            <a:r>
              <a:rPr kumimoji="0" lang="es-CO" altLang="es-CO" sz="2400" b="0" i="0" u="none" strike="noStrike" cap="none" normalizeH="0" baseline="0" dirty="0" err="1">
                <a:ln>
                  <a:noFill/>
                </a:ln>
                <a:solidFill>
                  <a:schemeClr val="tx1"/>
                </a:solidFill>
                <a:effectLst/>
                <a:latin typeface="Arial" panose="020B0604020202020204" pitchFamily="34" charset="0"/>
              </a:rPr>
              <a:t>Power</a:t>
            </a:r>
            <a:r>
              <a:rPr kumimoji="0" lang="es-CO" altLang="es-CO" sz="2400" b="0" i="0" u="none" strike="noStrike" cap="none" normalizeH="0" baseline="0" dirty="0">
                <a:ln>
                  <a:noFill/>
                </a:ln>
                <a:solidFill>
                  <a:schemeClr val="tx1"/>
                </a:solidFill>
                <a:effectLst/>
                <a:latin typeface="Arial" panose="020B0604020202020204" pitchFamily="34" charset="0"/>
              </a:rPr>
              <a:t> BI y Machine </a:t>
            </a:r>
            <a:r>
              <a:rPr kumimoji="0" lang="es-CO" altLang="es-CO" sz="2400" b="0" i="0" u="none" strike="noStrike" cap="none" normalizeH="0" baseline="0" dirty="0" err="1">
                <a:ln>
                  <a:noFill/>
                </a:ln>
                <a:solidFill>
                  <a:schemeClr val="tx1"/>
                </a:solidFill>
                <a:effectLst/>
                <a:latin typeface="Arial" panose="020B0604020202020204" pitchFamily="34" charset="0"/>
              </a:rPr>
              <a:t>Learning</a:t>
            </a:r>
            <a:r>
              <a:rPr kumimoji="0" lang="es-CO" altLang="es-CO"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223</TotalTime>
  <Words>546</Words>
  <Application>Microsoft Office PowerPoint</Application>
  <PresentationFormat>Presentación en pantalla (4:3)</PresentationFormat>
  <Paragraphs>41</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Trebuchet MS</vt:lpstr>
      <vt:lpstr>Wingdings 3</vt:lpstr>
      <vt:lpstr>Faceta</vt:lpstr>
      <vt:lpstr>PROYECTO 4  PLATAFORMA EDUCATIVA (E-LEARNING)</vt:lpstr>
      <vt:lpstr>RESUMEN / ABSTRACT</vt:lpstr>
      <vt:lpstr>PROYECTO 4 — PLATAFORMA EDUCATIVA (E-LEARNING)</vt:lpstr>
      <vt:lpstr>Organización Semántica del Modelo</vt:lpstr>
      <vt:lpstr>Estructura Relacional (3FN)</vt:lpstr>
      <vt:lpstr>Definición de Tablas y Atributos</vt:lpstr>
      <vt:lpstr>Tasa de Finalización (Completion Rate):</vt:lpstr>
      <vt:lpstr>Identificación de Tendencias y Retención</vt:lpstr>
      <vt:lpstr>CONCLUSIONES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4  PLATAFORMA EDUCATIVA (E-LEARNING)</dc:title>
  <cp:lastModifiedBy>ALEJANDRO CADAVID</cp:lastModifiedBy>
  <cp:revision>8</cp:revision>
  <dcterms:created xsi:type="dcterms:W3CDTF">2013-01-27T09:14:00Z</dcterms:created>
  <dcterms:modified xsi:type="dcterms:W3CDTF">2026-06-12T20:13:39Z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F9518BAD023845D8B095DC699287451B_12</vt:lpwstr>
  </property>
  <property fmtid="{D5CDD505-2E9C-101B-9397-08002B2CF9AE}" pid="3" name="KSOProductBuildVer">
    <vt:lpwstr>3082-12.2.0.23196</vt:lpwstr>
  </property>
</Properties>
</file>