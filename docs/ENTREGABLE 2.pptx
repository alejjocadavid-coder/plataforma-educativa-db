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3" r:id="rId3"/>
    <p:sldId id="271" r:id="rId4"/>
    <p:sldId id="275" r:id="rId5"/>
    <p:sldId id="276" r:id="rId6"/>
    <p:sldId id="257" r:id="rId7"/>
    <p:sldId id="258" r:id="rId8"/>
    <p:sldId id="259" r:id="rId9"/>
    <p:sldId id="270" r:id="rId10"/>
    <p:sldId id="260" r:id="rId11"/>
    <p:sldId id="261" r:id="rId12"/>
    <p:sldId id="262" r:id="rId13"/>
    <p:sldId id="263" r:id="rId14"/>
    <p:sldId id="277" r:id="rId15"/>
    <p:sldId id="265" r:id="rId16"/>
    <p:sldId id="266" r:id="rId17"/>
    <p:sldId id="267" r:id="rId18"/>
    <p:sldId id="278" r:id="rId19"/>
    <p:sldId id="279" r:id="rId20"/>
    <p:sldId id="280" r:id="rId21"/>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F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1332" y="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200" b="1" i="0">
                <a:solidFill>
                  <a:srgbClr val="1A365D"/>
                </a:solidFill>
                <a:latin typeface="Arial"/>
                <a:cs typeface="Arial"/>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6" name="Holder 6"/>
          <p:cNvSpPr>
            <a:spLocks noGrp="1"/>
          </p:cNvSpPr>
          <p:nvPr>
            <p:ph type="sldNum" sz="quarter" idx="7"/>
          </p:nvPr>
        </p:nvSpPr>
        <p:spPr/>
        <p:txBody>
          <a:bodyPr lIns="0" tIns="0" rIns="0" bIns="0"/>
          <a:lstStyle>
            <a:lvl1pPr>
              <a:defRPr sz="950" b="0" i="0">
                <a:solidFill>
                  <a:srgbClr val="A0AEBF"/>
                </a:solidFill>
                <a:latin typeface="Arial MT"/>
                <a:cs typeface="Arial MT"/>
              </a:defRPr>
            </a:lvl1pPr>
          </a:lstStyle>
          <a:p>
            <a:pPr marL="79375">
              <a:lnSpc>
                <a:spcPct val="100000"/>
              </a:lnSpc>
              <a:spcBef>
                <a:spcPts val="10"/>
              </a:spcBef>
            </a:pPr>
            <a:r>
              <a:rPr dirty="0"/>
              <a:t>Slide</a:t>
            </a:r>
            <a:r>
              <a:rPr spc="-45" dirty="0"/>
              <a:t> </a:t>
            </a:r>
            <a:fld id="{81D60167-4931-47E6-BA6A-407CBD079E47}" type="slidenum">
              <a:rPr spc="-50" dirty="0"/>
              <a:t>‹Nº›</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1A365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6" name="Holder 6"/>
          <p:cNvSpPr>
            <a:spLocks noGrp="1"/>
          </p:cNvSpPr>
          <p:nvPr>
            <p:ph type="sldNum" sz="quarter" idx="7"/>
          </p:nvPr>
        </p:nvSpPr>
        <p:spPr/>
        <p:txBody>
          <a:bodyPr lIns="0" tIns="0" rIns="0" bIns="0"/>
          <a:lstStyle>
            <a:lvl1pPr>
              <a:defRPr sz="950" b="0" i="0">
                <a:solidFill>
                  <a:srgbClr val="A0AEBF"/>
                </a:solidFill>
                <a:latin typeface="Arial MT"/>
                <a:cs typeface="Arial MT"/>
              </a:defRPr>
            </a:lvl1pPr>
          </a:lstStyle>
          <a:p>
            <a:pPr marL="79375">
              <a:lnSpc>
                <a:spcPct val="100000"/>
              </a:lnSpc>
              <a:spcBef>
                <a:spcPts val="10"/>
              </a:spcBef>
            </a:pPr>
            <a:r>
              <a:rPr dirty="0"/>
              <a:t>Slide</a:t>
            </a:r>
            <a:r>
              <a:rPr spc="-45" dirty="0"/>
              <a:t> </a:t>
            </a:r>
            <a:fld id="{81D60167-4931-47E6-BA6A-407CBD079E47}" type="slidenum">
              <a:rPr spc="-50" dirty="0"/>
              <a:t>‹Nº›</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1A365D"/>
                </a:solidFill>
                <a:latin typeface="Arial"/>
                <a:cs typeface="Arial"/>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7" name="Holder 7"/>
          <p:cNvSpPr>
            <a:spLocks noGrp="1"/>
          </p:cNvSpPr>
          <p:nvPr>
            <p:ph type="sldNum" sz="quarter" idx="7"/>
          </p:nvPr>
        </p:nvSpPr>
        <p:spPr/>
        <p:txBody>
          <a:bodyPr lIns="0" tIns="0" rIns="0" bIns="0"/>
          <a:lstStyle>
            <a:lvl1pPr>
              <a:defRPr sz="950" b="0" i="0">
                <a:solidFill>
                  <a:srgbClr val="A0AEBF"/>
                </a:solidFill>
                <a:latin typeface="Arial MT"/>
                <a:cs typeface="Arial MT"/>
              </a:defRPr>
            </a:lvl1pPr>
          </a:lstStyle>
          <a:p>
            <a:pPr marL="79375">
              <a:lnSpc>
                <a:spcPct val="100000"/>
              </a:lnSpc>
              <a:spcBef>
                <a:spcPts val="10"/>
              </a:spcBef>
            </a:pPr>
            <a:r>
              <a:rPr dirty="0"/>
              <a:t>Slide</a:t>
            </a:r>
            <a:r>
              <a:rPr spc="-45" dirty="0"/>
              <a:t> </a:t>
            </a:r>
            <a:fld id="{81D60167-4931-47E6-BA6A-407CBD079E47}" type="slidenum">
              <a:rPr spc="-50" dirty="0"/>
              <a:t>‹Nº›</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692130" cy="7560309"/>
          </a:xfrm>
          <a:custGeom>
            <a:avLst/>
            <a:gdLst/>
            <a:ahLst/>
            <a:cxnLst/>
            <a:rect l="l" t="t" r="r" b="b"/>
            <a:pathLst>
              <a:path w="10692130" h="7560309">
                <a:moveTo>
                  <a:pt x="10691999" y="7559999"/>
                </a:moveTo>
                <a:lnTo>
                  <a:pt x="0" y="7559999"/>
                </a:lnTo>
                <a:lnTo>
                  <a:pt x="0" y="0"/>
                </a:lnTo>
                <a:lnTo>
                  <a:pt x="10691999" y="0"/>
                </a:lnTo>
                <a:lnTo>
                  <a:pt x="10691999" y="7559999"/>
                </a:lnTo>
                <a:close/>
              </a:path>
            </a:pathLst>
          </a:custGeom>
          <a:solidFill>
            <a:srgbClr val="2D3648"/>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200" b="1" i="0">
                <a:solidFill>
                  <a:srgbClr val="1A365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5" name="Holder 5"/>
          <p:cNvSpPr>
            <a:spLocks noGrp="1"/>
          </p:cNvSpPr>
          <p:nvPr>
            <p:ph type="sldNum" sz="quarter" idx="7"/>
          </p:nvPr>
        </p:nvSpPr>
        <p:spPr/>
        <p:txBody>
          <a:bodyPr lIns="0" tIns="0" rIns="0" bIns="0"/>
          <a:lstStyle>
            <a:lvl1pPr>
              <a:defRPr sz="950" b="0" i="0">
                <a:solidFill>
                  <a:srgbClr val="A0AEBF"/>
                </a:solidFill>
                <a:latin typeface="Arial MT"/>
                <a:cs typeface="Arial MT"/>
              </a:defRPr>
            </a:lvl1pPr>
          </a:lstStyle>
          <a:p>
            <a:pPr marL="79375">
              <a:lnSpc>
                <a:spcPct val="100000"/>
              </a:lnSpc>
              <a:spcBef>
                <a:spcPts val="10"/>
              </a:spcBef>
            </a:pPr>
            <a:r>
              <a:rPr dirty="0"/>
              <a:t>Slide</a:t>
            </a:r>
            <a:r>
              <a:rPr spc="-45" dirty="0"/>
              <a:t> </a:t>
            </a:r>
            <a:fld id="{81D60167-4931-47E6-BA6A-407CBD079E47}" type="slidenum">
              <a:rPr spc="-50" dirty="0"/>
              <a:t>‹Nº›</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4" name="Holder 4"/>
          <p:cNvSpPr>
            <a:spLocks noGrp="1"/>
          </p:cNvSpPr>
          <p:nvPr>
            <p:ph type="sldNum" sz="quarter" idx="7"/>
          </p:nvPr>
        </p:nvSpPr>
        <p:spPr/>
        <p:txBody>
          <a:bodyPr lIns="0" tIns="0" rIns="0" bIns="0"/>
          <a:lstStyle>
            <a:lvl1pPr>
              <a:defRPr sz="950" b="0" i="0">
                <a:solidFill>
                  <a:srgbClr val="A0AEBF"/>
                </a:solidFill>
                <a:latin typeface="Arial MT"/>
                <a:cs typeface="Arial MT"/>
              </a:defRPr>
            </a:lvl1pPr>
          </a:lstStyle>
          <a:p>
            <a:pPr marL="79375">
              <a:lnSpc>
                <a:spcPct val="100000"/>
              </a:lnSpc>
              <a:spcBef>
                <a:spcPts val="10"/>
              </a:spcBef>
            </a:pPr>
            <a:r>
              <a:rPr dirty="0"/>
              <a:t>Slide</a:t>
            </a:r>
            <a:r>
              <a:rPr spc="-45" dirty="0"/>
              <a:t> </a:t>
            </a:r>
            <a:fld id="{81D60167-4931-47E6-BA6A-407CBD079E47}" type="slidenum">
              <a:rPr spc="-50" dirty="0"/>
              <a:t>‹Nº›</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00000" y="1562803"/>
            <a:ext cx="8892540" cy="19050"/>
          </a:xfrm>
          <a:custGeom>
            <a:avLst/>
            <a:gdLst/>
            <a:ahLst/>
            <a:cxnLst/>
            <a:rect l="l" t="t" r="r" b="b"/>
            <a:pathLst>
              <a:path w="8892540" h="19050">
                <a:moveTo>
                  <a:pt x="8892000" y="19050"/>
                </a:moveTo>
                <a:lnTo>
                  <a:pt x="0" y="19050"/>
                </a:lnTo>
                <a:lnTo>
                  <a:pt x="0" y="0"/>
                </a:lnTo>
                <a:lnTo>
                  <a:pt x="8892000" y="0"/>
                </a:lnTo>
                <a:lnTo>
                  <a:pt x="8892000" y="19050"/>
                </a:lnTo>
                <a:close/>
              </a:path>
            </a:pathLst>
          </a:custGeom>
          <a:solidFill>
            <a:srgbClr val="E2E8EF"/>
          </a:solidFill>
        </p:spPr>
        <p:txBody>
          <a:bodyPr wrap="square" lIns="0" tIns="0" rIns="0" bIns="0" rtlCol="0"/>
          <a:lstStyle/>
          <a:p>
            <a:endParaRPr/>
          </a:p>
        </p:txBody>
      </p:sp>
      <p:sp>
        <p:nvSpPr>
          <p:cNvPr id="2" name="Holder 2"/>
          <p:cNvSpPr>
            <a:spLocks noGrp="1"/>
          </p:cNvSpPr>
          <p:nvPr>
            <p:ph type="title"/>
          </p:nvPr>
        </p:nvSpPr>
        <p:spPr>
          <a:xfrm>
            <a:off x="887300" y="1104677"/>
            <a:ext cx="7505700" cy="360680"/>
          </a:xfrm>
          <a:prstGeom prst="rect">
            <a:avLst/>
          </a:prstGeom>
        </p:spPr>
        <p:txBody>
          <a:bodyPr wrap="square" lIns="0" tIns="0" rIns="0" bIns="0">
            <a:spAutoFit/>
          </a:bodyPr>
          <a:lstStyle>
            <a:lvl1pPr>
              <a:defRPr sz="2200" b="1" i="0">
                <a:solidFill>
                  <a:srgbClr val="1A365D"/>
                </a:solidFill>
                <a:latin typeface="Arial"/>
                <a:cs typeface="Arial"/>
              </a:defRPr>
            </a:lvl1pPr>
          </a:lstStyle>
          <a:p>
            <a:endParaRPr/>
          </a:p>
        </p:txBody>
      </p:sp>
      <p:sp>
        <p:nvSpPr>
          <p:cNvPr id="3" name="Holder 3"/>
          <p:cNvSpPr>
            <a:spLocks noGrp="1"/>
          </p:cNvSpPr>
          <p:nvPr>
            <p:ph type="body" idx="1"/>
          </p:nvPr>
        </p:nvSpPr>
        <p:spPr>
          <a:xfrm>
            <a:off x="861900" y="2187643"/>
            <a:ext cx="8968740" cy="36506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6" name="Holder 6"/>
          <p:cNvSpPr>
            <a:spLocks noGrp="1"/>
          </p:cNvSpPr>
          <p:nvPr>
            <p:ph type="sldNum" sz="quarter" idx="7"/>
          </p:nvPr>
        </p:nvSpPr>
        <p:spPr>
          <a:xfrm>
            <a:off x="9343270" y="6980508"/>
            <a:ext cx="499745" cy="160654"/>
          </a:xfrm>
          <a:prstGeom prst="rect">
            <a:avLst/>
          </a:prstGeom>
        </p:spPr>
        <p:txBody>
          <a:bodyPr wrap="square" lIns="0" tIns="0" rIns="0" bIns="0">
            <a:spAutoFit/>
          </a:bodyPr>
          <a:lstStyle>
            <a:lvl1pPr>
              <a:defRPr sz="950" b="0" i="0">
                <a:solidFill>
                  <a:srgbClr val="A0AEBF"/>
                </a:solidFill>
                <a:latin typeface="Arial MT"/>
                <a:cs typeface="Arial MT"/>
              </a:defRPr>
            </a:lvl1pPr>
          </a:lstStyle>
          <a:p>
            <a:pPr marL="79375">
              <a:lnSpc>
                <a:spcPct val="100000"/>
              </a:lnSpc>
              <a:spcBef>
                <a:spcPts val="10"/>
              </a:spcBef>
            </a:pPr>
            <a:r>
              <a:rPr dirty="0"/>
              <a:t>Slide</a:t>
            </a:r>
            <a:r>
              <a:rPr spc="-45" dirty="0"/>
              <a:t> </a:t>
            </a:r>
            <a:fld id="{81D60167-4931-47E6-BA6A-407CBD079E47}" type="slidenum">
              <a:rPr spc="-50" dirty="0"/>
              <a:t>‹Nº›</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0692130" cy="7560309"/>
          </a:xfrm>
          <a:custGeom>
            <a:avLst/>
            <a:gdLst/>
            <a:ahLst/>
            <a:cxnLst/>
            <a:rect l="l" t="t" r="r" b="b"/>
            <a:pathLst>
              <a:path w="10692130" h="7560309">
                <a:moveTo>
                  <a:pt x="10691999" y="7559999"/>
                </a:moveTo>
                <a:lnTo>
                  <a:pt x="0" y="7559999"/>
                </a:lnTo>
                <a:lnTo>
                  <a:pt x="0" y="0"/>
                </a:lnTo>
                <a:lnTo>
                  <a:pt x="10691999" y="0"/>
                </a:lnTo>
                <a:lnTo>
                  <a:pt x="10691999" y="7559999"/>
                </a:lnTo>
                <a:close/>
              </a:path>
            </a:pathLst>
          </a:custGeom>
          <a:solidFill>
            <a:srgbClr val="1A365D"/>
          </a:solidFill>
        </p:spPr>
        <p:txBody>
          <a:bodyPr wrap="square" lIns="0" tIns="0" rIns="0" bIns="0" rtlCol="0"/>
          <a:lstStyle/>
          <a:p>
            <a:endParaRPr/>
          </a:p>
        </p:txBody>
      </p:sp>
      <p:sp>
        <p:nvSpPr>
          <p:cNvPr id="3" name="object 3"/>
          <p:cNvSpPr/>
          <p:nvPr/>
        </p:nvSpPr>
        <p:spPr>
          <a:xfrm>
            <a:off x="1080000" y="3498873"/>
            <a:ext cx="8532495" cy="773430"/>
          </a:xfrm>
          <a:custGeom>
            <a:avLst/>
            <a:gdLst/>
            <a:ahLst/>
            <a:cxnLst/>
            <a:rect l="l" t="t" r="r" b="b"/>
            <a:pathLst>
              <a:path w="8532495" h="773429">
                <a:moveTo>
                  <a:pt x="8474850" y="773430"/>
                </a:moveTo>
                <a:lnTo>
                  <a:pt x="57150" y="773430"/>
                </a:lnTo>
                <a:lnTo>
                  <a:pt x="34959" y="768920"/>
                </a:lnTo>
                <a:lnTo>
                  <a:pt x="16787" y="756642"/>
                </a:lnTo>
                <a:lnTo>
                  <a:pt x="4509" y="738470"/>
                </a:lnTo>
                <a:lnTo>
                  <a:pt x="0" y="716280"/>
                </a:lnTo>
                <a:lnTo>
                  <a:pt x="0" y="57150"/>
                </a:lnTo>
                <a:lnTo>
                  <a:pt x="4509" y="34959"/>
                </a:lnTo>
                <a:lnTo>
                  <a:pt x="16787" y="16787"/>
                </a:lnTo>
                <a:lnTo>
                  <a:pt x="34959" y="4509"/>
                </a:lnTo>
                <a:lnTo>
                  <a:pt x="57150" y="0"/>
                </a:lnTo>
                <a:lnTo>
                  <a:pt x="8474850" y="0"/>
                </a:lnTo>
                <a:lnTo>
                  <a:pt x="8497040" y="4509"/>
                </a:lnTo>
                <a:lnTo>
                  <a:pt x="8515212" y="16787"/>
                </a:lnTo>
                <a:lnTo>
                  <a:pt x="8527490" y="34959"/>
                </a:lnTo>
                <a:lnTo>
                  <a:pt x="8532000" y="57150"/>
                </a:lnTo>
                <a:lnTo>
                  <a:pt x="8532000" y="716280"/>
                </a:lnTo>
                <a:lnTo>
                  <a:pt x="8527490" y="738470"/>
                </a:lnTo>
                <a:lnTo>
                  <a:pt x="8515212" y="756642"/>
                </a:lnTo>
                <a:lnTo>
                  <a:pt x="8497040" y="768920"/>
                </a:lnTo>
                <a:lnTo>
                  <a:pt x="8474850" y="773430"/>
                </a:lnTo>
                <a:close/>
              </a:path>
            </a:pathLst>
          </a:custGeom>
          <a:solidFill>
            <a:srgbClr val="FFFFFF">
              <a:alpha val="7998"/>
            </a:srgbClr>
          </a:solidFill>
        </p:spPr>
        <p:txBody>
          <a:bodyPr wrap="square" lIns="0" tIns="0" rIns="0" bIns="0" rtlCol="0"/>
          <a:lstStyle/>
          <a:p>
            <a:endParaRPr/>
          </a:p>
        </p:txBody>
      </p:sp>
      <p:sp>
        <p:nvSpPr>
          <p:cNvPr id="5" name="object 5" descr="$PPTXTitle"/>
          <p:cNvSpPr txBox="1">
            <a:spLocks noGrp="1"/>
          </p:cNvSpPr>
          <p:nvPr>
            <p:ph type="title"/>
          </p:nvPr>
        </p:nvSpPr>
        <p:spPr>
          <a:xfrm>
            <a:off x="1067299" y="1523226"/>
            <a:ext cx="5281295" cy="1061720"/>
          </a:xfrm>
          <a:prstGeom prst="rect">
            <a:avLst/>
          </a:prstGeom>
        </p:spPr>
        <p:txBody>
          <a:bodyPr vert="horz" wrap="square" lIns="0" tIns="12700" rIns="0" bIns="0" rtlCol="0">
            <a:spAutoFit/>
          </a:bodyPr>
          <a:lstStyle/>
          <a:p>
            <a:pPr marL="12700" marR="5080">
              <a:lnSpc>
                <a:spcPct val="100000"/>
              </a:lnSpc>
              <a:spcBef>
                <a:spcPts val="100"/>
              </a:spcBef>
            </a:pPr>
            <a:r>
              <a:rPr sz="3400" spc="-10" dirty="0">
                <a:solidFill>
                  <a:srgbClr val="FFFFFF"/>
                </a:solidFill>
              </a:rPr>
              <a:t>Implementación</a:t>
            </a:r>
            <a:r>
              <a:rPr sz="3400" spc="-75" dirty="0">
                <a:solidFill>
                  <a:srgbClr val="FFFFFF"/>
                </a:solidFill>
              </a:rPr>
              <a:t> </a:t>
            </a:r>
            <a:r>
              <a:rPr sz="3400" dirty="0">
                <a:solidFill>
                  <a:srgbClr val="FFFFFF"/>
                </a:solidFill>
              </a:rPr>
              <a:t>Física</a:t>
            </a:r>
            <a:r>
              <a:rPr sz="3400" spc="-70" dirty="0">
                <a:solidFill>
                  <a:srgbClr val="FFFFFF"/>
                </a:solidFill>
              </a:rPr>
              <a:t> </a:t>
            </a:r>
            <a:r>
              <a:rPr sz="3400" spc="-25" dirty="0">
                <a:solidFill>
                  <a:srgbClr val="FFFFFF"/>
                </a:solidFill>
              </a:rPr>
              <a:t>de </a:t>
            </a:r>
            <a:r>
              <a:rPr sz="3400" dirty="0">
                <a:solidFill>
                  <a:srgbClr val="FFFFFF"/>
                </a:solidFill>
              </a:rPr>
              <a:t>Base</a:t>
            </a:r>
            <a:r>
              <a:rPr sz="3400" spc="-15" dirty="0">
                <a:solidFill>
                  <a:srgbClr val="FFFFFF"/>
                </a:solidFill>
              </a:rPr>
              <a:t> </a:t>
            </a:r>
            <a:r>
              <a:rPr sz="3400" dirty="0">
                <a:solidFill>
                  <a:srgbClr val="FFFFFF"/>
                </a:solidFill>
              </a:rPr>
              <a:t>de</a:t>
            </a:r>
            <a:r>
              <a:rPr sz="3400" spc="-15" dirty="0">
                <a:solidFill>
                  <a:srgbClr val="FFFFFF"/>
                </a:solidFill>
              </a:rPr>
              <a:t> </a:t>
            </a:r>
            <a:r>
              <a:rPr sz="3400" dirty="0">
                <a:solidFill>
                  <a:srgbClr val="FFFFFF"/>
                </a:solidFill>
              </a:rPr>
              <a:t>Datos</a:t>
            </a:r>
            <a:r>
              <a:rPr sz="3400" spc="-10" dirty="0">
                <a:solidFill>
                  <a:srgbClr val="FFFFFF"/>
                </a:solidFill>
              </a:rPr>
              <a:t> Relacional</a:t>
            </a:r>
            <a:endParaRPr sz="3400"/>
          </a:p>
        </p:txBody>
      </p:sp>
      <p:sp>
        <p:nvSpPr>
          <p:cNvPr id="6" name="object 6"/>
          <p:cNvSpPr txBox="1"/>
          <p:nvPr/>
        </p:nvSpPr>
        <p:spPr>
          <a:xfrm>
            <a:off x="1067299" y="2782555"/>
            <a:ext cx="6123305" cy="269240"/>
          </a:xfrm>
          <a:prstGeom prst="rect">
            <a:avLst/>
          </a:prstGeom>
        </p:spPr>
        <p:txBody>
          <a:bodyPr vert="horz" wrap="square" lIns="0" tIns="12700" rIns="0" bIns="0" rtlCol="0">
            <a:spAutoFit/>
          </a:bodyPr>
          <a:lstStyle/>
          <a:p>
            <a:pPr marL="12700">
              <a:lnSpc>
                <a:spcPct val="100000"/>
              </a:lnSpc>
              <a:spcBef>
                <a:spcPts val="100"/>
              </a:spcBef>
            </a:pPr>
            <a:r>
              <a:rPr sz="1600" dirty="0" err="1">
                <a:solidFill>
                  <a:srgbClr val="E2E8EF"/>
                </a:solidFill>
                <a:latin typeface="Arial MT"/>
                <a:cs typeface="Arial MT"/>
              </a:rPr>
              <a:t>Entregable</a:t>
            </a:r>
            <a:r>
              <a:rPr sz="1600" spc="-30" dirty="0">
                <a:solidFill>
                  <a:srgbClr val="E2E8EF"/>
                </a:solidFill>
                <a:latin typeface="Arial MT"/>
                <a:cs typeface="Arial MT"/>
              </a:rPr>
              <a:t> </a:t>
            </a:r>
            <a:r>
              <a:rPr sz="1600" dirty="0">
                <a:solidFill>
                  <a:srgbClr val="E2E8EF"/>
                </a:solidFill>
                <a:latin typeface="Arial MT"/>
                <a:cs typeface="Arial MT"/>
              </a:rPr>
              <a:t>2</a:t>
            </a:r>
            <a:r>
              <a:rPr sz="1600" spc="-30" dirty="0">
                <a:solidFill>
                  <a:srgbClr val="E2E8EF"/>
                </a:solidFill>
                <a:latin typeface="Arial MT"/>
                <a:cs typeface="Arial MT"/>
              </a:rPr>
              <a:t> </a:t>
            </a:r>
            <a:r>
              <a:rPr sz="1600" dirty="0">
                <a:solidFill>
                  <a:srgbClr val="E2E8EF"/>
                </a:solidFill>
                <a:latin typeface="Arial MT"/>
                <a:cs typeface="Arial MT"/>
              </a:rPr>
              <a:t>—</a:t>
            </a:r>
            <a:r>
              <a:rPr sz="1600" spc="-25" dirty="0">
                <a:solidFill>
                  <a:srgbClr val="E2E8EF"/>
                </a:solidFill>
                <a:latin typeface="Arial MT"/>
                <a:cs typeface="Arial MT"/>
              </a:rPr>
              <a:t> </a:t>
            </a:r>
            <a:r>
              <a:rPr sz="1600" dirty="0">
                <a:solidFill>
                  <a:srgbClr val="E2E8EF"/>
                </a:solidFill>
                <a:latin typeface="Arial MT"/>
                <a:cs typeface="Arial MT"/>
              </a:rPr>
              <a:t>Caso</a:t>
            </a:r>
            <a:r>
              <a:rPr sz="1600" spc="-30" dirty="0">
                <a:solidFill>
                  <a:srgbClr val="E2E8EF"/>
                </a:solidFill>
                <a:latin typeface="Arial MT"/>
                <a:cs typeface="Arial MT"/>
              </a:rPr>
              <a:t> </a:t>
            </a:r>
            <a:r>
              <a:rPr sz="1600" spc="-10" dirty="0">
                <a:solidFill>
                  <a:srgbClr val="E2E8EF"/>
                </a:solidFill>
                <a:latin typeface="Arial MT"/>
                <a:cs typeface="Arial MT"/>
              </a:rPr>
              <a:t>E-</a:t>
            </a:r>
            <a:r>
              <a:rPr sz="1600" dirty="0">
                <a:solidFill>
                  <a:srgbClr val="E2E8EF"/>
                </a:solidFill>
                <a:latin typeface="Arial MT"/>
                <a:cs typeface="Arial MT"/>
              </a:rPr>
              <a:t>Learning</a:t>
            </a:r>
            <a:r>
              <a:rPr sz="1600" spc="-30" dirty="0">
                <a:solidFill>
                  <a:srgbClr val="E2E8EF"/>
                </a:solidFill>
                <a:latin typeface="Arial MT"/>
                <a:cs typeface="Arial MT"/>
              </a:rPr>
              <a:t> </a:t>
            </a:r>
            <a:r>
              <a:rPr sz="1600" dirty="0">
                <a:solidFill>
                  <a:srgbClr val="E2E8EF"/>
                </a:solidFill>
                <a:latin typeface="Arial MT"/>
                <a:cs typeface="Arial MT"/>
              </a:rPr>
              <a:t>(Grupo</a:t>
            </a:r>
            <a:r>
              <a:rPr sz="1600" spc="-25" dirty="0">
                <a:solidFill>
                  <a:srgbClr val="E2E8EF"/>
                </a:solidFill>
                <a:latin typeface="Arial MT"/>
                <a:cs typeface="Arial MT"/>
              </a:rPr>
              <a:t> 1)</a:t>
            </a:r>
            <a:endParaRPr sz="1600" dirty="0">
              <a:latin typeface="Arial MT"/>
              <a:cs typeface="Arial MT"/>
            </a:endParaRPr>
          </a:p>
        </p:txBody>
      </p:sp>
      <p:sp>
        <p:nvSpPr>
          <p:cNvPr id="7" name="object 7"/>
          <p:cNvSpPr txBox="1"/>
          <p:nvPr/>
        </p:nvSpPr>
        <p:spPr>
          <a:xfrm>
            <a:off x="1257798" y="3590443"/>
            <a:ext cx="6755901" cy="507831"/>
          </a:xfrm>
          <a:prstGeom prst="rect">
            <a:avLst/>
          </a:prstGeom>
        </p:spPr>
        <p:txBody>
          <a:bodyPr vert="horz" wrap="square" lIns="0" tIns="73660" rIns="0" bIns="0" rtlCol="0">
            <a:spAutoFit/>
          </a:bodyPr>
          <a:lstStyle/>
          <a:p>
            <a:pPr marL="12700">
              <a:lnSpc>
                <a:spcPct val="100000"/>
              </a:lnSpc>
              <a:spcBef>
                <a:spcPts val="580"/>
              </a:spcBef>
            </a:pPr>
            <a:r>
              <a:rPr sz="1200" b="1" dirty="0">
                <a:solidFill>
                  <a:srgbClr val="CAD4DF"/>
                </a:solidFill>
                <a:latin typeface="Arial"/>
                <a:cs typeface="Arial"/>
              </a:rPr>
              <a:t>Integrantes</a:t>
            </a:r>
            <a:r>
              <a:rPr sz="1200" b="1" spc="-35" dirty="0">
                <a:solidFill>
                  <a:srgbClr val="CAD4DF"/>
                </a:solidFill>
                <a:latin typeface="Arial"/>
                <a:cs typeface="Arial"/>
              </a:rPr>
              <a:t> </a:t>
            </a:r>
            <a:r>
              <a:rPr sz="1200" b="1" dirty="0">
                <a:solidFill>
                  <a:srgbClr val="CAD4DF"/>
                </a:solidFill>
                <a:latin typeface="Arial"/>
                <a:cs typeface="Arial"/>
              </a:rPr>
              <a:t>del</a:t>
            </a:r>
            <a:r>
              <a:rPr sz="1200" b="1" spc="-35" dirty="0">
                <a:solidFill>
                  <a:srgbClr val="CAD4DF"/>
                </a:solidFill>
                <a:latin typeface="Arial"/>
                <a:cs typeface="Arial"/>
              </a:rPr>
              <a:t> </a:t>
            </a:r>
            <a:r>
              <a:rPr sz="1200" b="1" spc="-10" dirty="0">
                <a:solidFill>
                  <a:srgbClr val="CAD4DF"/>
                </a:solidFill>
                <a:latin typeface="Arial"/>
                <a:cs typeface="Arial"/>
              </a:rPr>
              <a:t>Proyecto:</a:t>
            </a:r>
            <a:endParaRPr sz="1200" dirty="0">
              <a:latin typeface="Arial"/>
              <a:cs typeface="Arial"/>
            </a:endParaRPr>
          </a:p>
          <a:p>
            <a:pPr marL="12700">
              <a:lnSpc>
                <a:spcPct val="100000"/>
              </a:lnSpc>
              <a:spcBef>
                <a:spcPts val="480"/>
              </a:spcBef>
            </a:pPr>
            <a:r>
              <a:rPr sz="1200" dirty="0">
                <a:solidFill>
                  <a:srgbClr val="CAD4DF"/>
                </a:solidFill>
                <a:latin typeface="Arial MT"/>
                <a:cs typeface="Arial MT"/>
              </a:rPr>
              <a:t>Alejandro</a:t>
            </a:r>
            <a:r>
              <a:rPr lang="es-CO" sz="1200" spc="-30" dirty="0">
                <a:solidFill>
                  <a:srgbClr val="CAD4DF"/>
                </a:solidFill>
                <a:latin typeface="Arial MT"/>
                <a:cs typeface="Arial MT"/>
              </a:rPr>
              <a:t> </a:t>
            </a:r>
            <a:r>
              <a:rPr lang="es-CO" sz="1200" dirty="0">
                <a:solidFill>
                  <a:srgbClr val="CAD4DF"/>
                </a:solidFill>
                <a:latin typeface="Arial MT"/>
                <a:cs typeface="Arial MT"/>
              </a:rPr>
              <a:t>Cadavid Velásquez</a:t>
            </a:r>
            <a:r>
              <a:rPr sz="1200" spc="290" dirty="0">
                <a:solidFill>
                  <a:srgbClr val="CAD4DF"/>
                </a:solidFill>
                <a:latin typeface="Arial MT"/>
                <a:cs typeface="Arial MT"/>
              </a:rPr>
              <a:t> </a:t>
            </a:r>
            <a:r>
              <a:rPr sz="1200" dirty="0">
                <a:solidFill>
                  <a:srgbClr val="CAD4DF"/>
                </a:solidFill>
                <a:latin typeface="Arial MT"/>
                <a:cs typeface="Arial MT"/>
              </a:rPr>
              <a:t>|</a:t>
            </a:r>
            <a:r>
              <a:rPr sz="1200" spc="290" dirty="0">
                <a:solidFill>
                  <a:srgbClr val="CAD4DF"/>
                </a:solidFill>
                <a:latin typeface="Arial MT"/>
                <a:cs typeface="Arial MT"/>
              </a:rPr>
              <a:t> </a:t>
            </a:r>
            <a:r>
              <a:rPr sz="1200" dirty="0">
                <a:solidFill>
                  <a:srgbClr val="CAD4DF"/>
                </a:solidFill>
                <a:latin typeface="Arial MT"/>
                <a:cs typeface="Arial MT"/>
              </a:rPr>
              <a:t>Ingri</a:t>
            </a:r>
            <a:r>
              <a:rPr sz="1200" spc="-25" dirty="0">
                <a:solidFill>
                  <a:srgbClr val="CAD4DF"/>
                </a:solidFill>
                <a:latin typeface="Arial MT"/>
                <a:cs typeface="Arial MT"/>
              </a:rPr>
              <a:t> </a:t>
            </a:r>
            <a:r>
              <a:rPr sz="1200" dirty="0">
                <a:solidFill>
                  <a:srgbClr val="CAD4DF"/>
                </a:solidFill>
                <a:latin typeface="Arial MT"/>
                <a:cs typeface="Arial MT"/>
              </a:rPr>
              <a:t>Johana</a:t>
            </a:r>
            <a:r>
              <a:rPr sz="1200" spc="-25" dirty="0">
                <a:solidFill>
                  <a:srgbClr val="CAD4DF"/>
                </a:solidFill>
                <a:latin typeface="Arial MT"/>
                <a:cs typeface="Arial MT"/>
              </a:rPr>
              <a:t> </a:t>
            </a:r>
            <a:r>
              <a:rPr sz="1200" dirty="0">
                <a:solidFill>
                  <a:srgbClr val="CAD4DF"/>
                </a:solidFill>
                <a:latin typeface="Arial MT"/>
                <a:cs typeface="Arial MT"/>
              </a:rPr>
              <a:t>Rolón</a:t>
            </a:r>
            <a:r>
              <a:rPr sz="1200" spc="-50" dirty="0">
                <a:solidFill>
                  <a:srgbClr val="CAD4DF"/>
                </a:solidFill>
                <a:latin typeface="Arial MT"/>
                <a:cs typeface="Arial MT"/>
              </a:rPr>
              <a:t> </a:t>
            </a:r>
            <a:r>
              <a:rPr sz="1200" dirty="0">
                <a:solidFill>
                  <a:srgbClr val="CAD4DF"/>
                </a:solidFill>
                <a:latin typeface="Arial MT"/>
                <a:cs typeface="Arial MT"/>
              </a:rPr>
              <a:t>Torres</a:t>
            </a:r>
            <a:r>
              <a:rPr sz="1200" spc="290" dirty="0">
                <a:solidFill>
                  <a:srgbClr val="CAD4DF"/>
                </a:solidFill>
                <a:latin typeface="Arial MT"/>
                <a:cs typeface="Arial MT"/>
              </a:rPr>
              <a:t> </a:t>
            </a:r>
            <a:r>
              <a:rPr sz="1200" dirty="0">
                <a:solidFill>
                  <a:srgbClr val="CAD4DF"/>
                </a:solidFill>
                <a:latin typeface="Arial MT"/>
                <a:cs typeface="Arial MT"/>
              </a:rPr>
              <a:t>|</a:t>
            </a:r>
            <a:r>
              <a:rPr sz="1200" spc="290" dirty="0">
                <a:solidFill>
                  <a:srgbClr val="CAD4DF"/>
                </a:solidFill>
                <a:latin typeface="Arial MT"/>
                <a:cs typeface="Arial MT"/>
              </a:rPr>
              <a:t> </a:t>
            </a:r>
            <a:r>
              <a:rPr sz="1200" dirty="0">
                <a:solidFill>
                  <a:srgbClr val="CAD4DF"/>
                </a:solidFill>
                <a:latin typeface="Arial MT"/>
                <a:cs typeface="Arial MT"/>
              </a:rPr>
              <a:t>Luz</a:t>
            </a:r>
            <a:r>
              <a:rPr sz="1200" spc="-85" dirty="0">
                <a:solidFill>
                  <a:srgbClr val="CAD4DF"/>
                </a:solidFill>
                <a:latin typeface="Arial MT"/>
                <a:cs typeface="Arial MT"/>
              </a:rPr>
              <a:t> </a:t>
            </a:r>
            <a:r>
              <a:rPr sz="1200" dirty="0">
                <a:solidFill>
                  <a:srgbClr val="CAD4DF"/>
                </a:solidFill>
                <a:latin typeface="Arial MT"/>
                <a:cs typeface="Arial MT"/>
              </a:rPr>
              <a:t>Angelith</a:t>
            </a:r>
            <a:r>
              <a:rPr sz="1200" spc="-20" dirty="0">
                <a:solidFill>
                  <a:srgbClr val="CAD4DF"/>
                </a:solidFill>
                <a:latin typeface="Arial MT"/>
                <a:cs typeface="Arial MT"/>
              </a:rPr>
              <a:t> </a:t>
            </a:r>
            <a:r>
              <a:rPr sz="1200" dirty="0">
                <a:solidFill>
                  <a:srgbClr val="CAD4DF"/>
                </a:solidFill>
                <a:latin typeface="Arial MT"/>
                <a:cs typeface="Arial MT"/>
              </a:rPr>
              <a:t>Espinosa</a:t>
            </a:r>
            <a:r>
              <a:rPr sz="1200" spc="-25" dirty="0">
                <a:solidFill>
                  <a:srgbClr val="CAD4DF"/>
                </a:solidFill>
                <a:latin typeface="Arial MT"/>
                <a:cs typeface="Arial MT"/>
              </a:rPr>
              <a:t> </a:t>
            </a:r>
            <a:r>
              <a:rPr sz="1200" spc="-10" dirty="0">
                <a:solidFill>
                  <a:srgbClr val="CAD4DF"/>
                </a:solidFill>
                <a:latin typeface="Arial MT"/>
                <a:cs typeface="Arial MT"/>
              </a:rPr>
              <a:t>Mendoza</a:t>
            </a:r>
            <a:endParaRPr sz="1200"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60700" y="2131660"/>
            <a:ext cx="4953000" cy="212879"/>
          </a:xfrm>
          <a:prstGeom prst="rect">
            <a:avLst/>
          </a:prstGeom>
        </p:spPr>
        <p:txBody>
          <a:bodyPr vert="horz" wrap="square" lIns="0" tIns="12700" rIns="0" bIns="0" rtlCol="0">
            <a:spAutoFit/>
          </a:bodyPr>
          <a:lstStyle/>
          <a:p>
            <a:pPr marL="12700">
              <a:lnSpc>
                <a:spcPct val="100000"/>
              </a:lnSpc>
              <a:spcBef>
                <a:spcPts val="100"/>
              </a:spcBef>
            </a:pPr>
            <a:r>
              <a:rPr sz="1300" b="1" spc="70" dirty="0">
                <a:solidFill>
                  <a:srgbClr val="62B3ED"/>
                </a:solidFill>
                <a:latin typeface="Arial"/>
                <a:cs typeface="Arial"/>
              </a:rPr>
              <a:t>FA</a:t>
            </a:r>
            <a:r>
              <a:rPr sz="1300" b="1" spc="-140" dirty="0">
                <a:solidFill>
                  <a:srgbClr val="62B3ED"/>
                </a:solidFill>
                <a:latin typeface="Arial"/>
                <a:cs typeface="Arial"/>
              </a:rPr>
              <a:t> </a:t>
            </a:r>
            <a:r>
              <a:rPr sz="1300" b="1" dirty="0">
                <a:solidFill>
                  <a:srgbClr val="62B3ED"/>
                </a:solidFill>
                <a:latin typeface="Arial"/>
                <a:cs typeface="Arial"/>
              </a:rPr>
              <a:t>S</a:t>
            </a:r>
            <a:r>
              <a:rPr sz="1300" b="1" spc="-140" dirty="0">
                <a:solidFill>
                  <a:srgbClr val="62B3ED"/>
                </a:solidFill>
                <a:latin typeface="Arial"/>
                <a:cs typeface="Arial"/>
              </a:rPr>
              <a:t> </a:t>
            </a:r>
            <a:r>
              <a:rPr sz="1300" b="1" dirty="0">
                <a:solidFill>
                  <a:srgbClr val="62B3ED"/>
                </a:solidFill>
                <a:latin typeface="Arial"/>
                <a:cs typeface="Arial"/>
              </a:rPr>
              <a:t>E</a:t>
            </a:r>
            <a:r>
              <a:rPr sz="1300" b="1" spc="450" dirty="0">
                <a:solidFill>
                  <a:srgbClr val="62B3ED"/>
                </a:solidFill>
                <a:latin typeface="Arial"/>
                <a:cs typeface="Arial"/>
              </a:rPr>
              <a:t> </a:t>
            </a:r>
            <a:r>
              <a:rPr sz="1300" b="1" dirty="0">
                <a:solidFill>
                  <a:srgbClr val="62B3ED"/>
                </a:solidFill>
                <a:latin typeface="Arial"/>
                <a:cs typeface="Arial"/>
              </a:rPr>
              <a:t>C</a:t>
            </a:r>
            <a:r>
              <a:rPr lang="es-CO" sz="1300" b="1" dirty="0">
                <a:solidFill>
                  <a:srgbClr val="62B3ED"/>
                </a:solidFill>
                <a:latin typeface="Arial"/>
                <a:cs typeface="Arial"/>
              </a:rPr>
              <a:t> O N T E X T O  Y  A L C A N C E  D E L  S I S T E M A</a:t>
            </a:r>
            <a:endParaRPr sz="1300" dirty="0">
              <a:latin typeface="Arial"/>
              <a:cs typeface="Arial"/>
            </a:endParaRPr>
          </a:p>
        </p:txBody>
      </p:sp>
      <p:sp>
        <p:nvSpPr>
          <p:cNvPr id="3" name="object 3" descr="$PPTXTitle"/>
          <p:cNvSpPr txBox="1">
            <a:spLocks noGrp="1"/>
          </p:cNvSpPr>
          <p:nvPr>
            <p:ph type="title"/>
          </p:nvPr>
        </p:nvSpPr>
        <p:spPr>
          <a:xfrm>
            <a:off x="1649245" y="2530504"/>
            <a:ext cx="7392670" cy="1013098"/>
          </a:xfrm>
          <a:prstGeom prst="rect">
            <a:avLst/>
          </a:prstGeom>
        </p:spPr>
        <p:txBody>
          <a:bodyPr vert="horz" wrap="square" lIns="0" tIns="50800" rIns="0" bIns="0" rtlCol="0">
            <a:spAutoFit/>
          </a:bodyPr>
          <a:lstStyle/>
          <a:p>
            <a:pPr marL="635" algn="ctr">
              <a:lnSpc>
                <a:spcPct val="100000"/>
              </a:lnSpc>
              <a:spcBef>
                <a:spcPts val="400"/>
              </a:spcBef>
            </a:pPr>
            <a:r>
              <a:rPr sz="3000" dirty="0">
                <a:solidFill>
                  <a:srgbClr val="FFFFFF"/>
                </a:solidFill>
              </a:rPr>
              <a:t>SECCIÓN</a:t>
            </a:r>
            <a:r>
              <a:rPr sz="3000" spc="-30" dirty="0">
                <a:solidFill>
                  <a:srgbClr val="FFFFFF"/>
                </a:solidFill>
              </a:rPr>
              <a:t> </a:t>
            </a:r>
            <a:r>
              <a:rPr sz="3000" spc="-25" dirty="0">
                <a:solidFill>
                  <a:srgbClr val="FFFFFF"/>
                </a:solidFill>
              </a:rPr>
              <a:t>01</a:t>
            </a:r>
            <a:endParaRPr sz="3000" dirty="0"/>
          </a:p>
          <a:p>
            <a:pPr algn="ctr">
              <a:lnSpc>
                <a:spcPct val="100000"/>
              </a:lnSpc>
              <a:spcBef>
                <a:spcPts val="300"/>
              </a:spcBef>
            </a:pPr>
            <a:r>
              <a:rPr lang="es-CO" sz="3000" dirty="0">
                <a:solidFill>
                  <a:srgbClr val="FFFFFF"/>
                </a:solidFill>
              </a:rPr>
              <a:t>Fundamentos del Negocio</a:t>
            </a:r>
            <a:endParaRPr sz="3000" dirty="0"/>
          </a:p>
        </p:txBody>
      </p:sp>
    </p:spTree>
    <p:extLst>
      <p:ext uri="{BB962C8B-B14F-4D97-AF65-F5344CB8AC3E}">
        <p14:creationId xmlns:p14="http://schemas.microsoft.com/office/powerpoint/2010/main" val="3258680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n 37">
            <a:extLst>
              <a:ext uri="{FF2B5EF4-FFF2-40B4-BE49-F238E27FC236}">
                <a16:creationId xmlns:a16="http://schemas.microsoft.com/office/drawing/2014/main" id="{C89FDA2C-A24A-4011-8119-D520237D784C}"/>
              </a:ext>
            </a:extLst>
          </p:cNvPr>
          <p:cNvPicPr>
            <a:picLocks noChangeAspect="1"/>
          </p:cNvPicPr>
          <p:nvPr/>
        </p:nvPicPr>
        <p:blipFill>
          <a:blip r:embed="rId2"/>
          <a:stretch>
            <a:fillRect/>
          </a:stretch>
        </p:blipFill>
        <p:spPr>
          <a:xfrm>
            <a:off x="849827" y="3871311"/>
            <a:ext cx="8980186" cy="782166"/>
          </a:xfrm>
          <a:prstGeom prst="rect">
            <a:avLst/>
          </a:prstGeom>
        </p:spPr>
      </p:pic>
      <p:sp>
        <p:nvSpPr>
          <p:cNvPr id="11" name="object 11" descr="$PPTXTitle"/>
          <p:cNvSpPr txBox="1">
            <a:spLocks noGrp="1"/>
          </p:cNvSpPr>
          <p:nvPr>
            <p:ph type="title"/>
          </p:nvPr>
        </p:nvSpPr>
        <p:spPr>
          <a:xfrm>
            <a:off x="887300" y="1724025"/>
            <a:ext cx="7505700" cy="360680"/>
          </a:xfrm>
          <a:prstGeom prst="rect">
            <a:avLst/>
          </a:prstGeom>
        </p:spPr>
        <p:txBody>
          <a:bodyPr vert="horz" wrap="square" lIns="0" tIns="12700" rIns="0" bIns="0" rtlCol="0">
            <a:spAutoFit/>
          </a:bodyPr>
          <a:lstStyle/>
          <a:p>
            <a:pPr marL="12700">
              <a:lnSpc>
                <a:spcPct val="100000"/>
              </a:lnSpc>
              <a:spcBef>
                <a:spcPts val="100"/>
              </a:spcBef>
            </a:pPr>
            <a:r>
              <a:rPr lang="es-CO" dirty="0"/>
              <a:t>1. Contexto</a:t>
            </a:r>
            <a:endParaRPr spc="-10" dirty="0"/>
          </a:p>
        </p:txBody>
      </p:sp>
      <p:sp>
        <p:nvSpPr>
          <p:cNvPr id="12" name="object 12"/>
          <p:cNvSpPr txBox="1"/>
          <p:nvPr/>
        </p:nvSpPr>
        <p:spPr>
          <a:xfrm>
            <a:off x="887300" y="2181225"/>
            <a:ext cx="8892540" cy="723275"/>
          </a:xfrm>
          <a:prstGeom prst="rect">
            <a:avLst/>
          </a:prstGeom>
        </p:spPr>
        <p:txBody>
          <a:bodyPr vert="horz" wrap="square" lIns="0" tIns="12700" rIns="0" bIns="0" rtlCol="0">
            <a:spAutoFit/>
          </a:bodyPr>
          <a:lstStyle/>
          <a:p>
            <a:pPr marL="12700" marR="5080" algn="just">
              <a:lnSpc>
                <a:spcPct val="133300"/>
              </a:lnSpc>
              <a:spcBef>
                <a:spcPts val="100"/>
              </a:spcBef>
            </a:pPr>
            <a:r>
              <a:rPr lang="es-ES" sz="1200" dirty="0">
                <a:solidFill>
                  <a:srgbClr val="2D3648"/>
                </a:solidFill>
                <a:latin typeface="Arial MT"/>
                <a:cs typeface="Arial MT"/>
              </a:rPr>
              <a:t>El presente proyecto contempla el diseño e implementación de una infraestructura de datos robusta para una plataforma de educación en línea (E-Learning) que gestiona su oferta académica a través de catálogos modulares y requiere un control estricto de las interacciones transaccionales de sus usuarios.</a:t>
            </a:r>
            <a:endParaRPr sz="1200" dirty="0">
              <a:latin typeface="Arial MT"/>
              <a:cs typeface="Arial MT"/>
            </a:endParaRPr>
          </a:p>
        </p:txBody>
      </p:sp>
      <p:sp>
        <p:nvSpPr>
          <p:cNvPr id="16" name="object 16"/>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17" name="object 17"/>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8" name="object 18"/>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3</a:t>
            </a:fld>
            <a:endParaRPr spc="-50" dirty="0"/>
          </a:p>
        </p:txBody>
      </p:sp>
      <p:sp>
        <p:nvSpPr>
          <p:cNvPr id="25" name="object 11" descr="$PPTXTitle">
            <a:extLst>
              <a:ext uri="{FF2B5EF4-FFF2-40B4-BE49-F238E27FC236}">
                <a16:creationId xmlns:a16="http://schemas.microsoft.com/office/drawing/2014/main" id="{5EAFA949-8CB2-4AFC-8F04-346C0DCBC3D9}"/>
              </a:ext>
            </a:extLst>
          </p:cNvPr>
          <p:cNvSpPr txBox="1">
            <a:spLocks/>
          </p:cNvSpPr>
          <p:nvPr/>
        </p:nvSpPr>
        <p:spPr>
          <a:xfrm>
            <a:off x="887300" y="3095625"/>
            <a:ext cx="8905240" cy="351378"/>
          </a:xfrm>
          <a:prstGeom prst="rect">
            <a:avLst/>
          </a:prstGeom>
        </p:spPr>
        <p:txBody>
          <a:bodyPr vert="horz" wrap="square" lIns="0" tIns="12700" rIns="0" bIns="0" rtlCol="0">
            <a:spAutoFit/>
          </a:bodyPr>
          <a:lstStyle>
            <a:lvl1pPr>
              <a:defRPr sz="2200" b="1" i="0">
                <a:solidFill>
                  <a:srgbClr val="1A365D"/>
                </a:solidFill>
                <a:latin typeface="Arial"/>
                <a:ea typeface="+mj-ea"/>
                <a:cs typeface="Arial"/>
              </a:defRPr>
            </a:lvl1pPr>
          </a:lstStyle>
          <a:p>
            <a:pPr marL="12700">
              <a:spcBef>
                <a:spcPts val="100"/>
              </a:spcBef>
            </a:pPr>
            <a:r>
              <a:rPr lang="es-CO" dirty="0"/>
              <a:t>2. Alcance Operativo</a:t>
            </a:r>
            <a:endParaRPr lang="es-CO" spc="-10" dirty="0"/>
          </a:p>
        </p:txBody>
      </p:sp>
      <p:sp>
        <p:nvSpPr>
          <p:cNvPr id="30" name="object 12">
            <a:extLst>
              <a:ext uri="{FF2B5EF4-FFF2-40B4-BE49-F238E27FC236}">
                <a16:creationId xmlns:a16="http://schemas.microsoft.com/office/drawing/2014/main" id="{1B1670E7-3C27-4025-AE46-B99461ED1F7F}"/>
              </a:ext>
            </a:extLst>
          </p:cNvPr>
          <p:cNvSpPr txBox="1"/>
          <p:nvPr/>
        </p:nvSpPr>
        <p:spPr>
          <a:xfrm>
            <a:off x="878664" y="3615425"/>
            <a:ext cx="8892540" cy="1168269"/>
          </a:xfrm>
          <a:prstGeom prst="rect">
            <a:avLst/>
          </a:prstGeom>
        </p:spPr>
        <p:txBody>
          <a:bodyPr vert="horz" wrap="square" lIns="0" tIns="12700" rIns="0" bIns="0" rtlCol="0">
            <a:spAutoFit/>
          </a:bodyPr>
          <a:lstStyle/>
          <a:p>
            <a:pPr algn="just"/>
            <a:r>
              <a:rPr lang="es-ES" sz="1200" dirty="0"/>
              <a:t>El sistema restringe su alcance al núcleo del ciclo de vida del aprendizaje, modelando detalladamente:</a:t>
            </a:r>
          </a:p>
          <a:p>
            <a:endParaRPr lang="es-ES" sz="1200" dirty="0"/>
          </a:p>
          <a:p>
            <a:pPr marL="171450" indent="-171450" algn="just">
              <a:buFont typeface="Wingdings" panose="05000000000000000000" pitchFamily="2" charset="2"/>
              <a:buChar char="q"/>
            </a:pPr>
            <a:r>
              <a:rPr lang="es-ES" sz="1200" b="1" dirty="0"/>
              <a:t>Estudiantes:</a:t>
            </a:r>
            <a:r>
              <a:rPr lang="es-ES" sz="1200" dirty="0"/>
              <a:t> Gestión de perfiles y trazabilidad de ingresos.</a:t>
            </a:r>
          </a:p>
          <a:p>
            <a:pPr marL="171450" indent="-171450" algn="just">
              <a:buFont typeface="Wingdings" panose="05000000000000000000" pitchFamily="2" charset="2"/>
              <a:buChar char="q"/>
            </a:pPr>
            <a:r>
              <a:rPr lang="es-ES" sz="1200" b="1" dirty="0"/>
              <a:t>Catálogo:</a:t>
            </a:r>
            <a:r>
              <a:rPr lang="es-ES" sz="1200" dirty="0"/>
              <a:t> Estructura jerárquica de cursos vinculados a docentes y compuestos por múltiples módulos.</a:t>
            </a:r>
          </a:p>
          <a:p>
            <a:pPr marL="171450" indent="-171450" algn="just">
              <a:buFont typeface="Wingdings" panose="05000000000000000000" pitchFamily="2" charset="2"/>
              <a:buChar char="q"/>
            </a:pPr>
            <a:r>
              <a:rPr lang="es-ES" sz="1200" b="1" dirty="0"/>
              <a:t>Progreso:</a:t>
            </a:r>
            <a:r>
              <a:rPr lang="es-ES" sz="1200" dirty="0"/>
              <a:t> Registro del avance individualizado por competencias.</a:t>
            </a:r>
          </a:p>
          <a:p>
            <a:pPr marL="12700" marR="5080" algn="just">
              <a:lnSpc>
                <a:spcPct val="133300"/>
              </a:lnSpc>
              <a:spcBef>
                <a:spcPts val="100"/>
              </a:spcBef>
            </a:pPr>
            <a:endParaRPr lang="es-ES" sz="1200" dirty="0">
              <a:latin typeface="Arial MT"/>
              <a:cs typeface="Arial MT"/>
            </a:endParaRPr>
          </a:p>
        </p:txBody>
      </p:sp>
      <p:sp>
        <p:nvSpPr>
          <p:cNvPr id="32" name="object 11" descr="$PPTXTitle">
            <a:extLst>
              <a:ext uri="{FF2B5EF4-FFF2-40B4-BE49-F238E27FC236}">
                <a16:creationId xmlns:a16="http://schemas.microsoft.com/office/drawing/2014/main" id="{870FF31F-A998-4A09-8E8C-506024EC4384}"/>
              </a:ext>
            </a:extLst>
          </p:cNvPr>
          <p:cNvSpPr txBox="1">
            <a:spLocks/>
          </p:cNvSpPr>
          <p:nvPr/>
        </p:nvSpPr>
        <p:spPr>
          <a:xfrm>
            <a:off x="850900" y="4772025"/>
            <a:ext cx="7505700" cy="351378"/>
          </a:xfrm>
          <a:prstGeom prst="rect">
            <a:avLst/>
          </a:prstGeom>
        </p:spPr>
        <p:txBody>
          <a:bodyPr vert="horz" wrap="square" lIns="0" tIns="12700" rIns="0" bIns="0" rtlCol="0">
            <a:spAutoFit/>
          </a:bodyPr>
          <a:lstStyle>
            <a:lvl1pPr>
              <a:defRPr sz="2200" b="1" i="0">
                <a:solidFill>
                  <a:srgbClr val="1A365D"/>
                </a:solidFill>
                <a:latin typeface="Arial"/>
                <a:ea typeface="+mj-ea"/>
                <a:cs typeface="Arial"/>
              </a:defRPr>
            </a:lvl1pPr>
          </a:lstStyle>
          <a:p>
            <a:pPr marL="12700">
              <a:spcBef>
                <a:spcPts val="100"/>
              </a:spcBef>
            </a:pPr>
            <a:r>
              <a:rPr lang="es-CO" dirty="0"/>
              <a:t>3. Simplificaciones Técnicas Autorizadas</a:t>
            </a:r>
            <a:endParaRPr lang="es-CO" spc="-10" dirty="0"/>
          </a:p>
        </p:txBody>
      </p:sp>
      <p:sp>
        <p:nvSpPr>
          <p:cNvPr id="33" name="object 12">
            <a:extLst>
              <a:ext uri="{FF2B5EF4-FFF2-40B4-BE49-F238E27FC236}">
                <a16:creationId xmlns:a16="http://schemas.microsoft.com/office/drawing/2014/main" id="{6D989E60-29E5-40E9-90C8-FC87EA7EF535}"/>
              </a:ext>
            </a:extLst>
          </p:cNvPr>
          <p:cNvSpPr txBox="1"/>
          <p:nvPr/>
        </p:nvSpPr>
        <p:spPr>
          <a:xfrm>
            <a:off x="848692" y="5305425"/>
            <a:ext cx="8892540" cy="723275"/>
          </a:xfrm>
          <a:prstGeom prst="rect">
            <a:avLst/>
          </a:prstGeom>
        </p:spPr>
        <p:txBody>
          <a:bodyPr vert="horz" wrap="square" lIns="0" tIns="12700" rIns="0" bIns="0" rtlCol="0">
            <a:spAutoFit/>
          </a:bodyPr>
          <a:lstStyle/>
          <a:p>
            <a:pPr marL="12700" marR="5080" algn="just">
              <a:lnSpc>
                <a:spcPct val="133300"/>
              </a:lnSpc>
              <a:spcBef>
                <a:spcPts val="100"/>
              </a:spcBef>
            </a:pPr>
            <a:r>
              <a:rPr lang="es-ES" sz="1200" dirty="0">
                <a:solidFill>
                  <a:srgbClr val="2D3648"/>
                </a:solidFill>
                <a:latin typeface="Arial MT"/>
                <a:cs typeface="Arial MT"/>
              </a:rPr>
              <a:t>El presente proyecto contempla el diseño e implementación de una infraestructura de datos robusta para una plataforma de educación en línea (E-Learning) que gestiona su oferta académica a través de catálogos modulares y requiere un control estricto de las interacciones transaccionales de sus usuarios.</a:t>
            </a:r>
            <a:endParaRPr sz="1200" dirty="0">
              <a:latin typeface="Arial MT"/>
              <a:cs typeface="Arial MT"/>
            </a:endParaRPr>
          </a:p>
        </p:txBody>
      </p:sp>
      <p:sp>
        <p:nvSpPr>
          <p:cNvPr id="35" name="object 10">
            <a:extLst>
              <a:ext uri="{FF2B5EF4-FFF2-40B4-BE49-F238E27FC236}">
                <a16:creationId xmlns:a16="http://schemas.microsoft.com/office/drawing/2014/main" id="{CEE0DB1A-4173-46B1-8EA8-C32831D8FA26}"/>
              </a:ext>
            </a:extLst>
          </p:cNvPr>
          <p:cNvSpPr txBox="1"/>
          <p:nvPr/>
        </p:nvSpPr>
        <p:spPr>
          <a:xfrm>
            <a:off x="887300" y="874066"/>
            <a:ext cx="3525520" cy="182101"/>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1</a:t>
            </a:r>
            <a:r>
              <a:rPr sz="1100" b="1" spc="295" dirty="0">
                <a:solidFill>
                  <a:srgbClr val="3182CD"/>
                </a:solidFill>
                <a:latin typeface="Arial"/>
                <a:cs typeface="Arial"/>
              </a:rPr>
              <a:t> </a:t>
            </a:r>
            <a:r>
              <a:rPr sz="1100" b="1" dirty="0">
                <a:solidFill>
                  <a:srgbClr val="3182CD"/>
                </a:solidFill>
                <a:latin typeface="Arial"/>
                <a:cs typeface="Arial"/>
              </a:rPr>
              <a:t>—</a:t>
            </a:r>
            <a:r>
              <a:rPr sz="1100" b="1" spc="295" dirty="0">
                <a:solidFill>
                  <a:srgbClr val="3182CD"/>
                </a:solidFill>
                <a:latin typeface="Arial"/>
                <a:cs typeface="Arial"/>
              </a:rPr>
              <a:t> </a:t>
            </a:r>
            <a:r>
              <a:rPr lang="es-CO" sz="1100" b="1" spc="-10" dirty="0">
                <a:solidFill>
                  <a:srgbClr val="3182CD"/>
                </a:solidFill>
                <a:latin typeface="Arial"/>
                <a:cs typeface="Arial"/>
              </a:rPr>
              <a:t>FUNDAMENTOS DEL NEGOCIO</a:t>
            </a:r>
            <a:endParaRPr sz="1100" dirty="0">
              <a:latin typeface="Arial"/>
              <a:cs typeface="Arial"/>
            </a:endParaRPr>
          </a:p>
        </p:txBody>
      </p:sp>
      <p:sp>
        <p:nvSpPr>
          <p:cNvPr id="36" name="object 11" descr="$PPTXTitle">
            <a:extLst>
              <a:ext uri="{FF2B5EF4-FFF2-40B4-BE49-F238E27FC236}">
                <a16:creationId xmlns:a16="http://schemas.microsoft.com/office/drawing/2014/main" id="{8432EB86-4CB8-46DF-9BB3-927A7C6D4D0E}"/>
              </a:ext>
            </a:extLst>
          </p:cNvPr>
          <p:cNvSpPr txBox="1">
            <a:spLocks/>
          </p:cNvSpPr>
          <p:nvPr/>
        </p:nvSpPr>
        <p:spPr>
          <a:xfrm>
            <a:off x="887300" y="1104677"/>
            <a:ext cx="7505700" cy="360680"/>
          </a:xfrm>
          <a:prstGeom prst="rect">
            <a:avLst/>
          </a:prstGeom>
        </p:spPr>
        <p:txBody>
          <a:bodyPr vert="horz" wrap="square" lIns="0" tIns="12700" rIns="0" bIns="0" rtlCol="0">
            <a:spAutoFit/>
          </a:bodyPr>
          <a:lstStyle>
            <a:lvl1pPr>
              <a:defRPr sz="2200" b="1" i="0">
                <a:solidFill>
                  <a:srgbClr val="1A365D"/>
                </a:solidFill>
                <a:latin typeface="Arial"/>
                <a:ea typeface="+mj-ea"/>
                <a:cs typeface="Arial"/>
              </a:defRPr>
            </a:lvl1pPr>
          </a:lstStyle>
          <a:p>
            <a:pPr marL="12700">
              <a:spcBef>
                <a:spcPts val="100"/>
              </a:spcBef>
            </a:pPr>
            <a:r>
              <a:rPr lang="es-ES" dirty="0"/>
              <a:t>Contexto y Alcance del Sistema</a:t>
            </a:r>
            <a:endParaRPr lang="es-ES" spc="-10" dirty="0"/>
          </a:p>
        </p:txBody>
      </p:sp>
    </p:spTree>
    <p:extLst>
      <p:ext uri="{BB962C8B-B14F-4D97-AF65-F5344CB8AC3E}">
        <p14:creationId xmlns:p14="http://schemas.microsoft.com/office/powerpoint/2010/main" val="3998621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70100" y="2131660"/>
            <a:ext cx="6934200" cy="425758"/>
          </a:xfrm>
          <a:prstGeom prst="rect">
            <a:avLst/>
          </a:prstGeom>
        </p:spPr>
        <p:txBody>
          <a:bodyPr vert="horz" wrap="square" lIns="0" tIns="12700" rIns="0" bIns="0" rtlCol="0">
            <a:spAutoFit/>
          </a:bodyPr>
          <a:lstStyle/>
          <a:p>
            <a:pPr marL="12700">
              <a:lnSpc>
                <a:spcPct val="100000"/>
              </a:lnSpc>
              <a:spcBef>
                <a:spcPts val="100"/>
              </a:spcBef>
            </a:pPr>
            <a:r>
              <a:rPr sz="1300" b="1" spc="70" dirty="0">
                <a:solidFill>
                  <a:srgbClr val="62B3ED"/>
                </a:solidFill>
                <a:latin typeface="Arial"/>
                <a:cs typeface="Arial"/>
              </a:rPr>
              <a:t>FA</a:t>
            </a:r>
            <a:r>
              <a:rPr sz="1300" b="1" spc="-140" dirty="0">
                <a:solidFill>
                  <a:srgbClr val="62B3ED"/>
                </a:solidFill>
                <a:latin typeface="Arial"/>
                <a:cs typeface="Arial"/>
              </a:rPr>
              <a:t> </a:t>
            </a:r>
            <a:r>
              <a:rPr sz="1300" b="1" dirty="0">
                <a:solidFill>
                  <a:srgbClr val="62B3ED"/>
                </a:solidFill>
                <a:latin typeface="Arial"/>
                <a:cs typeface="Arial"/>
              </a:rPr>
              <a:t>S</a:t>
            </a:r>
            <a:r>
              <a:rPr sz="1300" b="1" spc="-140" dirty="0">
                <a:solidFill>
                  <a:srgbClr val="62B3ED"/>
                </a:solidFill>
                <a:latin typeface="Arial"/>
                <a:cs typeface="Arial"/>
              </a:rPr>
              <a:t> </a:t>
            </a:r>
            <a:r>
              <a:rPr sz="1300" b="1" dirty="0">
                <a:solidFill>
                  <a:srgbClr val="62B3ED"/>
                </a:solidFill>
                <a:latin typeface="Arial"/>
                <a:cs typeface="Arial"/>
              </a:rPr>
              <a:t>E</a:t>
            </a:r>
            <a:r>
              <a:rPr sz="1300" b="1" spc="450" dirty="0">
                <a:solidFill>
                  <a:srgbClr val="62B3ED"/>
                </a:solidFill>
                <a:latin typeface="Arial"/>
                <a:cs typeface="Arial"/>
              </a:rPr>
              <a:t> </a:t>
            </a:r>
            <a:r>
              <a:rPr lang="es-ES" sz="1300" b="1" spc="450" dirty="0">
                <a:solidFill>
                  <a:srgbClr val="62B3ED"/>
                </a:solidFill>
                <a:latin typeface="Arial"/>
                <a:cs typeface="Arial"/>
              </a:rPr>
              <a:t>REGLAS DE NEGOCIO Y OBJETIVOS ANALÍTICOS</a:t>
            </a:r>
          </a:p>
          <a:p>
            <a:pPr marL="12700">
              <a:lnSpc>
                <a:spcPct val="100000"/>
              </a:lnSpc>
              <a:spcBef>
                <a:spcPts val="100"/>
              </a:spcBef>
            </a:pPr>
            <a:endParaRPr lang="es-CO" sz="1300" dirty="0">
              <a:latin typeface="Arial"/>
              <a:cs typeface="Arial"/>
            </a:endParaRPr>
          </a:p>
        </p:txBody>
      </p:sp>
      <p:sp>
        <p:nvSpPr>
          <p:cNvPr id="3" name="object 3" descr="$PPTXTitle"/>
          <p:cNvSpPr txBox="1">
            <a:spLocks noGrp="1"/>
          </p:cNvSpPr>
          <p:nvPr>
            <p:ph type="title"/>
          </p:nvPr>
        </p:nvSpPr>
        <p:spPr>
          <a:xfrm>
            <a:off x="1649245" y="2530504"/>
            <a:ext cx="7392670" cy="1013098"/>
          </a:xfrm>
          <a:prstGeom prst="rect">
            <a:avLst/>
          </a:prstGeom>
        </p:spPr>
        <p:txBody>
          <a:bodyPr vert="horz" wrap="square" lIns="0" tIns="50800" rIns="0" bIns="0" rtlCol="0">
            <a:spAutoFit/>
          </a:bodyPr>
          <a:lstStyle/>
          <a:p>
            <a:pPr marL="635" algn="ctr">
              <a:lnSpc>
                <a:spcPct val="100000"/>
              </a:lnSpc>
              <a:spcBef>
                <a:spcPts val="400"/>
              </a:spcBef>
            </a:pPr>
            <a:r>
              <a:rPr sz="3000" dirty="0">
                <a:solidFill>
                  <a:srgbClr val="FFFFFF"/>
                </a:solidFill>
              </a:rPr>
              <a:t>SECCIÓN</a:t>
            </a:r>
            <a:r>
              <a:rPr sz="3000" spc="-30" dirty="0">
                <a:solidFill>
                  <a:srgbClr val="FFFFFF"/>
                </a:solidFill>
              </a:rPr>
              <a:t> </a:t>
            </a:r>
            <a:r>
              <a:rPr sz="3000" spc="-25" dirty="0">
                <a:solidFill>
                  <a:srgbClr val="FFFFFF"/>
                </a:solidFill>
              </a:rPr>
              <a:t>0</a:t>
            </a:r>
            <a:r>
              <a:rPr lang="es-CO" sz="3000" spc="-25" dirty="0">
                <a:solidFill>
                  <a:srgbClr val="FFFFFF"/>
                </a:solidFill>
              </a:rPr>
              <a:t>1</a:t>
            </a:r>
            <a:endParaRPr sz="3000" dirty="0"/>
          </a:p>
          <a:p>
            <a:pPr algn="ctr">
              <a:lnSpc>
                <a:spcPct val="100000"/>
              </a:lnSpc>
              <a:spcBef>
                <a:spcPts val="300"/>
              </a:spcBef>
            </a:pPr>
            <a:r>
              <a:rPr lang="es-CO" sz="3000" dirty="0">
                <a:solidFill>
                  <a:srgbClr val="FFFFFF"/>
                </a:solidFill>
              </a:rPr>
              <a:t>Arquitectura Semántica</a:t>
            </a:r>
            <a:endParaRPr sz="3000" dirty="0"/>
          </a:p>
        </p:txBody>
      </p:sp>
    </p:spTree>
    <p:extLst>
      <p:ext uri="{BB962C8B-B14F-4D97-AF65-F5344CB8AC3E}">
        <p14:creationId xmlns:p14="http://schemas.microsoft.com/office/powerpoint/2010/main" val="2219778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7116E9B0-7E11-40B9-A45A-1E008B096D1F}"/>
              </a:ext>
            </a:extLst>
          </p:cNvPr>
          <p:cNvPicPr>
            <a:picLocks noChangeAspect="1"/>
          </p:cNvPicPr>
          <p:nvPr/>
        </p:nvPicPr>
        <p:blipFill>
          <a:blip r:embed="rId2"/>
          <a:stretch>
            <a:fillRect/>
          </a:stretch>
        </p:blipFill>
        <p:spPr>
          <a:xfrm>
            <a:off x="820400" y="4543223"/>
            <a:ext cx="8978744" cy="1163332"/>
          </a:xfrm>
          <a:prstGeom prst="rect">
            <a:avLst/>
          </a:prstGeom>
        </p:spPr>
      </p:pic>
      <p:pic>
        <p:nvPicPr>
          <p:cNvPr id="3" name="Imagen 2">
            <a:extLst>
              <a:ext uri="{FF2B5EF4-FFF2-40B4-BE49-F238E27FC236}">
                <a16:creationId xmlns:a16="http://schemas.microsoft.com/office/drawing/2014/main" id="{C52E45CB-FC77-4151-8ABE-95814F56CC02}"/>
              </a:ext>
            </a:extLst>
          </p:cNvPr>
          <p:cNvPicPr>
            <a:picLocks noChangeAspect="1"/>
          </p:cNvPicPr>
          <p:nvPr/>
        </p:nvPicPr>
        <p:blipFill>
          <a:blip r:embed="rId2"/>
          <a:stretch>
            <a:fillRect/>
          </a:stretch>
        </p:blipFill>
        <p:spPr>
          <a:xfrm>
            <a:off x="771124" y="2180081"/>
            <a:ext cx="8978744" cy="1163332"/>
          </a:xfrm>
          <a:prstGeom prst="rect">
            <a:avLst/>
          </a:prstGeom>
        </p:spPr>
      </p:pic>
      <p:sp>
        <p:nvSpPr>
          <p:cNvPr id="11" name="object 11" descr="$PPTXTitle"/>
          <p:cNvSpPr txBox="1">
            <a:spLocks noGrp="1"/>
          </p:cNvSpPr>
          <p:nvPr>
            <p:ph type="title"/>
          </p:nvPr>
        </p:nvSpPr>
        <p:spPr>
          <a:xfrm>
            <a:off x="887300" y="1724025"/>
            <a:ext cx="7505700" cy="360680"/>
          </a:xfrm>
          <a:prstGeom prst="rect">
            <a:avLst/>
          </a:prstGeom>
        </p:spPr>
        <p:txBody>
          <a:bodyPr vert="horz" wrap="square" lIns="0" tIns="12700" rIns="0" bIns="0" rtlCol="0">
            <a:spAutoFit/>
          </a:bodyPr>
          <a:lstStyle/>
          <a:p>
            <a:pPr marL="12700">
              <a:lnSpc>
                <a:spcPct val="100000"/>
              </a:lnSpc>
              <a:spcBef>
                <a:spcPts val="100"/>
              </a:spcBef>
            </a:pPr>
            <a:r>
              <a:rPr lang="es-CO" dirty="0"/>
              <a:t>1. Reglas de Negocio Universales</a:t>
            </a:r>
            <a:endParaRPr spc="-10" dirty="0"/>
          </a:p>
        </p:txBody>
      </p:sp>
      <p:sp>
        <p:nvSpPr>
          <p:cNvPr id="12" name="object 12"/>
          <p:cNvSpPr txBox="1"/>
          <p:nvPr/>
        </p:nvSpPr>
        <p:spPr>
          <a:xfrm>
            <a:off x="887300" y="2181225"/>
            <a:ext cx="8892540" cy="1007327"/>
          </a:xfrm>
          <a:prstGeom prst="rect">
            <a:avLst/>
          </a:prstGeom>
        </p:spPr>
        <p:txBody>
          <a:bodyPr vert="horz" wrap="square" lIns="0" tIns="12700" rIns="0" bIns="0" rtlCol="0">
            <a:spAutoFit/>
          </a:bodyPr>
          <a:lstStyle/>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Un estudiante puede registrar múltiples inscripciones académicas a lo largo del tiempo.</a:t>
            </a:r>
          </a:p>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Un curso está estructurado de manera obligatoria por uno o muchos módulos independientes.</a:t>
            </a:r>
          </a:p>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Un docente tiene la capacidad de coordinar y dictar diferentes cursos dentro de su especialidad</a:t>
            </a:r>
          </a:p>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.Cada inscripción efectuada genera un único registro síncrono de progreso para monitorear el avance del alumno.</a:t>
            </a:r>
            <a:endParaRPr sz="1200" dirty="0">
              <a:latin typeface="Arial MT"/>
              <a:cs typeface="Arial MT"/>
            </a:endParaRPr>
          </a:p>
        </p:txBody>
      </p:sp>
      <p:sp>
        <p:nvSpPr>
          <p:cNvPr id="16" name="object 16"/>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17" name="object 17"/>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8" name="object 18"/>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5</a:t>
            </a:fld>
            <a:endParaRPr spc="-50" dirty="0"/>
          </a:p>
        </p:txBody>
      </p:sp>
      <p:sp>
        <p:nvSpPr>
          <p:cNvPr id="35" name="object 10">
            <a:extLst>
              <a:ext uri="{FF2B5EF4-FFF2-40B4-BE49-F238E27FC236}">
                <a16:creationId xmlns:a16="http://schemas.microsoft.com/office/drawing/2014/main" id="{CEE0DB1A-4173-46B1-8EA8-C32831D8FA26}"/>
              </a:ext>
            </a:extLst>
          </p:cNvPr>
          <p:cNvSpPr txBox="1"/>
          <p:nvPr/>
        </p:nvSpPr>
        <p:spPr>
          <a:xfrm>
            <a:off x="887300" y="874066"/>
            <a:ext cx="3525520" cy="182101"/>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lang="es-CO" sz="1100" b="1" spc="-10" dirty="0">
                <a:solidFill>
                  <a:srgbClr val="3182CD"/>
                </a:solidFill>
                <a:latin typeface="Arial"/>
                <a:cs typeface="Arial"/>
              </a:rPr>
              <a:t>1</a:t>
            </a:r>
            <a:r>
              <a:rPr sz="1100" b="1" spc="295" dirty="0">
                <a:solidFill>
                  <a:srgbClr val="3182CD"/>
                </a:solidFill>
                <a:latin typeface="Arial"/>
                <a:cs typeface="Arial"/>
              </a:rPr>
              <a:t> </a:t>
            </a:r>
            <a:r>
              <a:rPr sz="1100" b="1" dirty="0">
                <a:solidFill>
                  <a:srgbClr val="3182CD"/>
                </a:solidFill>
                <a:latin typeface="Arial"/>
                <a:cs typeface="Arial"/>
              </a:rPr>
              <a:t>—</a:t>
            </a:r>
            <a:r>
              <a:rPr sz="1100" b="1" spc="295" dirty="0">
                <a:solidFill>
                  <a:srgbClr val="3182CD"/>
                </a:solidFill>
                <a:latin typeface="Arial"/>
                <a:cs typeface="Arial"/>
              </a:rPr>
              <a:t> </a:t>
            </a:r>
            <a:r>
              <a:rPr lang="es-CO" sz="1100" b="1" spc="-10" dirty="0">
                <a:solidFill>
                  <a:srgbClr val="3182CD"/>
                </a:solidFill>
                <a:latin typeface="Arial"/>
                <a:cs typeface="Arial"/>
              </a:rPr>
              <a:t>ARQUITECTURA SEMÁNTICA</a:t>
            </a:r>
            <a:endParaRPr sz="1100" dirty="0">
              <a:latin typeface="Arial"/>
              <a:cs typeface="Arial"/>
            </a:endParaRPr>
          </a:p>
        </p:txBody>
      </p:sp>
      <p:sp>
        <p:nvSpPr>
          <p:cNvPr id="36" name="object 11" descr="$PPTXTitle">
            <a:extLst>
              <a:ext uri="{FF2B5EF4-FFF2-40B4-BE49-F238E27FC236}">
                <a16:creationId xmlns:a16="http://schemas.microsoft.com/office/drawing/2014/main" id="{8432EB86-4CB8-46DF-9BB3-927A7C6D4D0E}"/>
              </a:ext>
            </a:extLst>
          </p:cNvPr>
          <p:cNvSpPr txBox="1">
            <a:spLocks/>
          </p:cNvSpPr>
          <p:nvPr/>
        </p:nvSpPr>
        <p:spPr>
          <a:xfrm>
            <a:off x="887300" y="1104677"/>
            <a:ext cx="7505700" cy="351378"/>
          </a:xfrm>
          <a:prstGeom prst="rect">
            <a:avLst/>
          </a:prstGeom>
        </p:spPr>
        <p:txBody>
          <a:bodyPr vert="horz" wrap="square" lIns="0" tIns="12700" rIns="0" bIns="0" rtlCol="0">
            <a:spAutoFit/>
          </a:bodyPr>
          <a:lstStyle>
            <a:lvl1pPr>
              <a:defRPr sz="2200" b="1" i="0">
                <a:solidFill>
                  <a:srgbClr val="1A365D"/>
                </a:solidFill>
                <a:latin typeface="Arial"/>
                <a:ea typeface="+mj-ea"/>
                <a:cs typeface="Arial"/>
              </a:defRPr>
            </a:lvl1pPr>
          </a:lstStyle>
          <a:p>
            <a:pPr marL="12700">
              <a:spcBef>
                <a:spcPts val="100"/>
              </a:spcBef>
            </a:pPr>
            <a:r>
              <a:rPr lang="es-ES" dirty="0"/>
              <a:t>Reglas de Negocio y Objetivos Analíticos</a:t>
            </a:r>
            <a:endParaRPr lang="es-ES" spc="-10" dirty="0"/>
          </a:p>
        </p:txBody>
      </p:sp>
      <p:sp>
        <p:nvSpPr>
          <p:cNvPr id="14" name="object 11" descr="$PPTXTitle">
            <a:extLst>
              <a:ext uri="{FF2B5EF4-FFF2-40B4-BE49-F238E27FC236}">
                <a16:creationId xmlns:a16="http://schemas.microsoft.com/office/drawing/2014/main" id="{C34496D2-FCB0-42B3-8F6F-76714D31C66C}"/>
              </a:ext>
            </a:extLst>
          </p:cNvPr>
          <p:cNvSpPr txBox="1">
            <a:spLocks/>
          </p:cNvSpPr>
          <p:nvPr/>
        </p:nvSpPr>
        <p:spPr>
          <a:xfrm>
            <a:off x="857328" y="3476625"/>
            <a:ext cx="7505700" cy="351378"/>
          </a:xfrm>
          <a:prstGeom prst="rect">
            <a:avLst/>
          </a:prstGeom>
        </p:spPr>
        <p:txBody>
          <a:bodyPr vert="horz" wrap="square" lIns="0" tIns="12700" rIns="0" bIns="0" rtlCol="0">
            <a:spAutoFit/>
          </a:bodyPr>
          <a:lstStyle>
            <a:lvl1pPr>
              <a:defRPr sz="2200" b="1" i="0">
                <a:solidFill>
                  <a:srgbClr val="1A365D"/>
                </a:solidFill>
                <a:latin typeface="Arial"/>
                <a:ea typeface="+mj-ea"/>
                <a:cs typeface="Arial"/>
              </a:defRPr>
            </a:lvl1pPr>
          </a:lstStyle>
          <a:p>
            <a:pPr marL="12700">
              <a:spcBef>
                <a:spcPts val="100"/>
              </a:spcBef>
            </a:pPr>
            <a:r>
              <a:rPr lang="es-ES" dirty="0"/>
              <a:t>2 </a:t>
            </a:r>
            <a:r>
              <a:rPr lang="es-CO" dirty="0"/>
              <a:t>Objetivos Analíticos del Modelo</a:t>
            </a:r>
            <a:endParaRPr lang="es-ES" spc="-10" dirty="0"/>
          </a:p>
        </p:txBody>
      </p:sp>
      <p:sp>
        <p:nvSpPr>
          <p:cNvPr id="15" name="object 12">
            <a:extLst>
              <a:ext uri="{FF2B5EF4-FFF2-40B4-BE49-F238E27FC236}">
                <a16:creationId xmlns:a16="http://schemas.microsoft.com/office/drawing/2014/main" id="{537BCB4C-4063-413F-B33F-132E9FCEB24B}"/>
              </a:ext>
            </a:extLst>
          </p:cNvPr>
          <p:cNvSpPr txBox="1"/>
          <p:nvPr/>
        </p:nvSpPr>
        <p:spPr>
          <a:xfrm>
            <a:off x="857328" y="4543425"/>
            <a:ext cx="8892540" cy="1007327"/>
          </a:xfrm>
          <a:prstGeom prst="rect">
            <a:avLst/>
          </a:prstGeom>
        </p:spPr>
        <p:txBody>
          <a:bodyPr vert="horz" wrap="square" lIns="0" tIns="12700" rIns="0" bIns="0" rtlCol="0">
            <a:spAutoFit/>
          </a:bodyPr>
          <a:lstStyle/>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Monitoreo del progreso porcentual y mapeo de estados de los alumnos.</a:t>
            </a:r>
          </a:p>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Identificación de la tasa de actividad y densidad de matriculados por curso.</a:t>
            </a:r>
          </a:p>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Medición precisa de la Tasa de Finalización (</a:t>
            </a:r>
            <a:r>
              <a:rPr lang="es-ES" sz="1200" dirty="0" err="1">
                <a:solidFill>
                  <a:srgbClr val="2D3648"/>
                </a:solidFill>
                <a:latin typeface="Arial MT"/>
                <a:cs typeface="Arial MT"/>
              </a:rPr>
              <a:t>Completion</a:t>
            </a:r>
            <a:r>
              <a:rPr lang="es-ES" sz="1200" dirty="0">
                <a:solidFill>
                  <a:srgbClr val="2D3648"/>
                </a:solidFill>
                <a:latin typeface="Arial MT"/>
                <a:cs typeface="Arial MT"/>
              </a:rPr>
              <a:t> </a:t>
            </a:r>
            <a:r>
              <a:rPr lang="es-ES" sz="1200" dirty="0" err="1">
                <a:solidFill>
                  <a:srgbClr val="2D3648"/>
                </a:solidFill>
                <a:latin typeface="Arial MT"/>
                <a:cs typeface="Arial MT"/>
              </a:rPr>
              <a:t>Rate</a:t>
            </a:r>
            <a:r>
              <a:rPr lang="es-ES" sz="1200" dirty="0">
                <a:solidFill>
                  <a:srgbClr val="2D3648"/>
                </a:solidFill>
                <a:latin typeface="Arial MT"/>
                <a:cs typeface="Arial MT"/>
              </a:rPr>
              <a:t>).</a:t>
            </a:r>
          </a:p>
          <a:p>
            <a:pPr marL="184150" marR="5080" indent="-171450" algn="just">
              <a:lnSpc>
                <a:spcPct val="133300"/>
              </a:lnSpc>
              <a:spcBef>
                <a:spcPts val="100"/>
              </a:spcBef>
              <a:buFont typeface="Wingdings" panose="05000000000000000000" pitchFamily="2" charset="2"/>
              <a:buChar char="q"/>
            </a:pPr>
            <a:r>
              <a:rPr lang="es-ES" sz="1200" dirty="0">
                <a:solidFill>
                  <a:srgbClr val="2D3648"/>
                </a:solidFill>
                <a:latin typeface="Arial MT"/>
                <a:cs typeface="Arial MT"/>
              </a:rPr>
              <a:t>Balance de carga académica por docente para control de calidad..</a:t>
            </a:r>
            <a:endParaRPr sz="1200" dirty="0">
              <a:latin typeface="Arial MT"/>
              <a:cs typeface="Arial MT"/>
            </a:endParaRPr>
          </a:p>
        </p:txBody>
      </p:sp>
      <p:sp>
        <p:nvSpPr>
          <p:cNvPr id="19" name="object 12">
            <a:extLst>
              <a:ext uri="{FF2B5EF4-FFF2-40B4-BE49-F238E27FC236}">
                <a16:creationId xmlns:a16="http://schemas.microsoft.com/office/drawing/2014/main" id="{FDC539FB-B690-4CE3-A081-774756FE7EEF}"/>
              </a:ext>
            </a:extLst>
          </p:cNvPr>
          <p:cNvSpPr txBox="1"/>
          <p:nvPr/>
        </p:nvSpPr>
        <p:spPr>
          <a:xfrm>
            <a:off x="857328" y="3896350"/>
            <a:ext cx="8892540" cy="477695"/>
          </a:xfrm>
          <a:prstGeom prst="rect">
            <a:avLst/>
          </a:prstGeom>
        </p:spPr>
        <p:txBody>
          <a:bodyPr vert="horz" wrap="square" lIns="0" tIns="12700" rIns="0" bIns="0" rtlCol="0">
            <a:spAutoFit/>
          </a:bodyPr>
          <a:lstStyle/>
          <a:p>
            <a:pPr marL="12700" marR="5080" algn="just">
              <a:lnSpc>
                <a:spcPct val="133300"/>
              </a:lnSpc>
              <a:spcBef>
                <a:spcPts val="100"/>
              </a:spcBef>
            </a:pPr>
            <a:r>
              <a:rPr lang="es-ES" sz="1200" dirty="0"/>
              <a:t>El diseño físico se encuentra optimizado para responder de manera ágil a herramientas de Business </a:t>
            </a:r>
            <a:r>
              <a:rPr lang="es-ES" sz="1200" dirty="0" err="1"/>
              <a:t>Intelligence</a:t>
            </a:r>
            <a:r>
              <a:rPr lang="es-ES" sz="1200" dirty="0"/>
              <a:t> (</a:t>
            </a:r>
            <a:r>
              <a:rPr lang="es-ES" sz="1200" dirty="0" err="1"/>
              <a:t>Power</a:t>
            </a:r>
            <a:r>
              <a:rPr lang="es-ES" sz="1200" dirty="0"/>
              <a:t> BI) en los siguientes frentes:</a:t>
            </a:r>
            <a:endParaRPr sz="1200" dirty="0">
              <a:latin typeface="Arial MT"/>
              <a:cs typeface="Arial MT"/>
            </a:endParaRPr>
          </a:p>
        </p:txBody>
      </p:sp>
    </p:spTree>
    <p:extLst>
      <p:ext uri="{BB962C8B-B14F-4D97-AF65-F5344CB8AC3E}">
        <p14:creationId xmlns:p14="http://schemas.microsoft.com/office/powerpoint/2010/main" val="352362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39156" y="2131660"/>
            <a:ext cx="3983354" cy="223520"/>
          </a:xfrm>
          <a:prstGeom prst="rect">
            <a:avLst/>
          </a:prstGeom>
        </p:spPr>
        <p:txBody>
          <a:bodyPr vert="horz" wrap="square" lIns="0" tIns="12700" rIns="0" bIns="0" rtlCol="0">
            <a:spAutoFit/>
          </a:bodyPr>
          <a:lstStyle/>
          <a:p>
            <a:pPr marL="12700">
              <a:lnSpc>
                <a:spcPct val="100000"/>
              </a:lnSpc>
              <a:spcBef>
                <a:spcPts val="100"/>
              </a:spcBef>
            </a:pPr>
            <a:r>
              <a:rPr sz="1300" b="1" spc="70" dirty="0">
                <a:solidFill>
                  <a:srgbClr val="62B3ED"/>
                </a:solidFill>
                <a:latin typeface="Arial"/>
                <a:cs typeface="Arial"/>
              </a:rPr>
              <a:t>FA</a:t>
            </a:r>
            <a:r>
              <a:rPr sz="1300" b="1" spc="-140" dirty="0">
                <a:solidFill>
                  <a:srgbClr val="62B3ED"/>
                </a:solidFill>
                <a:latin typeface="Arial"/>
                <a:cs typeface="Arial"/>
              </a:rPr>
              <a:t> </a:t>
            </a:r>
            <a:r>
              <a:rPr sz="1300" b="1" dirty="0">
                <a:solidFill>
                  <a:srgbClr val="62B3ED"/>
                </a:solidFill>
                <a:latin typeface="Arial"/>
                <a:cs typeface="Arial"/>
              </a:rPr>
              <a:t>S</a:t>
            </a:r>
            <a:r>
              <a:rPr sz="1300" b="1" spc="-140" dirty="0">
                <a:solidFill>
                  <a:srgbClr val="62B3ED"/>
                </a:solidFill>
                <a:latin typeface="Arial"/>
                <a:cs typeface="Arial"/>
              </a:rPr>
              <a:t> </a:t>
            </a:r>
            <a:r>
              <a:rPr sz="1300" b="1" dirty="0">
                <a:solidFill>
                  <a:srgbClr val="62B3ED"/>
                </a:solidFill>
                <a:latin typeface="Arial"/>
                <a:cs typeface="Arial"/>
              </a:rPr>
              <a:t>E</a:t>
            </a:r>
            <a:r>
              <a:rPr sz="1300" b="1" spc="450"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spc="-20" dirty="0">
                <a:solidFill>
                  <a:srgbClr val="62B3ED"/>
                </a:solidFill>
                <a:latin typeface="Arial"/>
                <a:cs typeface="Arial"/>
              </a:rPr>
              <a:t>O</a:t>
            </a:r>
            <a:r>
              <a:rPr sz="1300" b="1" spc="-140" dirty="0">
                <a:solidFill>
                  <a:srgbClr val="62B3ED"/>
                </a:solidFill>
                <a:latin typeface="Arial"/>
                <a:cs typeface="Arial"/>
              </a:rPr>
              <a:t> </a:t>
            </a:r>
            <a:r>
              <a:rPr sz="1300" b="1" dirty="0">
                <a:solidFill>
                  <a:srgbClr val="62B3ED"/>
                </a:solidFill>
                <a:latin typeface="Arial"/>
                <a:cs typeface="Arial"/>
              </a:rPr>
              <a:t>N</a:t>
            </a:r>
            <a:r>
              <a:rPr sz="1300" b="1" spc="-140"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dirty="0">
                <a:solidFill>
                  <a:srgbClr val="62B3ED"/>
                </a:solidFill>
                <a:latin typeface="Arial"/>
                <a:cs typeface="Arial"/>
              </a:rPr>
              <a:t>E</a:t>
            </a:r>
            <a:r>
              <a:rPr sz="1300" b="1" spc="-135" dirty="0">
                <a:solidFill>
                  <a:srgbClr val="62B3ED"/>
                </a:solidFill>
                <a:latin typeface="Arial"/>
                <a:cs typeface="Arial"/>
              </a:rPr>
              <a:t> </a:t>
            </a:r>
            <a:r>
              <a:rPr sz="1300" b="1" dirty="0">
                <a:solidFill>
                  <a:srgbClr val="62B3ED"/>
                </a:solidFill>
                <a:latin typeface="Arial"/>
                <a:cs typeface="Arial"/>
              </a:rPr>
              <a:t>P</a:t>
            </a:r>
            <a:r>
              <a:rPr sz="1300" b="1" spc="-140" dirty="0">
                <a:solidFill>
                  <a:srgbClr val="62B3ED"/>
                </a:solidFill>
                <a:latin typeface="Arial"/>
                <a:cs typeface="Arial"/>
              </a:rPr>
              <a:t> </a:t>
            </a:r>
            <a:r>
              <a:rPr sz="1300" b="1" spc="-10" dirty="0">
                <a:solidFill>
                  <a:srgbClr val="62B3ED"/>
                </a:solidFill>
                <a:latin typeface="Arial"/>
                <a:cs typeface="Arial"/>
              </a:rPr>
              <a:t>T</a:t>
            </a:r>
            <a:r>
              <a:rPr sz="1300" b="1" spc="-140" dirty="0">
                <a:solidFill>
                  <a:srgbClr val="62B3ED"/>
                </a:solidFill>
                <a:latin typeface="Arial"/>
                <a:cs typeface="Arial"/>
              </a:rPr>
              <a:t> </a:t>
            </a:r>
            <a:r>
              <a:rPr sz="1300" b="1" dirty="0">
                <a:solidFill>
                  <a:srgbClr val="62B3ED"/>
                </a:solidFill>
                <a:latin typeface="Arial"/>
                <a:cs typeface="Arial"/>
              </a:rPr>
              <a:t>U</a:t>
            </a:r>
            <a:r>
              <a:rPr sz="1300" b="1" spc="-140" dirty="0">
                <a:solidFill>
                  <a:srgbClr val="62B3ED"/>
                </a:solidFill>
                <a:latin typeface="Arial"/>
                <a:cs typeface="Arial"/>
              </a:rPr>
              <a:t> </a:t>
            </a:r>
            <a:r>
              <a:rPr sz="1300" b="1" dirty="0">
                <a:solidFill>
                  <a:srgbClr val="62B3ED"/>
                </a:solidFill>
                <a:latin typeface="Arial"/>
                <a:cs typeface="Arial"/>
              </a:rPr>
              <a:t>A</a:t>
            </a:r>
            <a:r>
              <a:rPr sz="1300" b="1" spc="-140" dirty="0">
                <a:solidFill>
                  <a:srgbClr val="62B3ED"/>
                </a:solidFill>
                <a:latin typeface="Arial"/>
                <a:cs typeface="Arial"/>
              </a:rPr>
              <a:t> </a:t>
            </a:r>
            <a:r>
              <a:rPr sz="1300" b="1" dirty="0">
                <a:solidFill>
                  <a:srgbClr val="62B3ED"/>
                </a:solidFill>
                <a:latin typeface="Arial"/>
                <a:cs typeface="Arial"/>
              </a:rPr>
              <a:t>L</a:t>
            </a:r>
            <a:r>
              <a:rPr sz="1300" b="1" spc="405" dirty="0">
                <a:solidFill>
                  <a:srgbClr val="62B3ED"/>
                </a:solidFill>
                <a:latin typeface="Arial"/>
                <a:cs typeface="Arial"/>
              </a:rPr>
              <a:t> </a:t>
            </a:r>
            <a:r>
              <a:rPr sz="1300" b="1" dirty="0">
                <a:solidFill>
                  <a:srgbClr val="62B3ED"/>
                </a:solidFill>
                <a:latin typeface="Arial"/>
                <a:cs typeface="Arial"/>
              </a:rPr>
              <a:t>Y</a:t>
            </a:r>
            <a:r>
              <a:rPr sz="1300" b="1" spc="380" dirty="0">
                <a:solidFill>
                  <a:srgbClr val="62B3ED"/>
                </a:solidFill>
                <a:latin typeface="Arial"/>
                <a:cs typeface="Arial"/>
              </a:rPr>
              <a:t> </a:t>
            </a:r>
            <a:r>
              <a:rPr sz="1300" b="1" dirty="0">
                <a:solidFill>
                  <a:srgbClr val="62B3ED"/>
                </a:solidFill>
                <a:latin typeface="Arial"/>
                <a:cs typeface="Arial"/>
              </a:rPr>
              <a:t>A</a:t>
            </a:r>
            <a:r>
              <a:rPr sz="1300" b="1" spc="-140"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spc="-20" dirty="0">
                <a:solidFill>
                  <a:srgbClr val="62B3ED"/>
                </a:solidFill>
                <a:latin typeface="Arial"/>
                <a:cs typeface="Arial"/>
              </a:rPr>
              <a:t>Q</a:t>
            </a:r>
            <a:r>
              <a:rPr sz="1300" b="1" spc="-140" dirty="0">
                <a:solidFill>
                  <a:srgbClr val="62B3ED"/>
                </a:solidFill>
                <a:latin typeface="Arial"/>
                <a:cs typeface="Arial"/>
              </a:rPr>
              <a:t> </a:t>
            </a:r>
            <a:r>
              <a:rPr sz="1300" b="1" dirty="0">
                <a:solidFill>
                  <a:srgbClr val="62B3ED"/>
                </a:solidFill>
                <a:latin typeface="Arial"/>
                <a:cs typeface="Arial"/>
              </a:rPr>
              <a:t>U</a:t>
            </a:r>
            <a:r>
              <a:rPr sz="1300" b="1" spc="-140" dirty="0">
                <a:solidFill>
                  <a:srgbClr val="62B3ED"/>
                </a:solidFill>
                <a:latin typeface="Arial"/>
                <a:cs typeface="Arial"/>
              </a:rPr>
              <a:t> </a:t>
            </a:r>
            <a:r>
              <a:rPr sz="1300" b="1" spc="-10" dirty="0">
                <a:solidFill>
                  <a:srgbClr val="62B3ED"/>
                </a:solidFill>
                <a:latin typeface="Arial"/>
                <a:cs typeface="Arial"/>
              </a:rPr>
              <a:t>I</a:t>
            </a:r>
            <a:r>
              <a:rPr sz="1300" b="1" spc="-135" dirty="0">
                <a:solidFill>
                  <a:srgbClr val="62B3ED"/>
                </a:solidFill>
                <a:latin typeface="Arial"/>
                <a:cs typeface="Arial"/>
              </a:rPr>
              <a:t> </a:t>
            </a:r>
            <a:r>
              <a:rPr sz="1300" b="1" spc="-10" dirty="0">
                <a:solidFill>
                  <a:srgbClr val="62B3ED"/>
                </a:solidFill>
                <a:latin typeface="Arial"/>
                <a:cs typeface="Arial"/>
              </a:rPr>
              <a:t>T</a:t>
            </a:r>
            <a:r>
              <a:rPr sz="1300" b="1" spc="-140"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spc="-10" dirty="0">
                <a:solidFill>
                  <a:srgbClr val="62B3ED"/>
                </a:solidFill>
                <a:latin typeface="Arial"/>
                <a:cs typeface="Arial"/>
              </a:rPr>
              <a:t>T</a:t>
            </a:r>
            <a:r>
              <a:rPr sz="1300" b="1" spc="-140" dirty="0">
                <a:solidFill>
                  <a:srgbClr val="62B3ED"/>
                </a:solidFill>
                <a:latin typeface="Arial"/>
                <a:cs typeface="Arial"/>
              </a:rPr>
              <a:t> </a:t>
            </a:r>
            <a:r>
              <a:rPr sz="1300" b="1" dirty="0">
                <a:solidFill>
                  <a:srgbClr val="62B3ED"/>
                </a:solidFill>
                <a:latin typeface="Arial"/>
                <a:cs typeface="Arial"/>
              </a:rPr>
              <a:t>U</a:t>
            </a:r>
            <a:r>
              <a:rPr sz="1300" b="1" spc="-135"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spc="-50" dirty="0">
                <a:solidFill>
                  <a:srgbClr val="62B3ED"/>
                </a:solidFill>
                <a:latin typeface="Arial"/>
                <a:cs typeface="Arial"/>
              </a:rPr>
              <a:t>A</a:t>
            </a:r>
            <a:endParaRPr sz="1300">
              <a:latin typeface="Arial"/>
              <a:cs typeface="Arial"/>
            </a:endParaRPr>
          </a:p>
        </p:txBody>
      </p:sp>
      <p:sp>
        <p:nvSpPr>
          <p:cNvPr id="3" name="object 3" descr="$PPTXTitle"/>
          <p:cNvSpPr txBox="1">
            <a:spLocks noGrp="1"/>
          </p:cNvSpPr>
          <p:nvPr>
            <p:ph type="title"/>
          </p:nvPr>
        </p:nvSpPr>
        <p:spPr>
          <a:xfrm>
            <a:off x="1649245" y="2530504"/>
            <a:ext cx="7392670" cy="1016000"/>
          </a:xfrm>
          <a:prstGeom prst="rect">
            <a:avLst/>
          </a:prstGeom>
        </p:spPr>
        <p:txBody>
          <a:bodyPr vert="horz" wrap="square" lIns="0" tIns="50800" rIns="0" bIns="0" rtlCol="0">
            <a:spAutoFit/>
          </a:bodyPr>
          <a:lstStyle/>
          <a:p>
            <a:pPr marL="635" algn="ctr">
              <a:lnSpc>
                <a:spcPct val="100000"/>
              </a:lnSpc>
              <a:spcBef>
                <a:spcPts val="400"/>
              </a:spcBef>
            </a:pPr>
            <a:r>
              <a:rPr sz="3000" dirty="0">
                <a:solidFill>
                  <a:srgbClr val="FFFFFF"/>
                </a:solidFill>
              </a:rPr>
              <a:t>SECCIÓN</a:t>
            </a:r>
            <a:r>
              <a:rPr sz="3000" spc="-30" dirty="0">
                <a:solidFill>
                  <a:srgbClr val="FFFFFF"/>
                </a:solidFill>
              </a:rPr>
              <a:t> </a:t>
            </a:r>
            <a:r>
              <a:rPr sz="3000" spc="-25" dirty="0">
                <a:solidFill>
                  <a:srgbClr val="FFFFFF"/>
                </a:solidFill>
              </a:rPr>
              <a:t>01</a:t>
            </a:r>
            <a:endParaRPr sz="3000"/>
          </a:p>
          <a:p>
            <a:pPr algn="ctr">
              <a:lnSpc>
                <a:spcPct val="100000"/>
              </a:lnSpc>
              <a:spcBef>
                <a:spcPts val="300"/>
              </a:spcBef>
            </a:pPr>
            <a:r>
              <a:rPr sz="3000" dirty="0">
                <a:solidFill>
                  <a:srgbClr val="FFFFFF"/>
                </a:solidFill>
              </a:rPr>
              <a:t>Arquitectura</a:t>
            </a:r>
            <a:r>
              <a:rPr sz="3000" spc="-35" dirty="0">
                <a:solidFill>
                  <a:srgbClr val="FFFFFF"/>
                </a:solidFill>
              </a:rPr>
              <a:t> </a:t>
            </a:r>
            <a:r>
              <a:rPr sz="3000" dirty="0">
                <a:solidFill>
                  <a:srgbClr val="FFFFFF"/>
                </a:solidFill>
              </a:rPr>
              <a:t>de</a:t>
            </a:r>
            <a:r>
              <a:rPr sz="3000" spc="-30" dirty="0">
                <a:solidFill>
                  <a:srgbClr val="FFFFFF"/>
                </a:solidFill>
              </a:rPr>
              <a:t> </a:t>
            </a:r>
            <a:r>
              <a:rPr sz="3000" dirty="0">
                <a:solidFill>
                  <a:srgbClr val="FFFFFF"/>
                </a:solidFill>
              </a:rPr>
              <a:t>Capas</a:t>
            </a:r>
            <a:r>
              <a:rPr sz="3000" spc="-30" dirty="0">
                <a:solidFill>
                  <a:srgbClr val="FFFFFF"/>
                </a:solidFill>
              </a:rPr>
              <a:t> </a:t>
            </a:r>
            <a:r>
              <a:rPr sz="3000" dirty="0">
                <a:solidFill>
                  <a:srgbClr val="FFFFFF"/>
                </a:solidFill>
              </a:rPr>
              <a:t>Semánticas</a:t>
            </a:r>
            <a:r>
              <a:rPr sz="3000" spc="-30" dirty="0">
                <a:solidFill>
                  <a:srgbClr val="FFFFFF"/>
                </a:solidFill>
              </a:rPr>
              <a:t> </a:t>
            </a:r>
            <a:r>
              <a:rPr sz="3000" spc="-10" dirty="0">
                <a:solidFill>
                  <a:srgbClr val="FFFFFF"/>
                </a:solidFill>
              </a:rPr>
              <a:t>(3FN)</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00000" y="2431483"/>
            <a:ext cx="8892540" cy="1191895"/>
            <a:chOff x="900000" y="2431483"/>
            <a:chExt cx="8892540" cy="1191895"/>
          </a:xfrm>
        </p:grpSpPr>
        <p:sp>
          <p:nvSpPr>
            <p:cNvPr id="3" name="object 3"/>
            <p:cNvSpPr/>
            <p:nvPr/>
          </p:nvSpPr>
          <p:spPr>
            <a:xfrm>
              <a:off x="900000" y="2431483"/>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4808" y="11191"/>
                  </a:lnTo>
                  <a:lnTo>
                    <a:pt x="4442993" y="23306"/>
                  </a:lnTo>
                  <a:lnTo>
                    <a:pt x="4446000" y="38100"/>
                  </a:lnTo>
                  <a:lnTo>
                    <a:pt x="4446000" y="1153352"/>
                  </a:lnTo>
                  <a:lnTo>
                    <a:pt x="4442993" y="1168146"/>
                  </a:lnTo>
                  <a:lnTo>
                    <a:pt x="4434808" y="1180261"/>
                  </a:lnTo>
                  <a:lnTo>
                    <a:pt x="4422693" y="1188446"/>
                  </a:lnTo>
                  <a:lnTo>
                    <a:pt x="4407900" y="1191452"/>
                  </a:lnTo>
                  <a:close/>
                </a:path>
              </a:pathLst>
            </a:custGeom>
            <a:solidFill>
              <a:srgbClr val="F6F9FB"/>
            </a:solidFill>
          </p:spPr>
          <p:txBody>
            <a:bodyPr wrap="square" lIns="0" tIns="0" rIns="0" bIns="0" rtlCol="0"/>
            <a:lstStyle/>
            <a:p>
              <a:endParaRPr/>
            </a:p>
          </p:txBody>
        </p:sp>
        <p:sp>
          <p:nvSpPr>
            <p:cNvPr id="4" name="object 4"/>
            <p:cNvSpPr/>
            <p:nvPr/>
          </p:nvSpPr>
          <p:spPr>
            <a:xfrm>
              <a:off x="900000" y="2431484"/>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2341" y="9525"/>
                  </a:lnTo>
                  <a:lnTo>
                    <a:pt x="38100" y="9525"/>
                  </a:lnTo>
                  <a:lnTo>
                    <a:pt x="27004" y="11779"/>
                  </a:lnTo>
                  <a:lnTo>
                    <a:pt x="17918" y="17918"/>
                  </a:lnTo>
                  <a:lnTo>
                    <a:pt x="11779" y="27004"/>
                  </a:lnTo>
                  <a:lnTo>
                    <a:pt x="9525" y="38100"/>
                  </a:lnTo>
                  <a:lnTo>
                    <a:pt x="9525" y="1153352"/>
                  </a:lnTo>
                  <a:lnTo>
                    <a:pt x="11779" y="1164448"/>
                  </a:lnTo>
                  <a:lnTo>
                    <a:pt x="17918" y="1173533"/>
                  </a:lnTo>
                  <a:lnTo>
                    <a:pt x="27004" y="1179673"/>
                  </a:lnTo>
                  <a:lnTo>
                    <a:pt x="38100" y="1181927"/>
                  </a:lnTo>
                  <a:lnTo>
                    <a:pt x="4432341" y="1181927"/>
                  </a:lnTo>
                  <a:lnTo>
                    <a:pt x="4422693" y="1188446"/>
                  </a:lnTo>
                  <a:lnTo>
                    <a:pt x="4407900" y="1191452"/>
                  </a:lnTo>
                  <a:close/>
                </a:path>
                <a:path w="4446270" h="1191895">
                  <a:moveTo>
                    <a:pt x="4432341" y="1181927"/>
                  </a:moveTo>
                  <a:lnTo>
                    <a:pt x="4407900" y="1181927"/>
                  </a:lnTo>
                  <a:lnTo>
                    <a:pt x="4418995" y="1179673"/>
                  </a:lnTo>
                  <a:lnTo>
                    <a:pt x="4428081" y="1173533"/>
                  </a:lnTo>
                  <a:lnTo>
                    <a:pt x="4434220" y="1164448"/>
                  </a:lnTo>
                  <a:lnTo>
                    <a:pt x="4436475" y="1153352"/>
                  </a:lnTo>
                  <a:lnTo>
                    <a:pt x="4436475" y="38100"/>
                  </a:lnTo>
                  <a:lnTo>
                    <a:pt x="4434220" y="27004"/>
                  </a:lnTo>
                  <a:lnTo>
                    <a:pt x="4428081" y="17918"/>
                  </a:lnTo>
                  <a:lnTo>
                    <a:pt x="4418995" y="11779"/>
                  </a:lnTo>
                  <a:lnTo>
                    <a:pt x="4407900" y="9525"/>
                  </a:lnTo>
                  <a:lnTo>
                    <a:pt x="4432341" y="9525"/>
                  </a:lnTo>
                  <a:lnTo>
                    <a:pt x="4434808" y="11191"/>
                  </a:lnTo>
                  <a:lnTo>
                    <a:pt x="4442993" y="23306"/>
                  </a:lnTo>
                  <a:lnTo>
                    <a:pt x="4446000" y="38100"/>
                  </a:lnTo>
                  <a:lnTo>
                    <a:pt x="4446000" y="1153352"/>
                  </a:lnTo>
                  <a:lnTo>
                    <a:pt x="4442993" y="1168146"/>
                  </a:lnTo>
                  <a:lnTo>
                    <a:pt x="4434808" y="1180261"/>
                  </a:lnTo>
                  <a:lnTo>
                    <a:pt x="4432341" y="1181927"/>
                  </a:lnTo>
                  <a:close/>
                </a:path>
              </a:pathLst>
            </a:custGeom>
            <a:solidFill>
              <a:srgbClr val="E2E8EF"/>
            </a:solidFill>
          </p:spPr>
          <p:txBody>
            <a:bodyPr wrap="square" lIns="0" tIns="0" rIns="0" bIns="0" rtlCol="0"/>
            <a:lstStyle/>
            <a:p>
              <a:endParaRPr/>
            </a:p>
          </p:txBody>
        </p:sp>
        <p:sp>
          <p:nvSpPr>
            <p:cNvPr id="5" name="object 5"/>
            <p:cNvSpPr/>
            <p:nvPr/>
          </p:nvSpPr>
          <p:spPr>
            <a:xfrm>
              <a:off x="5346000" y="2431483"/>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4808" y="11191"/>
                  </a:lnTo>
                  <a:lnTo>
                    <a:pt x="4442993" y="23306"/>
                  </a:lnTo>
                  <a:lnTo>
                    <a:pt x="4446000" y="38100"/>
                  </a:lnTo>
                  <a:lnTo>
                    <a:pt x="4446000" y="1153352"/>
                  </a:lnTo>
                  <a:lnTo>
                    <a:pt x="4442993" y="1168146"/>
                  </a:lnTo>
                  <a:lnTo>
                    <a:pt x="4434808" y="1180261"/>
                  </a:lnTo>
                  <a:lnTo>
                    <a:pt x="4422693" y="1188446"/>
                  </a:lnTo>
                  <a:lnTo>
                    <a:pt x="4407900" y="1191452"/>
                  </a:lnTo>
                  <a:close/>
                </a:path>
              </a:pathLst>
            </a:custGeom>
            <a:solidFill>
              <a:srgbClr val="F6F9FB"/>
            </a:solidFill>
          </p:spPr>
          <p:txBody>
            <a:bodyPr wrap="square" lIns="0" tIns="0" rIns="0" bIns="0" rtlCol="0"/>
            <a:lstStyle/>
            <a:p>
              <a:endParaRPr/>
            </a:p>
          </p:txBody>
        </p:sp>
        <p:sp>
          <p:nvSpPr>
            <p:cNvPr id="6" name="object 6"/>
            <p:cNvSpPr/>
            <p:nvPr/>
          </p:nvSpPr>
          <p:spPr>
            <a:xfrm>
              <a:off x="5346000" y="2431484"/>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2341" y="9525"/>
                  </a:lnTo>
                  <a:lnTo>
                    <a:pt x="38100" y="9525"/>
                  </a:lnTo>
                  <a:lnTo>
                    <a:pt x="27004" y="11779"/>
                  </a:lnTo>
                  <a:lnTo>
                    <a:pt x="17918" y="17918"/>
                  </a:lnTo>
                  <a:lnTo>
                    <a:pt x="11779" y="27004"/>
                  </a:lnTo>
                  <a:lnTo>
                    <a:pt x="9525" y="38100"/>
                  </a:lnTo>
                  <a:lnTo>
                    <a:pt x="9525" y="1153352"/>
                  </a:lnTo>
                  <a:lnTo>
                    <a:pt x="11779" y="1164448"/>
                  </a:lnTo>
                  <a:lnTo>
                    <a:pt x="17918" y="1173533"/>
                  </a:lnTo>
                  <a:lnTo>
                    <a:pt x="27004" y="1179673"/>
                  </a:lnTo>
                  <a:lnTo>
                    <a:pt x="38100" y="1181927"/>
                  </a:lnTo>
                  <a:lnTo>
                    <a:pt x="4432341" y="1181927"/>
                  </a:lnTo>
                  <a:lnTo>
                    <a:pt x="4422693" y="1188446"/>
                  </a:lnTo>
                  <a:lnTo>
                    <a:pt x="4407900" y="1191452"/>
                  </a:lnTo>
                  <a:close/>
                </a:path>
                <a:path w="4446270" h="1191895">
                  <a:moveTo>
                    <a:pt x="4432341" y="1181927"/>
                  </a:moveTo>
                  <a:lnTo>
                    <a:pt x="4407900" y="1181927"/>
                  </a:lnTo>
                  <a:lnTo>
                    <a:pt x="4418995" y="1179673"/>
                  </a:lnTo>
                  <a:lnTo>
                    <a:pt x="4428081" y="1173533"/>
                  </a:lnTo>
                  <a:lnTo>
                    <a:pt x="4434220" y="1164448"/>
                  </a:lnTo>
                  <a:lnTo>
                    <a:pt x="4436475" y="1153352"/>
                  </a:lnTo>
                  <a:lnTo>
                    <a:pt x="4436475" y="38100"/>
                  </a:lnTo>
                  <a:lnTo>
                    <a:pt x="4434220" y="27004"/>
                  </a:lnTo>
                  <a:lnTo>
                    <a:pt x="4428081" y="17918"/>
                  </a:lnTo>
                  <a:lnTo>
                    <a:pt x="4418995" y="11779"/>
                  </a:lnTo>
                  <a:lnTo>
                    <a:pt x="4407900" y="9525"/>
                  </a:lnTo>
                  <a:lnTo>
                    <a:pt x="4432341" y="9525"/>
                  </a:lnTo>
                  <a:lnTo>
                    <a:pt x="4434808" y="11191"/>
                  </a:lnTo>
                  <a:lnTo>
                    <a:pt x="4442993" y="23306"/>
                  </a:lnTo>
                  <a:lnTo>
                    <a:pt x="4446000" y="38100"/>
                  </a:lnTo>
                  <a:lnTo>
                    <a:pt x="4446000" y="1153352"/>
                  </a:lnTo>
                  <a:lnTo>
                    <a:pt x="4442993" y="1168146"/>
                  </a:lnTo>
                  <a:lnTo>
                    <a:pt x="4434808" y="1180261"/>
                  </a:lnTo>
                  <a:lnTo>
                    <a:pt x="4432341" y="1181927"/>
                  </a:lnTo>
                  <a:close/>
                </a:path>
              </a:pathLst>
            </a:custGeom>
            <a:solidFill>
              <a:srgbClr val="E2E8EF"/>
            </a:solidFill>
          </p:spPr>
          <p:txBody>
            <a:bodyPr wrap="square" lIns="0" tIns="0" rIns="0" bIns="0" rtlCol="0"/>
            <a:lstStyle/>
            <a:p>
              <a:endParaRPr/>
            </a:p>
          </p:txBody>
        </p:sp>
      </p:grpSp>
      <p:grpSp>
        <p:nvGrpSpPr>
          <p:cNvPr id="7" name="object 7"/>
          <p:cNvGrpSpPr/>
          <p:nvPr/>
        </p:nvGrpSpPr>
        <p:grpSpPr>
          <a:xfrm>
            <a:off x="900000" y="5476875"/>
            <a:ext cx="8892540" cy="742950"/>
            <a:chOff x="900000" y="3765811"/>
            <a:chExt cx="8892540" cy="742950"/>
          </a:xfrm>
        </p:grpSpPr>
        <p:sp>
          <p:nvSpPr>
            <p:cNvPr id="8" name="object 8"/>
            <p:cNvSpPr/>
            <p:nvPr/>
          </p:nvSpPr>
          <p:spPr>
            <a:xfrm>
              <a:off x="900000" y="3765811"/>
              <a:ext cx="8892540" cy="742950"/>
            </a:xfrm>
            <a:custGeom>
              <a:avLst/>
              <a:gdLst/>
              <a:ahLst/>
              <a:cxnLst/>
              <a:rect l="l" t="t" r="r" b="b"/>
              <a:pathLst>
                <a:path w="8892540" h="742950">
                  <a:moveTo>
                    <a:pt x="8853900" y="742950"/>
                  </a:moveTo>
                  <a:lnTo>
                    <a:pt x="38100" y="742950"/>
                  </a:lnTo>
                  <a:lnTo>
                    <a:pt x="23306" y="739943"/>
                  </a:lnTo>
                  <a:lnTo>
                    <a:pt x="11191" y="731758"/>
                  </a:lnTo>
                  <a:lnTo>
                    <a:pt x="3006" y="719643"/>
                  </a:lnTo>
                  <a:lnTo>
                    <a:pt x="0" y="704850"/>
                  </a:lnTo>
                  <a:lnTo>
                    <a:pt x="0" y="38100"/>
                  </a:lnTo>
                  <a:lnTo>
                    <a:pt x="3006" y="23306"/>
                  </a:lnTo>
                  <a:lnTo>
                    <a:pt x="11191" y="11191"/>
                  </a:lnTo>
                  <a:lnTo>
                    <a:pt x="23306" y="3006"/>
                  </a:lnTo>
                  <a:lnTo>
                    <a:pt x="38100" y="0"/>
                  </a:lnTo>
                  <a:lnTo>
                    <a:pt x="8853900" y="0"/>
                  </a:lnTo>
                  <a:lnTo>
                    <a:pt x="8868693" y="3006"/>
                  </a:lnTo>
                  <a:lnTo>
                    <a:pt x="8880808" y="11191"/>
                  </a:lnTo>
                  <a:lnTo>
                    <a:pt x="8888993" y="23306"/>
                  </a:lnTo>
                  <a:lnTo>
                    <a:pt x="8892000" y="38100"/>
                  </a:lnTo>
                  <a:lnTo>
                    <a:pt x="8892000" y="704850"/>
                  </a:lnTo>
                  <a:lnTo>
                    <a:pt x="8888993" y="719643"/>
                  </a:lnTo>
                  <a:lnTo>
                    <a:pt x="8880808" y="731758"/>
                  </a:lnTo>
                  <a:lnTo>
                    <a:pt x="8868693" y="739943"/>
                  </a:lnTo>
                  <a:lnTo>
                    <a:pt x="8853900" y="742950"/>
                  </a:lnTo>
                  <a:close/>
                </a:path>
              </a:pathLst>
            </a:custGeom>
            <a:solidFill>
              <a:srgbClr val="EBF7FF"/>
            </a:solidFill>
          </p:spPr>
          <p:txBody>
            <a:bodyPr wrap="square" lIns="0" tIns="0" rIns="0" bIns="0" rtlCol="0"/>
            <a:lstStyle/>
            <a:p>
              <a:endParaRPr/>
            </a:p>
          </p:txBody>
        </p:sp>
        <p:sp>
          <p:nvSpPr>
            <p:cNvPr id="9" name="object 9"/>
            <p:cNvSpPr/>
            <p:nvPr/>
          </p:nvSpPr>
          <p:spPr>
            <a:xfrm>
              <a:off x="900000" y="3765811"/>
              <a:ext cx="47625" cy="742950"/>
            </a:xfrm>
            <a:custGeom>
              <a:avLst/>
              <a:gdLst/>
              <a:ahLst/>
              <a:cxnLst/>
              <a:rect l="l" t="t" r="r" b="b"/>
              <a:pathLst>
                <a:path w="47625" h="742950">
                  <a:moveTo>
                    <a:pt x="47625" y="742950"/>
                  </a:moveTo>
                  <a:lnTo>
                    <a:pt x="38100" y="742950"/>
                  </a:lnTo>
                  <a:lnTo>
                    <a:pt x="23306" y="739943"/>
                  </a:lnTo>
                  <a:lnTo>
                    <a:pt x="11191" y="731758"/>
                  </a:lnTo>
                  <a:lnTo>
                    <a:pt x="3006" y="719643"/>
                  </a:lnTo>
                  <a:lnTo>
                    <a:pt x="0" y="704850"/>
                  </a:lnTo>
                  <a:lnTo>
                    <a:pt x="0" y="38100"/>
                  </a:lnTo>
                  <a:lnTo>
                    <a:pt x="3006" y="23306"/>
                  </a:lnTo>
                  <a:lnTo>
                    <a:pt x="11191" y="11191"/>
                  </a:lnTo>
                  <a:lnTo>
                    <a:pt x="23306" y="3006"/>
                  </a:lnTo>
                  <a:lnTo>
                    <a:pt x="38100" y="0"/>
                  </a:lnTo>
                  <a:lnTo>
                    <a:pt x="47625" y="0"/>
                  </a:lnTo>
                  <a:lnTo>
                    <a:pt x="47625" y="742950"/>
                  </a:lnTo>
                  <a:close/>
                </a:path>
              </a:pathLst>
            </a:custGeom>
            <a:solidFill>
              <a:srgbClr val="3182CD"/>
            </a:solidFill>
          </p:spPr>
          <p:txBody>
            <a:bodyPr wrap="square" lIns="0" tIns="0" rIns="0" bIns="0" rtlCol="0"/>
            <a:lstStyle/>
            <a:p>
              <a:endParaRPr/>
            </a:p>
          </p:txBody>
        </p:sp>
      </p:grpSp>
      <p:sp>
        <p:nvSpPr>
          <p:cNvPr id="10" name="object 10"/>
          <p:cNvSpPr txBox="1"/>
          <p:nvPr/>
        </p:nvSpPr>
        <p:spPr>
          <a:xfrm>
            <a:off x="887300" y="874066"/>
            <a:ext cx="352552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1</a:t>
            </a:r>
            <a:r>
              <a:rPr sz="1100" b="1" spc="295" dirty="0">
                <a:solidFill>
                  <a:srgbClr val="3182CD"/>
                </a:solidFill>
                <a:latin typeface="Arial"/>
                <a:cs typeface="Arial"/>
              </a:rPr>
              <a:t> </a:t>
            </a:r>
            <a:r>
              <a:rPr sz="1100" b="1" dirty="0">
                <a:solidFill>
                  <a:srgbClr val="3182CD"/>
                </a:solidFill>
                <a:latin typeface="Arial"/>
                <a:cs typeface="Arial"/>
              </a:rPr>
              <a:t>—</a:t>
            </a:r>
            <a:r>
              <a:rPr sz="1100" b="1" spc="29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A</a:t>
            </a:r>
            <a:r>
              <a:rPr sz="1100" b="1" spc="21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D</a:t>
            </a:r>
            <a:r>
              <a:rPr sz="1100" b="1" spc="-160" dirty="0">
                <a:solidFill>
                  <a:srgbClr val="3182CD"/>
                </a:solidFill>
                <a:latin typeface="Arial"/>
                <a:cs typeface="Arial"/>
              </a:rPr>
              <a:t> </a:t>
            </a:r>
            <a:r>
              <a:rPr sz="1100" b="1" spc="-10" dirty="0">
                <a:solidFill>
                  <a:srgbClr val="3182CD"/>
                </a:solidFill>
                <a:latin typeface="Arial"/>
                <a:cs typeface="Arial"/>
              </a:rPr>
              <a:t>É</a:t>
            </a:r>
            <a:r>
              <a:rPr sz="1100" b="1" spc="-16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50" dirty="0">
                <a:solidFill>
                  <a:srgbClr val="3182CD"/>
                </a:solidFill>
                <a:latin typeface="Arial"/>
                <a:cs typeface="Arial"/>
              </a:rPr>
              <a:t>A</a:t>
            </a:r>
            <a:endParaRPr sz="1100" dirty="0">
              <a:latin typeface="Arial"/>
              <a:cs typeface="Arial"/>
            </a:endParaRPr>
          </a:p>
        </p:txBody>
      </p:sp>
      <p:sp>
        <p:nvSpPr>
          <p:cNvPr id="11" name="object 11"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Organización</a:t>
            </a:r>
            <a:r>
              <a:rPr spc="-60" dirty="0"/>
              <a:t> </a:t>
            </a:r>
            <a:r>
              <a:rPr dirty="0"/>
              <a:t>y</a:t>
            </a:r>
            <a:r>
              <a:rPr spc="-60" dirty="0"/>
              <a:t> </a:t>
            </a:r>
            <a:r>
              <a:rPr spc="-10" dirty="0"/>
              <a:t>Estructura</a:t>
            </a:r>
            <a:r>
              <a:rPr spc="-60" dirty="0"/>
              <a:t> </a:t>
            </a:r>
            <a:r>
              <a:rPr dirty="0"/>
              <a:t>del</a:t>
            </a:r>
            <a:r>
              <a:rPr spc="-60" dirty="0"/>
              <a:t> </a:t>
            </a:r>
            <a:r>
              <a:rPr spc="-10" dirty="0"/>
              <a:t>Negocio</a:t>
            </a:r>
          </a:p>
        </p:txBody>
      </p:sp>
      <p:sp>
        <p:nvSpPr>
          <p:cNvPr id="12" name="object 12"/>
          <p:cNvSpPr txBox="1"/>
          <p:nvPr/>
        </p:nvSpPr>
        <p:spPr>
          <a:xfrm>
            <a:off x="887300" y="1721047"/>
            <a:ext cx="8892540" cy="477695"/>
          </a:xfrm>
          <a:prstGeom prst="rect">
            <a:avLst/>
          </a:prstGeom>
        </p:spPr>
        <p:txBody>
          <a:bodyPr vert="horz" wrap="square" lIns="0" tIns="12700" rIns="0" bIns="0" rtlCol="0">
            <a:spAutoFit/>
          </a:bodyPr>
          <a:lstStyle/>
          <a:p>
            <a:pPr marL="12700" marR="5080" algn="just">
              <a:lnSpc>
                <a:spcPct val="133300"/>
              </a:lnSpc>
              <a:spcBef>
                <a:spcPts val="100"/>
              </a:spcBef>
            </a:pPr>
            <a:r>
              <a:rPr sz="1200" dirty="0">
                <a:solidFill>
                  <a:srgbClr val="2D3648"/>
                </a:solidFill>
                <a:latin typeface="Arial MT"/>
                <a:cs typeface="Arial MT"/>
              </a:rPr>
              <a:t>Para</a:t>
            </a:r>
            <a:r>
              <a:rPr sz="1200" spc="-20" dirty="0">
                <a:solidFill>
                  <a:srgbClr val="2D3648"/>
                </a:solidFill>
                <a:latin typeface="Arial MT"/>
                <a:cs typeface="Arial MT"/>
              </a:rPr>
              <a:t> </a:t>
            </a:r>
            <a:r>
              <a:rPr sz="1200" dirty="0">
                <a:solidFill>
                  <a:srgbClr val="2D3648"/>
                </a:solidFill>
                <a:latin typeface="Arial MT"/>
                <a:cs typeface="Arial MT"/>
              </a:rPr>
              <a:t>mitigar</a:t>
            </a:r>
            <a:r>
              <a:rPr sz="1200" spc="-20" dirty="0">
                <a:solidFill>
                  <a:srgbClr val="2D3648"/>
                </a:solidFill>
                <a:latin typeface="Arial MT"/>
                <a:cs typeface="Arial MT"/>
              </a:rPr>
              <a:t> </a:t>
            </a:r>
            <a:r>
              <a:rPr sz="1200" dirty="0">
                <a:solidFill>
                  <a:srgbClr val="2D3648"/>
                </a:solidFill>
                <a:latin typeface="Arial MT"/>
                <a:cs typeface="Arial MT"/>
              </a:rPr>
              <a:t>cualquier</a:t>
            </a:r>
            <a:r>
              <a:rPr sz="1200" spc="-15" dirty="0">
                <a:solidFill>
                  <a:srgbClr val="2D3648"/>
                </a:solidFill>
                <a:latin typeface="Arial MT"/>
                <a:cs typeface="Arial MT"/>
              </a:rPr>
              <a:t> </a:t>
            </a:r>
            <a:r>
              <a:rPr sz="1200" dirty="0">
                <a:solidFill>
                  <a:srgbClr val="2D3648"/>
                </a:solidFill>
                <a:latin typeface="Arial MT"/>
                <a:cs typeface="Arial MT"/>
              </a:rPr>
              <a:t>anomalía</a:t>
            </a:r>
            <a:r>
              <a:rPr sz="1200" spc="-20" dirty="0">
                <a:solidFill>
                  <a:srgbClr val="2D3648"/>
                </a:solidFill>
                <a:latin typeface="Arial MT"/>
                <a:cs typeface="Arial MT"/>
              </a:rPr>
              <a:t> </a:t>
            </a:r>
            <a:r>
              <a:rPr sz="1200" dirty="0">
                <a:solidFill>
                  <a:srgbClr val="2D3648"/>
                </a:solidFill>
                <a:latin typeface="Arial MT"/>
                <a:cs typeface="Arial MT"/>
              </a:rPr>
              <a:t>de</a:t>
            </a:r>
            <a:r>
              <a:rPr sz="1200" spc="-20" dirty="0">
                <a:solidFill>
                  <a:srgbClr val="2D3648"/>
                </a:solidFill>
                <a:latin typeface="Arial MT"/>
                <a:cs typeface="Arial MT"/>
              </a:rPr>
              <a:t> </a:t>
            </a:r>
            <a:r>
              <a:rPr sz="1200" dirty="0">
                <a:solidFill>
                  <a:srgbClr val="2D3648"/>
                </a:solidFill>
                <a:latin typeface="Arial MT"/>
                <a:cs typeface="Arial MT"/>
              </a:rPr>
              <a:t>inserción,</a:t>
            </a:r>
            <a:r>
              <a:rPr sz="1200" spc="-15" dirty="0">
                <a:solidFill>
                  <a:srgbClr val="2D3648"/>
                </a:solidFill>
                <a:latin typeface="Arial MT"/>
                <a:cs typeface="Arial MT"/>
              </a:rPr>
              <a:t> </a:t>
            </a:r>
            <a:r>
              <a:rPr sz="1200" dirty="0">
                <a:solidFill>
                  <a:srgbClr val="2D3648"/>
                </a:solidFill>
                <a:latin typeface="Arial MT"/>
                <a:cs typeface="Arial MT"/>
              </a:rPr>
              <a:t>actualización</a:t>
            </a:r>
            <a:r>
              <a:rPr sz="1200" spc="-20" dirty="0">
                <a:solidFill>
                  <a:srgbClr val="2D3648"/>
                </a:solidFill>
                <a:latin typeface="Arial MT"/>
                <a:cs typeface="Arial MT"/>
              </a:rPr>
              <a:t> </a:t>
            </a:r>
            <a:r>
              <a:rPr sz="1200" dirty="0">
                <a:solidFill>
                  <a:srgbClr val="2D3648"/>
                </a:solidFill>
                <a:latin typeface="Arial MT"/>
                <a:cs typeface="Arial MT"/>
              </a:rPr>
              <a:t>o</a:t>
            </a:r>
            <a:r>
              <a:rPr sz="1200" spc="-15" dirty="0">
                <a:solidFill>
                  <a:srgbClr val="2D3648"/>
                </a:solidFill>
                <a:latin typeface="Arial MT"/>
                <a:cs typeface="Arial MT"/>
              </a:rPr>
              <a:t> </a:t>
            </a:r>
            <a:r>
              <a:rPr sz="1200" dirty="0">
                <a:solidFill>
                  <a:srgbClr val="2D3648"/>
                </a:solidFill>
                <a:latin typeface="Arial MT"/>
                <a:cs typeface="Arial MT"/>
              </a:rPr>
              <a:t>borrado,</a:t>
            </a:r>
            <a:r>
              <a:rPr sz="1200" spc="-20" dirty="0">
                <a:solidFill>
                  <a:srgbClr val="2D3648"/>
                </a:solidFill>
                <a:latin typeface="Arial MT"/>
                <a:cs typeface="Arial MT"/>
              </a:rPr>
              <a:t> </a:t>
            </a:r>
            <a:r>
              <a:rPr sz="1200" dirty="0">
                <a:solidFill>
                  <a:srgbClr val="2D3648"/>
                </a:solidFill>
                <a:latin typeface="Arial MT"/>
                <a:cs typeface="Arial MT"/>
              </a:rPr>
              <a:t>el</a:t>
            </a:r>
            <a:r>
              <a:rPr sz="1200" spc="-20" dirty="0">
                <a:solidFill>
                  <a:srgbClr val="2D3648"/>
                </a:solidFill>
                <a:latin typeface="Arial MT"/>
                <a:cs typeface="Arial MT"/>
              </a:rPr>
              <a:t> </a:t>
            </a:r>
            <a:r>
              <a:rPr sz="1200" dirty="0">
                <a:solidFill>
                  <a:srgbClr val="2D3648"/>
                </a:solidFill>
                <a:latin typeface="Arial MT"/>
                <a:cs typeface="Arial MT"/>
              </a:rPr>
              <a:t>modelo</a:t>
            </a:r>
            <a:r>
              <a:rPr sz="1200" spc="-15" dirty="0">
                <a:solidFill>
                  <a:srgbClr val="2D3648"/>
                </a:solidFill>
                <a:latin typeface="Arial MT"/>
                <a:cs typeface="Arial MT"/>
              </a:rPr>
              <a:t> </a:t>
            </a:r>
            <a:r>
              <a:rPr sz="1200" dirty="0">
                <a:solidFill>
                  <a:srgbClr val="2D3648"/>
                </a:solidFill>
                <a:latin typeface="Arial MT"/>
                <a:cs typeface="Arial MT"/>
              </a:rPr>
              <a:t>fue</a:t>
            </a:r>
            <a:r>
              <a:rPr sz="1200" spc="-20" dirty="0">
                <a:solidFill>
                  <a:srgbClr val="2D3648"/>
                </a:solidFill>
                <a:latin typeface="Arial MT"/>
                <a:cs typeface="Arial MT"/>
              </a:rPr>
              <a:t> </a:t>
            </a:r>
            <a:r>
              <a:rPr sz="1200" dirty="0">
                <a:solidFill>
                  <a:srgbClr val="2D3648"/>
                </a:solidFill>
                <a:latin typeface="Arial MT"/>
                <a:cs typeface="Arial MT"/>
              </a:rPr>
              <a:t>normalizado</a:t>
            </a:r>
            <a:r>
              <a:rPr sz="1200" spc="-20" dirty="0">
                <a:solidFill>
                  <a:srgbClr val="2D3648"/>
                </a:solidFill>
                <a:latin typeface="Arial MT"/>
                <a:cs typeface="Arial MT"/>
              </a:rPr>
              <a:t> </a:t>
            </a:r>
            <a:r>
              <a:rPr sz="1200" dirty="0">
                <a:solidFill>
                  <a:srgbClr val="2D3648"/>
                </a:solidFill>
                <a:latin typeface="Arial MT"/>
                <a:cs typeface="Arial MT"/>
              </a:rPr>
              <a:t>estrictamente</a:t>
            </a:r>
            <a:r>
              <a:rPr sz="1200" spc="-15" dirty="0">
                <a:solidFill>
                  <a:srgbClr val="2D3648"/>
                </a:solidFill>
                <a:latin typeface="Arial MT"/>
                <a:cs typeface="Arial MT"/>
              </a:rPr>
              <a:t> </a:t>
            </a:r>
            <a:r>
              <a:rPr sz="1200" dirty="0">
                <a:solidFill>
                  <a:srgbClr val="2D3648"/>
                </a:solidFill>
                <a:latin typeface="Arial MT"/>
                <a:cs typeface="Arial MT"/>
              </a:rPr>
              <a:t>hasta</a:t>
            </a:r>
            <a:r>
              <a:rPr sz="1200" spc="-20" dirty="0">
                <a:solidFill>
                  <a:srgbClr val="2D3648"/>
                </a:solidFill>
                <a:latin typeface="Arial MT"/>
                <a:cs typeface="Arial MT"/>
              </a:rPr>
              <a:t> </a:t>
            </a:r>
            <a:r>
              <a:rPr sz="1200" dirty="0">
                <a:solidFill>
                  <a:srgbClr val="2D3648"/>
                </a:solidFill>
                <a:latin typeface="Arial MT"/>
                <a:cs typeface="Arial MT"/>
              </a:rPr>
              <a:t>la</a:t>
            </a:r>
            <a:r>
              <a:rPr sz="1200" spc="-10" dirty="0">
                <a:solidFill>
                  <a:srgbClr val="2D3648"/>
                </a:solidFill>
                <a:latin typeface="Arial MT"/>
                <a:cs typeface="Arial MT"/>
              </a:rPr>
              <a:t> </a:t>
            </a:r>
            <a:r>
              <a:rPr sz="1200" b="1" spc="-10" dirty="0">
                <a:solidFill>
                  <a:srgbClr val="2D3648"/>
                </a:solidFill>
                <a:latin typeface="Arial"/>
                <a:cs typeface="Arial"/>
              </a:rPr>
              <a:t>Tercera </a:t>
            </a:r>
            <a:r>
              <a:rPr sz="1200" b="1" dirty="0">
                <a:solidFill>
                  <a:srgbClr val="2D3648"/>
                </a:solidFill>
                <a:latin typeface="Arial"/>
                <a:cs typeface="Arial"/>
              </a:rPr>
              <a:t>Forma</a:t>
            </a:r>
            <a:r>
              <a:rPr sz="1200" b="1" spc="-15" dirty="0">
                <a:solidFill>
                  <a:srgbClr val="2D3648"/>
                </a:solidFill>
                <a:latin typeface="Arial"/>
                <a:cs typeface="Arial"/>
              </a:rPr>
              <a:t> </a:t>
            </a:r>
            <a:r>
              <a:rPr sz="1200" b="1" dirty="0">
                <a:solidFill>
                  <a:srgbClr val="2D3648"/>
                </a:solidFill>
                <a:latin typeface="Arial"/>
                <a:cs typeface="Arial"/>
              </a:rPr>
              <a:t>Normal</a:t>
            </a:r>
            <a:r>
              <a:rPr sz="1200" b="1" spc="-15" dirty="0">
                <a:solidFill>
                  <a:srgbClr val="2D3648"/>
                </a:solidFill>
                <a:latin typeface="Arial"/>
                <a:cs typeface="Arial"/>
              </a:rPr>
              <a:t> </a:t>
            </a:r>
            <a:r>
              <a:rPr sz="1200" b="1" dirty="0">
                <a:solidFill>
                  <a:srgbClr val="2D3648"/>
                </a:solidFill>
                <a:latin typeface="Arial"/>
                <a:cs typeface="Arial"/>
              </a:rPr>
              <a:t>(3FN)</a:t>
            </a:r>
            <a:r>
              <a:rPr sz="1200" dirty="0">
                <a:solidFill>
                  <a:srgbClr val="2D3648"/>
                </a:solidFill>
                <a:latin typeface="Arial MT"/>
                <a:cs typeface="Arial MT"/>
              </a:rPr>
              <a:t>,</a:t>
            </a:r>
            <a:r>
              <a:rPr sz="1200" spc="-10" dirty="0">
                <a:solidFill>
                  <a:srgbClr val="2D3648"/>
                </a:solidFill>
                <a:latin typeface="Arial MT"/>
                <a:cs typeface="Arial MT"/>
              </a:rPr>
              <a:t> </a:t>
            </a:r>
            <a:r>
              <a:rPr sz="1200" dirty="0">
                <a:solidFill>
                  <a:srgbClr val="2D3648"/>
                </a:solidFill>
                <a:latin typeface="Arial MT"/>
                <a:cs typeface="Arial MT"/>
              </a:rPr>
              <a:t>dividiéndose</a:t>
            </a:r>
            <a:r>
              <a:rPr sz="1200" spc="-15" dirty="0">
                <a:solidFill>
                  <a:srgbClr val="2D3648"/>
                </a:solidFill>
                <a:latin typeface="Arial MT"/>
                <a:cs typeface="Arial MT"/>
              </a:rPr>
              <a:t> </a:t>
            </a:r>
            <a:r>
              <a:rPr sz="1200" dirty="0">
                <a:solidFill>
                  <a:srgbClr val="2D3648"/>
                </a:solidFill>
                <a:latin typeface="Arial MT"/>
                <a:cs typeface="Arial MT"/>
              </a:rPr>
              <a:t>en</a:t>
            </a:r>
            <a:r>
              <a:rPr sz="1200" spc="-15" dirty="0">
                <a:solidFill>
                  <a:srgbClr val="2D3648"/>
                </a:solidFill>
                <a:latin typeface="Arial MT"/>
                <a:cs typeface="Arial MT"/>
              </a:rPr>
              <a:t> </a:t>
            </a:r>
            <a:r>
              <a:rPr sz="1200" dirty="0">
                <a:solidFill>
                  <a:srgbClr val="2D3648"/>
                </a:solidFill>
                <a:latin typeface="Arial MT"/>
                <a:cs typeface="Arial MT"/>
              </a:rPr>
              <a:t>tres</a:t>
            </a:r>
            <a:r>
              <a:rPr sz="1200" spc="-10" dirty="0">
                <a:solidFill>
                  <a:srgbClr val="2D3648"/>
                </a:solidFill>
                <a:latin typeface="Arial MT"/>
                <a:cs typeface="Arial MT"/>
              </a:rPr>
              <a:t> </a:t>
            </a:r>
            <a:r>
              <a:rPr sz="1200" dirty="0">
                <a:solidFill>
                  <a:srgbClr val="2D3648"/>
                </a:solidFill>
                <a:latin typeface="Arial MT"/>
                <a:cs typeface="Arial MT"/>
              </a:rPr>
              <a:t>capas</a:t>
            </a:r>
            <a:r>
              <a:rPr sz="1200" spc="-15" dirty="0">
                <a:solidFill>
                  <a:srgbClr val="2D3648"/>
                </a:solidFill>
                <a:latin typeface="Arial MT"/>
                <a:cs typeface="Arial MT"/>
              </a:rPr>
              <a:t> </a:t>
            </a:r>
            <a:r>
              <a:rPr sz="1200" spc="-10" dirty="0">
                <a:solidFill>
                  <a:srgbClr val="2D3648"/>
                </a:solidFill>
                <a:latin typeface="Arial MT"/>
                <a:cs typeface="Arial MT"/>
              </a:rPr>
              <a:t>funcionales:</a:t>
            </a:r>
            <a:endParaRPr sz="1200" dirty="0">
              <a:latin typeface="Arial MT"/>
              <a:cs typeface="Arial MT"/>
            </a:endParaRPr>
          </a:p>
        </p:txBody>
      </p:sp>
      <p:sp>
        <p:nvSpPr>
          <p:cNvPr id="13" name="object 13"/>
          <p:cNvSpPr txBox="1"/>
          <p:nvPr/>
        </p:nvSpPr>
        <p:spPr>
          <a:xfrm>
            <a:off x="1039700" y="2456907"/>
            <a:ext cx="4154600" cy="972830"/>
          </a:xfrm>
          <a:prstGeom prst="rect">
            <a:avLst/>
          </a:prstGeom>
        </p:spPr>
        <p:txBody>
          <a:bodyPr vert="horz" wrap="square" lIns="0" tIns="112395" rIns="0" bIns="0" rtlCol="0">
            <a:spAutoFit/>
          </a:bodyPr>
          <a:lstStyle/>
          <a:p>
            <a:pPr marL="12700">
              <a:lnSpc>
                <a:spcPct val="100000"/>
              </a:lnSpc>
              <a:spcBef>
                <a:spcPts val="885"/>
              </a:spcBef>
            </a:pPr>
            <a:r>
              <a:rPr sz="1200" b="1" dirty="0">
                <a:solidFill>
                  <a:srgbClr val="2A6BAF"/>
                </a:solidFill>
                <a:latin typeface="Arial"/>
                <a:cs typeface="Arial"/>
              </a:rPr>
              <a:t>1.</a:t>
            </a:r>
            <a:r>
              <a:rPr sz="1200" b="1" spc="-25" dirty="0">
                <a:solidFill>
                  <a:srgbClr val="2A6BAF"/>
                </a:solidFill>
                <a:latin typeface="Arial"/>
                <a:cs typeface="Arial"/>
              </a:rPr>
              <a:t> </a:t>
            </a:r>
            <a:r>
              <a:rPr sz="1200" b="1" dirty="0">
                <a:solidFill>
                  <a:srgbClr val="2A6BAF"/>
                </a:solidFill>
                <a:latin typeface="Arial"/>
                <a:cs typeface="Arial"/>
              </a:rPr>
              <a:t>Capa</a:t>
            </a:r>
            <a:r>
              <a:rPr sz="1200" b="1" spc="-15" dirty="0">
                <a:solidFill>
                  <a:srgbClr val="2A6BAF"/>
                </a:solidFill>
                <a:latin typeface="Arial"/>
                <a:cs typeface="Arial"/>
              </a:rPr>
              <a:t> </a:t>
            </a:r>
            <a:r>
              <a:rPr sz="1200" b="1" dirty="0">
                <a:solidFill>
                  <a:srgbClr val="2A6BAF"/>
                </a:solidFill>
                <a:latin typeface="Arial"/>
                <a:cs typeface="Arial"/>
              </a:rPr>
              <a:t>Maestra</a:t>
            </a:r>
            <a:r>
              <a:rPr sz="1200" b="1" spc="-15" dirty="0">
                <a:solidFill>
                  <a:srgbClr val="2A6BAF"/>
                </a:solidFill>
                <a:latin typeface="Arial"/>
                <a:cs typeface="Arial"/>
              </a:rPr>
              <a:t> </a:t>
            </a:r>
            <a:r>
              <a:rPr sz="1200" b="1" spc="-10" dirty="0">
                <a:solidFill>
                  <a:srgbClr val="2A6BAF"/>
                </a:solidFill>
                <a:latin typeface="Arial"/>
                <a:cs typeface="Arial"/>
              </a:rPr>
              <a:t>Central</a:t>
            </a:r>
            <a:r>
              <a:rPr lang="es-CO" sz="1200" b="1" spc="-10" dirty="0">
                <a:solidFill>
                  <a:srgbClr val="2A6BAF"/>
                </a:solidFill>
                <a:latin typeface="Arial"/>
                <a:cs typeface="Arial"/>
              </a:rPr>
              <a:t> (Azul):</a:t>
            </a:r>
            <a:endParaRPr sz="1200" dirty="0">
              <a:latin typeface="Arial"/>
              <a:cs typeface="Arial"/>
            </a:endParaRPr>
          </a:p>
          <a:p>
            <a:pPr marL="12700" marR="5080">
              <a:lnSpc>
                <a:spcPct val="126699"/>
              </a:lnSpc>
              <a:spcBef>
                <a:spcPts val="370"/>
              </a:spcBef>
            </a:pPr>
            <a:r>
              <a:rPr lang="es-ES" sz="1100" spc="-10" dirty="0">
                <a:solidFill>
                  <a:srgbClr val="2D3648"/>
                </a:solidFill>
                <a:latin typeface="Arial MT"/>
                <a:cs typeface="Arial MT"/>
              </a:rPr>
              <a:t>Controla las identidades únicas e independientes del negocio: ESTUDIANTES y DOCENTES. Actúa como los pilares de la integridad del ecosistema.</a:t>
            </a:r>
            <a:endParaRPr sz="1100" dirty="0">
              <a:latin typeface="Arial MT"/>
              <a:cs typeface="Arial MT"/>
            </a:endParaRPr>
          </a:p>
        </p:txBody>
      </p:sp>
      <p:sp>
        <p:nvSpPr>
          <p:cNvPr id="14" name="object 14"/>
          <p:cNvSpPr txBox="1"/>
          <p:nvPr/>
        </p:nvSpPr>
        <p:spPr>
          <a:xfrm>
            <a:off x="5485700" y="2450611"/>
            <a:ext cx="4168000" cy="979242"/>
          </a:xfrm>
          <a:prstGeom prst="rect">
            <a:avLst/>
          </a:prstGeom>
        </p:spPr>
        <p:txBody>
          <a:bodyPr vert="horz" wrap="square" lIns="0" tIns="118745" rIns="0" bIns="0" rtlCol="0">
            <a:spAutoFit/>
          </a:bodyPr>
          <a:lstStyle/>
          <a:p>
            <a:pPr marL="12700">
              <a:lnSpc>
                <a:spcPct val="100000"/>
              </a:lnSpc>
              <a:spcBef>
                <a:spcPts val="935"/>
              </a:spcBef>
            </a:pPr>
            <a:r>
              <a:rPr sz="1200" b="1" dirty="0">
                <a:solidFill>
                  <a:srgbClr val="2A6BAF"/>
                </a:solidFill>
                <a:latin typeface="Arial"/>
                <a:cs typeface="Arial"/>
              </a:rPr>
              <a:t>2.</a:t>
            </a:r>
            <a:r>
              <a:rPr sz="1200" b="1" spc="-15" dirty="0">
                <a:solidFill>
                  <a:srgbClr val="2A6BAF"/>
                </a:solidFill>
                <a:latin typeface="Arial"/>
                <a:cs typeface="Arial"/>
              </a:rPr>
              <a:t> </a:t>
            </a:r>
            <a:r>
              <a:rPr sz="1200" b="1" dirty="0">
                <a:solidFill>
                  <a:srgbClr val="2A6BAF"/>
                </a:solidFill>
                <a:latin typeface="Arial"/>
                <a:cs typeface="Arial"/>
              </a:rPr>
              <a:t>Capa</a:t>
            </a:r>
            <a:r>
              <a:rPr sz="1200" b="1" spc="-15" dirty="0">
                <a:solidFill>
                  <a:srgbClr val="2A6BAF"/>
                </a:solidFill>
                <a:latin typeface="Arial"/>
                <a:cs typeface="Arial"/>
              </a:rPr>
              <a:t> </a:t>
            </a:r>
            <a:r>
              <a:rPr sz="1200" b="1" dirty="0">
                <a:solidFill>
                  <a:srgbClr val="2A6BAF"/>
                </a:solidFill>
                <a:latin typeface="Arial"/>
                <a:cs typeface="Arial"/>
              </a:rPr>
              <a:t>de</a:t>
            </a:r>
            <a:r>
              <a:rPr sz="1200" b="1" spc="-15" dirty="0">
                <a:solidFill>
                  <a:srgbClr val="2A6BAF"/>
                </a:solidFill>
                <a:latin typeface="Arial"/>
                <a:cs typeface="Arial"/>
              </a:rPr>
              <a:t> </a:t>
            </a:r>
            <a:r>
              <a:rPr sz="1200" b="1" dirty="0" err="1">
                <a:solidFill>
                  <a:srgbClr val="2A6BAF"/>
                </a:solidFill>
                <a:latin typeface="Arial"/>
                <a:cs typeface="Arial"/>
              </a:rPr>
              <a:t>Catálogo</a:t>
            </a:r>
            <a:r>
              <a:rPr sz="1200" b="1" spc="-15" dirty="0">
                <a:solidFill>
                  <a:srgbClr val="2A6BAF"/>
                </a:solidFill>
                <a:latin typeface="Arial"/>
                <a:cs typeface="Arial"/>
              </a:rPr>
              <a:t> </a:t>
            </a:r>
            <a:r>
              <a:rPr lang="es-CO" sz="1200" b="1" spc="-15" dirty="0" err="1">
                <a:solidFill>
                  <a:srgbClr val="2A6BAF"/>
                </a:solidFill>
                <a:latin typeface="Arial"/>
                <a:cs typeface="Arial"/>
              </a:rPr>
              <a:t>Academico</a:t>
            </a:r>
            <a:r>
              <a:rPr lang="es-CO" sz="1200" b="1" spc="-15" dirty="0">
                <a:solidFill>
                  <a:srgbClr val="2A6BAF"/>
                </a:solidFill>
                <a:latin typeface="Arial"/>
                <a:cs typeface="Arial"/>
              </a:rPr>
              <a:t> (Verde):</a:t>
            </a:r>
            <a:endParaRPr sz="1200" dirty="0">
              <a:latin typeface="Arial"/>
              <a:cs typeface="Arial"/>
            </a:endParaRPr>
          </a:p>
          <a:p>
            <a:pPr marL="12700" marR="5080">
              <a:lnSpc>
                <a:spcPct val="126699"/>
              </a:lnSpc>
              <a:spcBef>
                <a:spcPts val="414"/>
              </a:spcBef>
            </a:pPr>
            <a:r>
              <a:rPr lang="es-ES" sz="1100" spc="-10" dirty="0">
                <a:solidFill>
                  <a:srgbClr val="2D3648"/>
                </a:solidFill>
                <a:latin typeface="Arial MT"/>
                <a:cs typeface="Arial MT"/>
              </a:rPr>
              <a:t>CURSOS y MODULOS administran la oferta educativa estructurada de la plataforma. Permiten mapear los contenidos técnicos y las unidades temáticas que son asignadas a cada docente.</a:t>
            </a:r>
            <a:endParaRPr sz="1100" dirty="0">
              <a:latin typeface="Arial MT"/>
              <a:cs typeface="Arial MT"/>
            </a:endParaRPr>
          </a:p>
        </p:txBody>
      </p:sp>
      <p:sp>
        <p:nvSpPr>
          <p:cNvPr id="15" name="object 15"/>
          <p:cNvSpPr txBox="1"/>
          <p:nvPr/>
        </p:nvSpPr>
        <p:spPr>
          <a:xfrm>
            <a:off x="1077800" y="5576064"/>
            <a:ext cx="8419465" cy="451855"/>
          </a:xfrm>
          <a:prstGeom prst="rect">
            <a:avLst/>
          </a:prstGeom>
        </p:spPr>
        <p:txBody>
          <a:bodyPr vert="horz" wrap="square" lIns="0" tIns="12700" rIns="0" bIns="0" rtlCol="0">
            <a:spAutoFit/>
          </a:bodyPr>
          <a:lstStyle/>
          <a:p>
            <a:pPr marL="12700" marR="5080" algn="just">
              <a:lnSpc>
                <a:spcPct val="125000"/>
              </a:lnSpc>
              <a:spcBef>
                <a:spcPts val="100"/>
              </a:spcBef>
            </a:pPr>
            <a:r>
              <a:rPr lang="es-ES" sz="1200" b="1" spc="-10" dirty="0">
                <a:solidFill>
                  <a:srgbClr val="2D3648"/>
                </a:solidFill>
                <a:latin typeface="Arial MT"/>
                <a:cs typeface="Arial MT"/>
              </a:rPr>
              <a:t>"Optimización de Alcance:</a:t>
            </a:r>
            <a:r>
              <a:rPr lang="es-ES" sz="1200" spc="-10" dirty="0">
                <a:solidFill>
                  <a:srgbClr val="2D3648"/>
                </a:solidFill>
                <a:latin typeface="Arial MT"/>
                <a:cs typeface="Arial MT"/>
              </a:rPr>
              <a:t> Se omitieron módulos no académicos (como facturación o ventas externas) para garantizar un modelo relacional centrado 100% en el ciclo de vida del aprendizaje y la analítica educativa."</a:t>
            </a:r>
            <a:endParaRPr sz="1200" dirty="0">
              <a:latin typeface="Arial MT"/>
              <a:cs typeface="Arial MT"/>
            </a:endParaRPr>
          </a:p>
        </p:txBody>
      </p:sp>
      <p:sp>
        <p:nvSpPr>
          <p:cNvPr id="16" name="object 16"/>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17" name="object 17"/>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8" name="object 18"/>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7</a:t>
            </a:fld>
            <a:endParaRPr spc="-50" dirty="0"/>
          </a:p>
        </p:txBody>
      </p:sp>
      <p:grpSp>
        <p:nvGrpSpPr>
          <p:cNvPr id="19" name="object 2">
            <a:extLst>
              <a:ext uri="{FF2B5EF4-FFF2-40B4-BE49-F238E27FC236}">
                <a16:creationId xmlns:a16="http://schemas.microsoft.com/office/drawing/2014/main" id="{2078FEEB-F2E9-4449-AC9E-07DEEDCF66D0}"/>
              </a:ext>
            </a:extLst>
          </p:cNvPr>
          <p:cNvGrpSpPr/>
          <p:nvPr/>
        </p:nvGrpSpPr>
        <p:grpSpPr>
          <a:xfrm>
            <a:off x="950475" y="3745228"/>
            <a:ext cx="8892540" cy="1191895"/>
            <a:chOff x="900000" y="2431483"/>
            <a:chExt cx="8892540" cy="1191895"/>
          </a:xfrm>
        </p:grpSpPr>
        <p:sp>
          <p:nvSpPr>
            <p:cNvPr id="20" name="object 3">
              <a:extLst>
                <a:ext uri="{FF2B5EF4-FFF2-40B4-BE49-F238E27FC236}">
                  <a16:creationId xmlns:a16="http://schemas.microsoft.com/office/drawing/2014/main" id="{634DAD4A-42D9-459A-9AC2-9ABC2B0AD5C9}"/>
                </a:ext>
              </a:extLst>
            </p:cNvPr>
            <p:cNvSpPr/>
            <p:nvPr/>
          </p:nvSpPr>
          <p:spPr>
            <a:xfrm>
              <a:off x="900000" y="2431483"/>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4808" y="11191"/>
                  </a:lnTo>
                  <a:lnTo>
                    <a:pt x="4442993" y="23306"/>
                  </a:lnTo>
                  <a:lnTo>
                    <a:pt x="4446000" y="38100"/>
                  </a:lnTo>
                  <a:lnTo>
                    <a:pt x="4446000" y="1153352"/>
                  </a:lnTo>
                  <a:lnTo>
                    <a:pt x="4442993" y="1168146"/>
                  </a:lnTo>
                  <a:lnTo>
                    <a:pt x="4434808" y="1180261"/>
                  </a:lnTo>
                  <a:lnTo>
                    <a:pt x="4422693" y="1188446"/>
                  </a:lnTo>
                  <a:lnTo>
                    <a:pt x="4407900" y="1191452"/>
                  </a:lnTo>
                  <a:close/>
                </a:path>
              </a:pathLst>
            </a:custGeom>
            <a:solidFill>
              <a:srgbClr val="F6F9FB"/>
            </a:solidFill>
          </p:spPr>
          <p:txBody>
            <a:bodyPr wrap="square" lIns="0" tIns="0" rIns="0" bIns="0" rtlCol="0"/>
            <a:lstStyle/>
            <a:p>
              <a:endParaRPr/>
            </a:p>
          </p:txBody>
        </p:sp>
        <p:sp>
          <p:nvSpPr>
            <p:cNvPr id="21" name="object 4">
              <a:extLst>
                <a:ext uri="{FF2B5EF4-FFF2-40B4-BE49-F238E27FC236}">
                  <a16:creationId xmlns:a16="http://schemas.microsoft.com/office/drawing/2014/main" id="{21699095-9CCC-43CA-A7DF-DFE32DA6B585}"/>
                </a:ext>
              </a:extLst>
            </p:cNvPr>
            <p:cNvSpPr/>
            <p:nvPr/>
          </p:nvSpPr>
          <p:spPr>
            <a:xfrm>
              <a:off x="900000" y="2431484"/>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2341" y="9525"/>
                  </a:lnTo>
                  <a:lnTo>
                    <a:pt x="38100" y="9525"/>
                  </a:lnTo>
                  <a:lnTo>
                    <a:pt x="27004" y="11779"/>
                  </a:lnTo>
                  <a:lnTo>
                    <a:pt x="17918" y="17918"/>
                  </a:lnTo>
                  <a:lnTo>
                    <a:pt x="11779" y="27004"/>
                  </a:lnTo>
                  <a:lnTo>
                    <a:pt x="9525" y="38100"/>
                  </a:lnTo>
                  <a:lnTo>
                    <a:pt x="9525" y="1153352"/>
                  </a:lnTo>
                  <a:lnTo>
                    <a:pt x="11779" y="1164448"/>
                  </a:lnTo>
                  <a:lnTo>
                    <a:pt x="17918" y="1173533"/>
                  </a:lnTo>
                  <a:lnTo>
                    <a:pt x="27004" y="1179673"/>
                  </a:lnTo>
                  <a:lnTo>
                    <a:pt x="38100" y="1181927"/>
                  </a:lnTo>
                  <a:lnTo>
                    <a:pt x="4432341" y="1181927"/>
                  </a:lnTo>
                  <a:lnTo>
                    <a:pt x="4422693" y="1188446"/>
                  </a:lnTo>
                  <a:lnTo>
                    <a:pt x="4407900" y="1191452"/>
                  </a:lnTo>
                  <a:close/>
                </a:path>
                <a:path w="4446270" h="1191895">
                  <a:moveTo>
                    <a:pt x="4432341" y="1181927"/>
                  </a:moveTo>
                  <a:lnTo>
                    <a:pt x="4407900" y="1181927"/>
                  </a:lnTo>
                  <a:lnTo>
                    <a:pt x="4418995" y="1179673"/>
                  </a:lnTo>
                  <a:lnTo>
                    <a:pt x="4428081" y="1173533"/>
                  </a:lnTo>
                  <a:lnTo>
                    <a:pt x="4434220" y="1164448"/>
                  </a:lnTo>
                  <a:lnTo>
                    <a:pt x="4436475" y="1153352"/>
                  </a:lnTo>
                  <a:lnTo>
                    <a:pt x="4436475" y="38100"/>
                  </a:lnTo>
                  <a:lnTo>
                    <a:pt x="4434220" y="27004"/>
                  </a:lnTo>
                  <a:lnTo>
                    <a:pt x="4428081" y="17918"/>
                  </a:lnTo>
                  <a:lnTo>
                    <a:pt x="4418995" y="11779"/>
                  </a:lnTo>
                  <a:lnTo>
                    <a:pt x="4407900" y="9525"/>
                  </a:lnTo>
                  <a:lnTo>
                    <a:pt x="4432341" y="9525"/>
                  </a:lnTo>
                  <a:lnTo>
                    <a:pt x="4434808" y="11191"/>
                  </a:lnTo>
                  <a:lnTo>
                    <a:pt x="4442993" y="23306"/>
                  </a:lnTo>
                  <a:lnTo>
                    <a:pt x="4446000" y="38100"/>
                  </a:lnTo>
                  <a:lnTo>
                    <a:pt x="4446000" y="1153352"/>
                  </a:lnTo>
                  <a:lnTo>
                    <a:pt x="4442993" y="1168146"/>
                  </a:lnTo>
                  <a:lnTo>
                    <a:pt x="4434808" y="1180261"/>
                  </a:lnTo>
                  <a:lnTo>
                    <a:pt x="4432341" y="1181927"/>
                  </a:lnTo>
                  <a:close/>
                </a:path>
              </a:pathLst>
            </a:custGeom>
            <a:solidFill>
              <a:srgbClr val="E2E8EF"/>
            </a:solidFill>
          </p:spPr>
          <p:txBody>
            <a:bodyPr wrap="square" lIns="0" tIns="0" rIns="0" bIns="0" rtlCol="0"/>
            <a:lstStyle/>
            <a:p>
              <a:endParaRPr/>
            </a:p>
          </p:txBody>
        </p:sp>
        <p:sp>
          <p:nvSpPr>
            <p:cNvPr id="22" name="object 5">
              <a:extLst>
                <a:ext uri="{FF2B5EF4-FFF2-40B4-BE49-F238E27FC236}">
                  <a16:creationId xmlns:a16="http://schemas.microsoft.com/office/drawing/2014/main" id="{9FB5F15D-15DF-4F85-A0F0-9932264838B3}"/>
                </a:ext>
              </a:extLst>
            </p:cNvPr>
            <p:cNvSpPr/>
            <p:nvPr/>
          </p:nvSpPr>
          <p:spPr>
            <a:xfrm>
              <a:off x="5346000" y="2431483"/>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4808" y="11191"/>
                  </a:lnTo>
                  <a:lnTo>
                    <a:pt x="4442993" y="23306"/>
                  </a:lnTo>
                  <a:lnTo>
                    <a:pt x="4446000" y="38100"/>
                  </a:lnTo>
                  <a:lnTo>
                    <a:pt x="4446000" y="1153352"/>
                  </a:lnTo>
                  <a:lnTo>
                    <a:pt x="4442993" y="1168146"/>
                  </a:lnTo>
                  <a:lnTo>
                    <a:pt x="4434808" y="1180261"/>
                  </a:lnTo>
                  <a:lnTo>
                    <a:pt x="4422693" y="1188446"/>
                  </a:lnTo>
                  <a:lnTo>
                    <a:pt x="4407900" y="1191452"/>
                  </a:lnTo>
                  <a:close/>
                </a:path>
              </a:pathLst>
            </a:custGeom>
            <a:solidFill>
              <a:srgbClr val="F6F9FB"/>
            </a:solidFill>
          </p:spPr>
          <p:txBody>
            <a:bodyPr wrap="square" lIns="0" tIns="0" rIns="0" bIns="0" rtlCol="0"/>
            <a:lstStyle/>
            <a:p>
              <a:endParaRPr/>
            </a:p>
          </p:txBody>
        </p:sp>
        <p:sp>
          <p:nvSpPr>
            <p:cNvPr id="23" name="object 6">
              <a:extLst>
                <a:ext uri="{FF2B5EF4-FFF2-40B4-BE49-F238E27FC236}">
                  <a16:creationId xmlns:a16="http://schemas.microsoft.com/office/drawing/2014/main" id="{807C1605-E27B-44A2-AB9A-7012CDC300CB}"/>
                </a:ext>
              </a:extLst>
            </p:cNvPr>
            <p:cNvSpPr/>
            <p:nvPr/>
          </p:nvSpPr>
          <p:spPr>
            <a:xfrm>
              <a:off x="5346000" y="2431484"/>
              <a:ext cx="4446270" cy="1191895"/>
            </a:xfrm>
            <a:custGeom>
              <a:avLst/>
              <a:gdLst/>
              <a:ahLst/>
              <a:cxnLst/>
              <a:rect l="l" t="t" r="r" b="b"/>
              <a:pathLst>
                <a:path w="4446270" h="1191895">
                  <a:moveTo>
                    <a:pt x="4407900" y="1191452"/>
                  </a:moveTo>
                  <a:lnTo>
                    <a:pt x="38100" y="1191452"/>
                  </a:lnTo>
                  <a:lnTo>
                    <a:pt x="23306" y="1188446"/>
                  </a:lnTo>
                  <a:lnTo>
                    <a:pt x="11191" y="1180261"/>
                  </a:lnTo>
                  <a:lnTo>
                    <a:pt x="3006" y="1168146"/>
                  </a:lnTo>
                  <a:lnTo>
                    <a:pt x="0" y="1153352"/>
                  </a:lnTo>
                  <a:lnTo>
                    <a:pt x="0" y="38100"/>
                  </a:lnTo>
                  <a:lnTo>
                    <a:pt x="3006" y="23306"/>
                  </a:lnTo>
                  <a:lnTo>
                    <a:pt x="11191" y="11191"/>
                  </a:lnTo>
                  <a:lnTo>
                    <a:pt x="23306" y="3006"/>
                  </a:lnTo>
                  <a:lnTo>
                    <a:pt x="38100" y="0"/>
                  </a:lnTo>
                  <a:lnTo>
                    <a:pt x="4407900" y="0"/>
                  </a:lnTo>
                  <a:lnTo>
                    <a:pt x="4422693" y="3006"/>
                  </a:lnTo>
                  <a:lnTo>
                    <a:pt x="4432341" y="9525"/>
                  </a:lnTo>
                  <a:lnTo>
                    <a:pt x="38100" y="9525"/>
                  </a:lnTo>
                  <a:lnTo>
                    <a:pt x="27004" y="11779"/>
                  </a:lnTo>
                  <a:lnTo>
                    <a:pt x="17918" y="17918"/>
                  </a:lnTo>
                  <a:lnTo>
                    <a:pt x="11779" y="27004"/>
                  </a:lnTo>
                  <a:lnTo>
                    <a:pt x="9525" y="38100"/>
                  </a:lnTo>
                  <a:lnTo>
                    <a:pt x="9525" y="1153352"/>
                  </a:lnTo>
                  <a:lnTo>
                    <a:pt x="11779" y="1164448"/>
                  </a:lnTo>
                  <a:lnTo>
                    <a:pt x="17918" y="1173533"/>
                  </a:lnTo>
                  <a:lnTo>
                    <a:pt x="27004" y="1179673"/>
                  </a:lnTo>
                  <a:lnTo>
                    <a:pt x="38100" y="1181927"/>
                  </a:lnTo>
                  <a:lnTo>
                    <a:pt x="4432341" y="1181927"/>
                  </a:lnTo>
                  <a:lnTo>
                    <a:pt x="4422693" y="1188446"/>
                  </a:lnTo>
                  <a:lnTo>
                    <a:pt x="4407900" y="1191452"/>
                  </a:lnTo>
                  <a:close/>
                </a:path>
                <a:path w="4446270" h="1191895">
                  <a:moveTo>
                    <a:pt x="4432341" y="1181927"/>
                  </a:moveTo>
                  <a:lnTo>
                    <a:pt x="4407900" y="1181927"/>
                  </a:lnTo>
                  <a:lnTo>
                    <a:pt x="4418995" y="1179673"/>
                  </a:lnTo>
                  <a:lnTo>
                    <a:pt x="4428081" y="1173533"/>
                  </a:lnTo>
                  <a:lnTo>
                    <a:pt x="4434220" y="1164448"/>
                  </a:lnTo>
                  <a:lnTo>
                    <a:pt x="4436475" y="1153352"/>
                  </a:lnTo>
                  <a:lnTo>
                    <a:pt x="4436475" y="38100"/>
                  </a:lnTo>
                  <a:lnTo>
                    <a:pt x="4434220" y="27004"/>
                  </a:lnTo>
                  <a:lnTo>
                    <a:pt x="4428081" y="17918"/>
                  </a:lnTo>
                  <a:lnTo>
                    <a:pt x="4418995" y="11779"/>
                  </a:lnTo>
                  <a:lnTo>
                    <a:pt x="4407900" y="9525"/>
                  </a:lnTo>
                  <a:lnTo>
                    <a:pt x="4432341" y="9525"/>
                  </a:lnTo>
                  <a:lnTo>
                    <a:pt x="4434808" y="11191"/>
                  </a:lnTo>
                  <a:lnTo>
                    <a:pt x="4442993" y="23306"/>
                  </a:lnTo>
                  <a:lnTo>
                    <a:pt x="4446000" y="38100"/>
                  </a:lnTo>
                  <a:lnTo>
                    <a:pt x="4446000" y="1153352"/>
                  </a:lnTo>
                  <a:lnTo>
                    <a:pt x="4442993" y="1168146"/>
                  </a:lnTo>
                  <a:lnTo>
                    <a:pt x="4434808" y="1180261"/>
                  </a:lnTo>
                  <a:lnTo>
                    <a:pt x="4432341" y="1181927"/>
                  </a:lnTo>
                  <a:close/>
                </a:path>
              </a:pathLst>
            </a:custGeom>
            <a:solidFill>
              <a:srgbClr val="E2E8EF"/>
            </a:solidFill>
          </p:spPr>
          <p:txBody>
            <a:bodyPr wrap="square" lIns="0" tIns="0" rIns="0" bIns="0" rtlCol="0"/>
            <a:lstStyle/>
            <a:p>
              <a:endParaRPr/>
            </a:p>
          </p:txBody>
        </p:sp>
      </p:grpSp>
      <p:sp>
        <p:nvSpPr>
          <p:cNvPr id="39" name="object 14">
            <a:extLst>
              <a:ext uri="{FF2B5EF4-FFF2-40B4-BE49-F238E27FC236}">
                <a16:creationId xmlns:a16="http://schemas.microsoft.com/office/drawing/2014/main" id="{23CA5F8D-19D7-4C7B-9C48-0E44359F5DFC}"/>
              </a:ext>
            </a:extLst>
          </p:cNvPr>
          <p:cNvSpPr txBox="1"/>
          <p:nvPr/>
        </p:nvSpPr>
        <p:spPr>
          <a:xfrm>
            <a:off x="1045796" y="3851554"/>
            <a:ext cx="4116500" cy="979242"/>
          </a:xfrm>
          <a:prstGeom prst="rect">
            <a:avLst/>
          </a:prstGeom>
        </p:spPr>
        <p:txBody>
          <a:bodyPr vert="horz" wrap="square" lIns="0" tIns="118745" rIns="0" bIns="0" rtlCol="0">
            <a:spAutoFit/>
          </a:bodyPr>
          <a:lstStyle/>
          <a:p>
            <a:pPr marL="12700">
              <a:lnSpc>
                <a:spcPct val="100000"/>
              </a:lnSpc>
              <a:spcBef>
                <a:spcPts val="935"/>
              </a:spcBef>
            </a:pPr>
            <a:r>
              <a:rPr lang="es-CO" sz="1200" b="1" dirty="0">
                <a:solidFill>
                  <a:srgbClr val="2A6BAF"/>
                </a:solidFill>
                <a:latin typeface="Arial"/>
                <a:cs typeface="Arial"/>
              </a:rPr>
              <a:t>3</a:t>
            </a:r>
            <a:r>
              <a:rPr sz="1200" b="1" dirty="0">
                <a:solidFill>
                  <a:srgbClr val="2A6BAF"/>
                </a:solidFill>
                <a:latin typeface="Arial"/>
                <a:cs typeface="Arial"/>
              </a:rPr>
              <a:t>.</a:t>
            </a:r>
            <a:r>
              <a:rPr sz="1200" b="1" spc="-15" dirty="0">
                <a:solidFill>
                  <a:srgbClr val="2A6BAF"/>
                </a:solidFill>
                <a:latin typeface="Arial"/>
                <a:cs typeface="Arial"/>
              </a:rPr>
              <a:t> </a:t>
            </a:r>
            <a:r>
              <a:rPr sz="1200" b="1" dirty="0" err="1">
                <a:solidFill>
                  <a:srgbClr val="2A6BAF"/>
                </a:solidFill>
                <a:latin typeface="Arial"/>
                <a:cs typeface="Arial"/>
              </a:rPr>
              <a:t>Capa</a:t>
            </a:r>
            <a:r>
              <a:rPr sz="1200" b="1" spc="-15" dirty="0">
                <a:solidFill>
                  <a:srgbClr val="2A6BAF"/>
                </a:solidFill>
                <a:latin typeface="Arial"/>
                <a:cs typeface="Arial"/>
              </a:rPr>
              <a:t> </a:t>
            </a:r>
            <a:r>
              <a:rPr sz="1200" b="1" spc="-10" dirty="0" err="1">
                <a:solidFill>
                  <a:srgbClr val="2A6BAF"/>
                </a:solidFill>
                <a:latin typeface="Arial"/>
                <a:cs typeface="Arial"/>
              </a:rPr>
              <a:t>Transacción</a:t>
            </a:r>
            <a:r>
              <a:rPr lang="es-CO" sz="1200" b="1" spc="-10" dirty="0">
                <a:solidFill>
                  <a:srgbClr val="2A6BAF"/>
                </a:solidFill>
                <a:latin typeface="Arial"/>
                <a:cs typeface="Arial"/>
              </a:rPr>
              <a:t>al y de Avance (Naranja):</a:t>
            </a:r>
            <a:endParaRPr sz="1200" dirty="0">
              <a:latin typeface="Arial"/>
              <a:cs typeface="Arial"/>
            </a:endParaRPr>
          </a:p>
          <a:p>
            <a:pPr marL="12700" marR="5080">
              <a:lnSpc>
                <a:spcPct val="126699"/>
              </a:lnSpc>
              <a:spcBef>
                <a:spcPts val="414"/>
              </a:spcBef>
            </a:pPr>
            <a:r>
              <a:rPr lang="es-ES" sz="1100" spc="-10" dirty="0">
                <a:solidFill>
                  <a:srgbClr val="2D3648"/>
                </a:solidFill>
                <a:latin typeface="Arial MT"/>
                <a:cs typeface="Arial MT"/>
              </a:rPr>
              <a:t>INSCRIPCIONES y PROGRESO capturan los eventos dinámicos y la evolución del alumno en tiempo real. Vinculan de forma segura la matrícula con el seguimiento de sus estados de avance.</a:t>
            </a:r>
            <a:endParaRPr sz="1100" dirty="0">
              <a:latin typeface="Arial MT"/>
              <a:cs typeface="Arial MT"/>
            </a:endParaRPr>
          </a:p>
        </p:txBody>
      </p:sp>
      <p:sp>
        <p:nvSpPr>
          <p:cNvPr id="25" name="object 14">
            <a:extLst>
              <a:ext uri="{FF2B5EF4-FFF2-40B4-BE49-F238E27FC236}">
                <a16:creationId xmlns:a16="http://schemas.microsoft.com/office/drawing/2014/main" id="{B0BF10E8-D1C3-447F-949E-7609B070A379}"/>
              </a:ext>
            </a:extLst>
          </p:cNvPr>
          <p:cNvSpPr txBox="1"/>
          <p:nvPr/>
        </p:nvSpPr>
        <p:spPr>
          <a:xfrm>
            <a:off x="5507544" y="3875591"/>
            <a:ext cx="4168000" cy="764248"/>
          </a:xfrm>
          <a:prstGeom prst="rect">
            <a:avLst/>
          </a:prstGeom>
        </p:spPr>
        <p:txBody>
          <a:bodyPr vert="horz" wrap="square" lIns="0" tIns="118745" rIns="0" bIns="0" rtlCol="0">
            <a:spAutoFit/>
          </a:bodyPr>
          <a:lstStyle/>
          <a:p>
            <a:pPr marL="12700">
              <a:lnSpc>
                <a:spcPct val="100000"/>
              </a:lnSpc>
              <a:spcBef>
                <a:spcPts val="935"/>
              </a:spcBef>
            </a:pPr>
            <a:r>
              <a:rPr lang="es-CO" sz="1200" b="1" dirty="0">
                <a:solidFill>
                  <a:srgbClr val="2A6BAF"/>
                </a:solidFill>
                <a:latin typeface="Arial"/>
                <a:cs typeface="Arial"/>
              </a:rPr>
              <a:t>4</a:t>
            </a:r>
            <a:r>
              <a:rPr sz="1200" b="1" dirty="0">
                <a:solidFill>
                  <a:srgbClr val="2A6BAF"/>
                </a:solidFill>
                <a:latin typeface="Arial"/>
                <a:cs typeface="Arial"/>
              </a:rPr>
              <a:t>.</a:t>
            </a:r>
            <a:r>
              <a:rPr sz="1200" b="1" spc="-15" dirty="0">
                <a:solidFill>
                  <a:srgbClr val="2A6BAF"/>
                </a:solidFill>
                <a:latin typeface="Arial"/>
                <a:cs typeface="Arial"/>
              </a:rPr>
              <a:t> </a:t>
            </a:r>
            <a:r>
              <a:rPr lang="es-CO" sz="1200" b="1" spc="-15" dirty="0">
                <a:solidFill>
                  <a:srgbClr val="2A6BAF"/>
                </a:solidFill>
                <a:latin typeface="Arial"/>
                <a:cs typeface="Arial"/>
              </a:rPr>
              <a:t>Capa de Detalle Analítico (Gris):</a:t>
            </a:r>
            <a:endParaRPr sz="1200" dirty="0">
              <a:latin typeface="Arial"/>
              <a:cs typeface="Arial"/>
            </a:endParaRPr>
          </a:p>
          <a:p>
            <a:pPr marL="12700" marR="5080">
              <a:lnSpc>
                <a:spcPct val="126699"/>
              </a:lnSpc>
              <a:spcBef>
                <a:spcPts val="414"/>
              </a:spcBef>
            </a:pPr>
            <a:r>
              <a:rPr lang="es-ES" sz="1100" spc="-10" dirty="0">
                <a:solidFill>
                  <a:srgbClr val="2D3648"/>
                </a:solidFill>
                <a:latin typeface="Arial MT"/>
                <a:cs typeface="Arial MT"/>
              </a:rPr>
              <a:t>PROGRESO almacena la trazabilidad de la actividad y la evolución métrica del alumno en tiempo real.</a:t>
            </a:r>
            <a:endParaRPr sz="1100" dirty="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object 3"/>
          <p:cNvSpPr txBox="1"/>
          <p:nvPr/>
        </p:nvSpPr>
        <p:spPr>
          <a:xfrm>
            <a:off x="887300" y="874066"/>
            <a:ext cx="352552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1</a:t>
            </a:r>
            <a:r>
              <a:rPr sz="1100" b="1" spc="295" dirty="0">
                <a:solidFill>
                  <a:srgbClr val="3182CD"/>
                </a:solidFill>
                <a:latin typeface="Arial"/>
                <a:cs typeface="Arial"/>
              </a:rPr>
              <a:t> </a:t>
            </a:r>
            <a:r>
              <a:rPr sz="1100" b="1" dirty="0">
                <a:solidFill>
                  <a:srgbClr val="3182CD"/>
                </a:solidFill>
                <a:latin typeface="Arial"/>
                <a:cs typeface="Arial"/>
              </a:rPr>
              <a:t>—</a:t>
            </a:r>
            <a:r>
              <a:rPr sz="1100" b="1" spc="29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A</a:t>
            </a:r>
            <a:r>
              <a:rPr sz="1100" b="1" spc="21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D</a:t>
            </a:r>
            <a:r>
              <a:rPr sz="1100" b="1" spc="-160" dirty="0">
                <a:solidFill>
                  <a:srgbClr val="3182CD"/>
                </a:solidFill>
                <a:latin typeface="Arial"/>
                <a:cs typeface="Arial"/>
              </a:rPr>
              <a:t> </a:t>
            </a:r>
            <a:r>
              <a:rPr sz="1100" b="1" spc="-10" dirty="0">
                <a:solidFill>
                  <a:srgbClr val="3182CD"/>
                </a:solidFill>
                <a:latin typeface="Arial"/>
                <a:cs typeface="Arial"/>
              </a:rPr>
              <a:t>É</a:t>
            </a:r>
            <a:r>
              <a:rPr sz="1100" b="1" spc="-16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50" dirty="0">
                <a:solidFill>
                  <a:srgbClr val="3182CD"/>
                </a:solidFill>
                <a:latin typeface="Arial"/>
                <a:cs typeface="Arial"/>
              </a:rPr>
              <a:t>A</a:t>
            </a:r>
            <a:endParaRPr sz="1100" dirty="0">
              <a:latin typeface="Arial"/>
              <a:cs typeface="Arial"/>
            </a:endParaRPr>
          </a:p>
        </p:txBody>
      </p:sp>
      <p:sp>
        <p:nvSpPr>
          <p:cNvPr id="4" name="object 4" descr="$PPTXTitle"/>
          <p:cNvSpPr txBox="1">
            <a:spLocks noGrp="1"/>
          </p:cNvSpPr>
          <p:nvPr>
            <p:ph type="title"/>
          </p:nvPr>
        </p:nvSpPr>
        <p:spPr>
          <a:xfrm>
            <a:off x="887300" y="1104677"/>
            <a:ext cx="7505700" cy="351378"/>
          </a:xfrm>
          <a:prstGeom prst="rect">
            <a:avLst/>
          </a:prstGeom>
        </p:spPr>
        <p:txBody>
          <a:bodyPr vert="horz" wrap="square" lIns="0" tIns="12700" rIns="0" bIns="0" rtlCol="0">
            <a:spAutoFit/>
          </a:bodyPr>
          <a:lstStyle/>
          <a:p>
            <a:pPr marL="12700">
              <a:lnSpc>
                <a:spcPct val="100000"/>
              </a:lnSpc>
              <a:spcBef>
                <a:spcPts val="100"/>
              </a:spcBef>
            </a:pPr>
            <a:r>
              <a:rPr dirty="0"/>
              <a:t>Diccionario</a:t>
            </a:r>
            <a:r>
              <a:rPr spc="-80" dirty="0"/>
              <a:t> </a:t>
            </a:r>
            <a:r>
              <a:rPr dirty="0"/>
              <a:t>de</a:t>
            </a:r>
            <a:r>
              <a:rPr spc="-80" dirty="0"/>
              <a:t> </a:t>
            </a:r>
            <a:r>
              <a:rPr dirty="0"/>
              <a:t>Datos</a:t>
            </a:r>
            <a:r>
              <a:rPr spc="-80" dirty="0"/>
              <a:t> </a:t>
            </a:r>
            <a:r>
              <a:rPr dirty="0"/>
              <a:t>Técnico</a:t>
            </a:r>
            <a:r>
              <a:rPr spc="-80" dirty="0"/>
              <a:t> </a:t>
            </a:r>
            <a:r>
              <a:rPr lang="es-ES" dirty="0"/>
              <a:t>(Capa Central</a:t>
            </a:r>
            <a:r>
              <a:rPr spc="-10" dirty="0"/>
              <a:t>)</a:t>
            </a:r>
          </a:p>
        </p:txBody>
      </p:sp>
      <p:sp>
        <p:nvSpPr>
          <p:cNvPr id="5" name="object 5"/>
          <p:cNvSpPr txBox="1"/>
          <p:nvPr/>
        </p:nvSpPr>
        <p:spPr>
          <a:xfrm>
            <a:off x="887300" y="1782007"/>
            <a:ext cx="8905240" cy="197490"/>
          </a:xfrm>
          <a:prstGeom prst="rect">
            <a:avLst/>
          </a:prstGeom>
        </p:spPr>
        <p:txBody>
          <a:bodyPr vert="horz" wrap="square" lIns="0" tIns="12700" rIns="0" bIns="0" rtlCol="0">
            <a:spAutoFit/>
          </a:bodyPr>
          <a:lstStyle/>
          <a:p>
            <a:pPr marL="12700">
              <a:lnSpc>
                <a:spcPct val="100000"/>
              </a:lnSpc>
              <a:spcBef>
                <a:spcPts val="100"/>
              </a:spcBef>
            </a:pPr>
            <a:r>
              <a:rPr lang="es-ES" sz="1200" dirty="0"/>
              <a:t>Estructuración de campos, tipos de datos nativos de almacenamiento y restricciones de integridad para las identidades maestras:</a:t>
            </a:r>
            <a:endParaRPr sz="1200" dirty="0">
              <a:latin typeface="Arial MT"/>
              <a:cs typeface="Arial MT"/>
            </a:endParaRPr>
          </a:p>
        </p:txBody>
      </p:sp>
      <p:sp>
        <p:nvSpPr>
          <p:cNvPr id="6" name="object 6"/>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7" name="object 7"/>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8</a:t>
            </a:fld>
            <a:endParaRPr spc="-50" dirty="0"/>
          </a:p>
        </p:txBody>
      </p:sp>
      <p:graphicFrame>
        <p:nvGraphicFramePr>
          <p:cNvPr id="11" name="Tabla 10">
            <a:extLst>
              <a:ext uri="{FF2B5EF4-FFF2-40B4-BE49-F238E27FC236}">
                <a16:creationId xmlns:a16="http://schemas.microsoft.com/office/drawing/2014/main" id="{4E28A37D-E60F-4065-8199-00AA0E1F399D}"/>
              </a:ext>
            </a:extLst>
          </p:cNvPr>
          <p:cNvGraphicFramePr>
            <a:graphicFrameLocks noGrp="1"/>
          </p:cNvGraphicFramePr>
          <p:nvPr>
            <p:extLst>
              <p:ext uri="{D42A27DB-BD31-4B8C-83A1-F6EECF244321}">
                <p14:modId xmlns:p14="http://schemas.microsoft.com/office/powerpoint/2010/main" val="1332170924"/>
              </p:ext>
            </p:extLst>
          </p:nvPr>
        </p:nvGraphicFramePr>
        <p:xfrm>
          <a:off x="868102" y="2187577"/>
          <a:ext cx="8924440" cy="3651248"/>
        </p:xfrm>
        <a:graphic>
          <a:graphicData uri="http://schemas.openxmlformats.org/drawingml/2006/table">
            <a:tbl>
              <a:tblPr/>
              <a:tblGrid>
                <a:gridCol w="1811598">
                  <a:extLst>
                    <a:ext uri="{9D8B030D-6E8A-4147-A177-3AD203B41FA5}">
                      <a16:colId xmlns:a16="http://schemas.microsoft.com/office/drawing/2014/main" val="1377027517"/>
                    </a:ext>
                  </a:extLst>
                </a:gridCol>
                <a:gridCol w="1752600">
                  <a:extLst>
                    <a:ext uri="{9D8B030D-6E8A-4147-A177-3AD203B41FA5}">
                      <a16:colId xmlns:a16="http://schemas.microsoft.com/office/drawing/2014/main" val="2934785857"/>
                    </a:ext>
                  </a:extLst>
                </a:gridCol>
                <a:gridCol w="1752600">
                  <a:extLst>
                    <a:ext uri="{9D8B030D-6E8A-4147-A177-3AD203B41FA5}">
                      <a16:colId xmlns:a16="http://schemas.microsoft.com/office/drawing/2014/main" val="873569829"/>
                    </a:ext>
                  </a:extLst>
                </a:gridCol>
                <a:gridCol w="3607642">
                  <a:extLst>
                    <a:ext uri="{9D8B030D-6E8A-4147-A177-3AD203B41FA5}">
                      <a16:colId xmlns:a16="http://schemas.microsoft.com/office/drawing/2014/main" val="2631845928"/>
                    </a:ext>
                  </a:extLst>
                </a:gridCol>
              </a:tblGrid>
              <a:tr h="440084">
                <a:tc>
                  <a:txBody>
                    <a:bodyPr/>
                    <a:lstStyle/>
                    <a:p>
                      <a:pPr rtl="0"/>
                      <a:r>
                        <a:rPr lang="es-CO" sz="1050" b="1" dirty="0">
                          <a:solidFill>
                            <a:srgbClr val="1F1F1F"/>
                          </a:solidFill>
                          <a:effectLst/>
                          <a:latin typeface="Arial" panose="020B0604020202020204" pitchFamily="34" charset="0"/>
                          <a:cs typeface="Arial" panose="020B0604020202020204" pitchFamily="34" charset="0"/>
                        </a:rPr>
                        <a:t>Entidad</a:t>
                      </a:r>
                      <a:endParaRPr lang="es-CO" sz="1050" dirty="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dirty="0">
                          <a:solidFill>
                            <a:srgbClr val="1F1F1F"/>
                          </a:solidFill>
                          <a:effectLst/>
                          <a:latin typeface="Arial" panose="020B0604020202020204" pitchFamily="34" charset="0"/>
                          <a:cs typeface="Arial" panose="020B0604020202020204" pitchFamily="34" charset="0"/>
                        </a:rPr>
                        <a:t>Atributo</a:t>
                      </a:r>
                      <a:endParaRPr lang="es-CO" sz="1050" dirty="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a:solidFill>
                            <a:srgbClr val="1F1F1F"/>
                          </a:solidFill>
                          <a:effectLst/>
                          <a:latin typeface="Arial" panose="020B0604020202020204" pitchFamily="34" charset="0"/>
                          <a:cs typeface="Arial" panose="020B0604020202020204" pitchFamily="34" charset="0"/>
                        </a:rPr>
                        <a:t>Tipo de Dato</a:t>
                      </a:r>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dirty="0">
                          <a:solidFill>
                            <a:srgbClr val="1F1F1F"/>
                          </a:solidFill>
                          <a:effectLst/>
                          <a:latin typeface="Arial" panose="020B0604020202020204" pitchFamily="34" charset="0"/>
                          <a:cs typeface="Arial" panose="020B0604020202020204" pitchFamily="34" charset="0"/>
                        </a:rPr>
                        <a:t>Restricciones / Comportamiento Técnico</a:t>
                      </a:r>
                      <a:endParaRPr lang="es-CO" sz="1050" dirty="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extLst>
                  <a:ext uri="{0D108BD9-81ED-4DB2-BD59-A6C34878D82A}">
                    <a16:rowId xmlns:a16="http://schemas.microsoft.com/office/drawing/2014/main" val="3950107704"/>
                  </a:ext>
                </a:extLst>
              </a:tr>
              <a:tr h="440084">
                <a:tc>
                  <a:txBody>
                    <a:bodyPr/>
                    <a:lstStyle/>
                    <a:p>
                      <a:pPr rtl="0"/>
                      <a:r>
                        <a:rPr lang="es-CO" sz="1050" b="1">
                          <a:solidFill>
                            <a:srgbClr val="1F1F1F"/>
                          </a:solidFill>
                          <a:effectLst/>
                          <a:latin typeface="Arial" panose="020B0604020202020204" pitchFamily="34" charset="0"/>
                          <a:cs typeface="Arial" panose="020B0604020202020204" pitchFamily="34" charset="0"/>
                        </a:rPr>
                        <a:t>ESTUDIANTES</a:t>
                      </a:r>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id_estudiante</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INT AUTO_INCREMENT</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PRIMARY KEY. Identificador único atómico del alumno.</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387910806"/>
                  </a:ext>
                </a:extLst>
              </a:tr>
              <a:tr h="440084">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nombre</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VARCHAR(100)</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NOT NULL. Almacenamiento de identidad completa.</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902112400"/>
                  </a:ext>
                </a:extLst>
              </a:tr>
              <a:tr h="570659">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email</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VARCHAR(150)</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UNIQUE, NOT NULL. Índice único para evitar cuentas duplicadas. </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304834542"/>
                  </a:ext>
                </a:extLst>
              </a:tr>
              <a:tr h="440084">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fecha_registro</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DATE</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NOT NULL. Registro cronológico de alta en la plataforma. </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647966438"/>
                  </a:ext>
                </a:extLst>
              </a:tr>
              <a:tr h="440084">
                <a:tc>
                  <a:txBody>
                    <a:bodyPr/>
                    <a:lstStyle/>
                    <a:p>
                      <a:pPr rtl="0"/>
                      <a:r>
                        <a:rPr lang="es-CO" sz="1050" b="1">
                          <a:solidFill>
                            <a:srgbClr val="1F1F1F"/>
                          </a:solidFill>
                          <a:effectLst/>
                          <a:latin typeface="Arial" panose="020B0604020202020204" pitchFamily="34" charset="0"/>
                          <a:cs typeface="Arial" panose="020B0604020202020204" pitchFamily="34" charset="0"/>
                        </a:rPr>
                        <a:t>DOCENTES</a:t>
                      </a:r>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id_docente</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INT AUTO_INCREMENT</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PRIMARY KEY. Llave de vinculación para asignación de cursos.</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614043570"/>
                  </a:ext>
                </a:extLst>
              </a:tr>
              <a:tr h="570659">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nombre</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VARCHAR(100)</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NOT NULL. Almacenamiento de identidad completa del docente. </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520055455"/>
                  </a:ext>
                </a:extLst>
              </a:tr>
              <a:tr h="309510">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especialidad</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VARCHAR(100)</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Filtro de experticia técnica académica.</a:t>
                      </a:r>
                    </a:p>
                  </a:txBody>
                  <a:tcPr marL="36271" marR="36271" marT="24180" marB="2418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92058795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object 3"/>
          <p:cNvSpPr txBox="1"/>
          <p:nvPr/>
        </p:nvSpPr>
        <p:spPr>
          <a:xfrm>
            <a:off x="887300" y="874066"/>
            <a:ext cx="352552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1</a:t>
            </a:r>
            <a:r>
              <a:rPr sz="1100" b="1" spc="295" dirty="0">
                <a:solidFill>
                  <a:srgbClr val="3182CD"/>
                </a:solidFill>
                <a:latin typeface="Arial"/>
                <a:cs typeface="Arial"/>
              </a:rPr>
              <a:t> </a:t>
            </a:r>
            <a:r>
              <a:rPr sz="1100" b="1" dirty="0">
                <a:solidFill>
                  <a:srgbClr val="3182CD"/>
                </a:solidFill>
                <a:latin typeface="Arial"/>
                <a:cs typeface="Arial"/>
              </a:rPr>
              <a:t>—</a:t>
            </a:r>
            <a:r>
              <a:rPr sz="1100" b="1" spc="29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A</a:t>
            </a:r>
            <a:r>
              <a:rPr sz="1100" b="1" spc="21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D</a:t>
            </a:r>
            <a:r>
              <a:rPr sz="1100" b="1" spc="-160" dirty="0">
                <a:solidFill>
                  <a:srgbClr val="3182CD"/>
                </a:solidFill>
                <a:latin typeface="Arial"/>
                <a:cs typeface="Arial"/>
              </a:rPr>
              <a:t> </a:t>
            </a:r>
            <a:r>
              <a:rPr sz="1100" b="1" spc="-10" dirty="0">
                <a:solidFill>
                  <a:srgbClr val="3182CD"/>
                </a:solidFill>
                <a:latin typeface="Arial"/>
                <a:cs typeface="Arial"/>
              </a:rPr>
              <a:t>É</a:t>
            </a:r>
            <a:r>
              <a:rPr sz="1100" b="1" spc="-16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50" dirty="0">
                <a:solidFill>
                  <a:srgbClr val="3182CD"/>
                </a:solidFill>
                <a:latin typeface="Arial"/>
                <a:cs typeface="Arial"/>
              </a:rPr>
              <a:t>A</a:t>
            </a:r>
            <a:endParaRPr sz="1100">
              <a:latin typeface="Arial"/>
              <a:cs typeface="Arial"/>
            </a:endParaRPr>
          </a:p>
        </p:txBody>
      </p:sp>
      <p:sp>
        <p:nvSpPr>
          <p:cNvPr id="4" name="object 4" descr="$PPTXTitle"/>
          <p:cNvSpPr txBox="1">
            <a:spLocks noGrp="1"/>
          </p:cNvSpPr>
          <p:nvPr>
            <p:ph type="title"/>
          </p:nvPr>
        </p:nvSpPr>
        <p:spPr>
          <a:xfrm>
            <a:off x="887300" y="1104677"/>
            <a:ext cx="8193200" cy="351378"/>
          </a:xfrm>
          <a:prstGeom prst="rect">
            <a:avLst/>
          </a:prstGeom>
        </p:spPr>
        <p:txBody>
          <a:bodyPr vert="horz" wrap="square" lIns="0" tIns="12700" rIns="0" bIns="0" rtlCol="0">
            <a:spAutoFit/>
          </a:bodyPr>
          <a:lstStyle/>
          <a:p>
            <a:pPr marL="12700">
              <a:lnSpc>
                <a:spcPct val="100000"/>
              </a:lnSpc>
              <a:spcBef>
                <a:spcPts val="100"/>
              </a:spcBef>
            </a:pPr>
            <a:r>
              <a:rPr dirty="0"/>
              <a:t>Diccionario</a:t>
            </a:r>
            <a:r>
              <a:rPr spc="-80" dirty="0"/>
              <a:t> </a:t>
            </a:r>
            <a:r>
              <a:rPr dirty="0"/>
              <a:t>de</a:t>
            </a:r>
            <a:r>
              <a:rPr spc="-80" dirty="0"/>
              <a:t> </a:t>
            </a:r>
            <a:r>
              <a:rPr dirty="0"/>
              <a:t>Datos</a:t>
            </a:r>
            <a:r>
              <a:rPr spc="-80" dirty="0"/>
              <a:t> </a:t>
            </a:r>
            <a:r>
              <a:rPr dirty="0"/>
              <a:t>Técnico</a:t>
            </a:r>
            <a:r>
              <a:rPr spc="-80" dirty="0"/>
              <a:t> </a:t>
            </a:r>
            <a:r>
              <a:rPr lang="es-ES" dirty="0"/>
              <a:t>(Capa Catálogo)</a:t>
            </a:r>
            <a:endParaRPr spc="-10" dirty="0"/>
          </a:p>
        </p:txBody>
      </p:sp>
      <p:sp>
        <p:nvSpPr>
          <p:cNvPr id="5" name="object 5"/>
          <p:cNvSpPr txBox="1"/>
          <p:nvPr/>
        </p:nvSpPr>
        <p:spPr>
          <a:xfrm>
            <a:off x="887300" y="1792276"/>
            <a:ext cx="8905240" cy="197490"/>
          </a:xfrm>
          <a:prstGeom prst="rect">
            <a:avLst/>
          </a:prstGeom>
        </p:spPr>
        <p:txBody>
          <a:bodyPr vert="horz" wrap="square" lIns="0" tIns="12700" rIns="0" bIns="0" rtlCol="0">
            <a:spAutoFit/>
          </a:bodyPr>
          <a:lstStyle/>
          <a:p>
            <a:pPr marL="12700" algn="just">
              <a:lnSpc>
                <a:spcPct val="100000"/>
              </a:lnSpc>
              <a:spcBef>
                <a:spcPts val="100"/>
              </a:spcBef>
            </a:pPr>
            <a:r>
              <a:rPr lang="es-ES" sz="1200" dirty="0"/>
              <a:t>Estructuración de campos y llaves foráneas para el catálogo de la oferta educativa:</a:t>
            </a:r>
            <a:endParaRPr sz="1200" dirty="0">
              <a:latin typeface="Arial MT"/>
              <a:cs typeface="Arial MT"/>
            </a:endParaRPr>
          </a:p>
        </p:txBody>
      </p:sp>
      <p:sp>
        <p:nvSpPr>
          <p:cNvPr id="6" name="object 6"/>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7" name="object 7"/>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9</a:t>
            </a:fld>
            <a:endParaRPr spc="-50" dirty="0"/>
          </a:p>
        </p:txBody>
      </p:sp>
      <p:graphicFrame>
        <p:nvGraphicFramePr>
          <p:cNvPr id="10" name="Tabla 9">
            <a:extLst>
              <a:ext uri="{FF2B5EF4-FFF2-40B4-BE49-F238E27FC236}">
                <a16:creationId xmlns:a16="http://schemas.microsoft.com/office/drawing/2014/main" id="{68C98F14-99AE-4E99-B171-771FA0AF92DA}"/>
              </a:ext>
            </a:extLst>
          </p:cNvPr>
          <p:cNvGraphicFramePr>
            <a:graphicFrameLocks noGrp="1"/>
          </p:cNvGraphicFramePr>
          <p:nvPr>
            <p:extLst>
              <p:ext uri="{D42A27DB-BD31-4B8C-83A1-F6EECF244321}">
                <p14:modId xmlns:p14="http://schemas.microsoft.com/office/powerpoint/2010/main" val="525735297"/>
              </p:ext>
            </p:extLst>
          </p:nvPr>
        </p:nvGraphicFramePr>
        <p:xfrm>
          <a:off x="871942" y="2181225"/>
          <a:ext cx="8920600" cy="3651250"/>
        </p:xfrm>
        <a:graphic>
          <a:graphicData uri="http://schemas.openxmlformats.org/drawingml/2006/table">
            <a:tbl>
              <a:tblPr/>
              <a:tblGrid>
                <a:gridCol w="1807758">
                  <a:extLst>
                    <a:ext uri="{9D8B030D-6E8A-4147-A177-3AD203B41FA5}">
                      <a16:colId xmlns:a16="http://schemas.microsoft.com/office/drawing/2014/main" val="2824718464"/>
                    </a:ext>
                  </a:extLst>
                </a:gridCol>
                <a:gridCol w="1752600">
                  <a:extLst>
                    <a:ext uri="{9D8B030D-6E8A-4147-A177-3AD203B41FA5}">
                      <a16:colId xmlns:a16="http://schemas.microsoft.com/office/drawing/2014/main" val="549178166"/>
                    </a:ext>
                  </a:extLst>
                </a:gridCol>
                <a:gridCol w="1752600">
                  <a:extLst>
                    <a:ext uri="{9D8B030D-6E8A-4147-A177-3AD203B41FA5}">
                      <a16:colId xmlns:a16="http://schemas.microsoft.com/office/drawing/2014/main" val="357630130"/>
                    </a:ext>
                  </a:extLst>
                </a:gridCol>
                <a:gridCol w="3607642">
                  <a:extLst>
                    <a:ext uri="{9D8B030D-6E8A-4147-A177-3AD203B41FA5}">
                      <a16:colId xmlns:a16="http://schemas.microsoft.com/office/drawing/2014/main" val="3479846336"/>
                    </a:ext>
                  </a:extLst>
                </a:gridCol>
              </a:tblGrid>
              <a:tr h="380600">
                <a:tc>
                  <a:txBody>
                    <a:bodyPr/>
                    <a:lstStyle/>
                    <a:p>
                      <a:pPr rtl="0"/>
                      <a:r>
                        <a:rPr lang="es-CO" sz="1050" b="1">
                          <a:solidFill>
                            <a:srgbClr val="1F1F1F"/>
                          </a:solidFill>
                          <a:effectLst/>
                          <a:latin typeface="Arial" panose="020B0604020202020204" pitchFamily="34" charset="0"/>
                          <a:cs typeface="Arial" panose="020B0604020202020204" pitchFamily="34" charset="0"/>
                        </a:rPr>
                        <a:t>Entidad</a:t>
                      </a:r>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a:solidFill>
                            <a:srgbClr val="1F1F1F"/>
                          </a:solidFill>
                          <a:effectLst/>
                          <a:latin typeface="Arial" panose="020B0604020202020204" pitchFamily="34" charset="0"/>
                          <a:cs typeface="Arial" panose="020B0604020202020204" pitchFamily="34" charset="0"/>
                        </a:rPr>
                        <a:t>Atributo</a:t>
                      </a:r>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a:solidFill>
                            <a:srgbClr val="1F1F1F"/>
                          </a:solidFill>
                          <a:effectLst/>
                          <a:latin typeface="Arial" panose="020B0604020202020204" pitchFamily="34" charset="0"/>
                          <a:cs typeface="Arial" panose="020B0604020202020204" pitchFamily="34" charset="0"/>
                        </a:rPr>
                        <a:t>Tipo de Dato</a:t>
                      </a:r>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dirty="0">
                          <a:solidFill>
                            <a:srgbClr val="1F1F1F"/>
                          </a:solidFill>
                          <a:effectLst/>
                          <a:latin typeface="Arial" panose="020B0604020202020204" pitchFamily="34" charset="0"/>
                          <a:cs typeface="Arial" panose="020B0604020202020204" pitchFamily="34" charset="0"/>
                        </a:rPr>
                        <a:t>Restricciones / Comportamiento Técnico</a:t>
                      </a:r>
                      <a:endParaRPr lang="es-CO" sz="1050" dirty="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extLst>
                  <a:ext uri="{0D108BD9-81ED-4DB2-BD59-A6C34878D82A}">
                    <a16:rowId xmlns:a16="http://schemas.microsoft.com/office/drawing/2014/main" val="1371938411"/>
                  </a:ext>
                </a:extLst>
              </a:tr>
              <a:tr h="493525">
                <a:tc>
                  <a:txBody>
                    <a:bodyPr/>
                    <a:lstStyle/>
                    <a:p>
                      <a:pPr rtl="0"/>
                      <a:r>
                        <a:rPr lang="es-CO" sz="1050" b="1">
                          <a:solidFill>
                            <a:srgbClr val="1F1F1F"/>
                          </a:solidFill>
                          <a:effectLst/>
                          <a:latin typeface="Arial" panose="020B0604020202020204" pitchFamily="34" charset="0"/>
                          <a:cs typeface="Arial" panose="020B0604020202020204" pitchFamily="34" charset="0"/>
                        </a:rPr>
                        <a:t>CURSOS</a:t>
                      </a:r>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id_curso</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INT AUTO_INCREMENT</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PRIMARY KEY. Identificador de la oferta académica modular.</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181692105"/>
                  </a:ext>
                </a:extLst>
              </a:tr>
              <a:tr h="380600">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nombre_curso</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VARCHAR(200)</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NOT NULL. Título oficial del programa académico. </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802698200"/>
                  </a:ext>
                </a:extLst>
              </a:tr>
              <a:tr h="380600">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descripcion</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TEXT</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Detalle de objetivos, contenidos y alcance del curso. </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834450735"/>
                  </a:ext>
                </a:extLst>
              </a:tr>
              <a:tr h="380600">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id_docente</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INT</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FOREIGN KEY referenciando a la tabla DOCENTES.</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972266616"/>
                  </a:ext>
                </a:extLst>
              </a:tr>
              <a:tr h="493525">
                <a:tc>
                  <a:txBody>
                    <a:bodyPr/>
                    <a:lstStyle/>
                    <a:p>
                      <a:pPr rtl="0"/>
                      <a:r>
                        <a:rPr lang="es-CO" sz="1050" b="1">
                          <a:solidFill>
                            <a:srgbClr val="1F1F1F"/>
                          </a:solidFill>
                          <a:effectLst/>
                          <a:latin typeface="Arial" panose="020B0604020202020204" pitchFamily="34" charset="0"/>
                          <a:cs typeface="Arial" panose="020B0604020202020204" pitchFamily="34" charset="0"/>
                        </a:rPr>
                        <a:t>MODULOS</a:t>
                      </a:r>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id_modulo</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INT AUTO_INCREMENT</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PRIMARY KEY. Identificador de la unidad temática específica. </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536114793"/>
                  </a:ext>
                </a:extLst>
              </a:tr>
              <a:tr h="380600">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id_curso</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INT</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a:solidFill>
                            <a:srgbClr val="1F1F1F"/>
                          </a:solidFill>
                          <a:effectLst/>
                          <a:latin typeface="Arial" panose="020B0604020202020204" pitchFamily="34" charset="0"/>
                          <a:cs typeface="Arial" panose="020B0604020202020204" pitchFamily="34" charset="0"/>
                        </a:rPr>
                        <a:t>FOREIGN KEY referenciando a la tabla CURSOS. </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171143375"/>
                  </a:ext>
                </a:extLst>
              </a:tr>
              <a:tr h="380600">
                <a:tc>
                  <a:txBody>
                    <a:bodyPr/>
                    <a:lstStyle/>
                    <a:p>
                      <a:pPr rtl="0"/>
                      <a:endParaRPr lang="es-CO" sz="105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nombre_modulo</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VARCHAR(200)</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NOT NULL. Título estructurado del módulo educativo. </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261170461"/>
                  </a:ext>
                </a:extLst>
              </a:tr>
              <a:tr h="380600">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contenido</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CO" sz="1050">
                          <a:solidFill>
                            <a:srgbClr val="1F1F1F"/>
                          </a:solidFill>
                          <a:effectLst/>
                          <a:latin typeface="Arial" panose="020B0604020202020204" pitchFamily="34" charset="0"/>
                          <a:cs typeface="Arial" panose="020B0604020202020204" pitchFamily="34" charset="0"/>
                        </a:rPr>
                        <a:t>TEXT</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tc>
                  <a:txBody>
                    <a:bodyPr/>
                    <a:lstStyle/>
                    <a:p>
                      <a:pPr rtl="0"/>
                      <a:r>
                        <a:rPr lang="es-ES" sz="1050" dirty="0">
                          <a:solidFill>
                            <a:srgbClr val="1F1F1F"/>
                          </a:solidFill>
                          <a:effectLst/>
                          <a:latin typeface="Arial" panose="020B0604020202020204" pitchFamily="34" charset="0"/>
                          <a:cs typeface="Arial" panose="020B0604020202020204" pitchFamily="34" charset="0"/>
                        </a:rPr>
                        <a:t>Recursos didácticos, guías o descripción del módulo. </a:t>
                      </a:r>
                    </a:p>
                  </a:txBody>
                  <a:tcPr marL="31368" marR="31368" marT="20912" marB="209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186446056"/>
                  </a:ext>
                </a:extLst>
              </a:tr>
            </a:tbl>
          </a:graphicData>
        </a:graphic>
      </p:graphicFrame>
    </p:spTree>
    <p:extLst>
      <p:ext uri="{BB962C8B-B14F-4D97-AF65-F5344CB8AC3E}">
        <p14:creationId xmlns:p14="http://schemas.microsoft.com/office/powerpoint/2010/main" val="2988393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object 3"/>
          <p:cNvSpPr txBox="1"/>
          <p:nvPr/>
        </p:nvSpPr>
        <p:spPr>
          <a:xfrm>
            <a:off x="887300" y="874066"/>
            <a:ext cx="352552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1</a:t>
            </a:r>
            <a:r>
              <a:rPr sz="1100" b="1" spc="295" dirty="0">
                <a:solidFill>
                  <a:srgbClr val="3182CD"/>
                </a:solidFill>
                <a:latin typeface="Arial"/>
                <a:cs typeface="Arial"/>
              </a:rPr>
              <a:t> </a:t>
            </a:r>
            <a:r>
              <a:rPr sz="1100" b="1" dirty="0">
                <a:solidFill>
                  <a:srgbClr val="3182CD"/>
                </a:solidFill>
                <a:latin typeface="Arial"/>
                <a:cs typeface="Arial"/>
              </a:rPr>
              <a:t>—</a:t>
            </a:r>
            <a:r>
              <a:rPr sz="1100" b="1" spc="29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T</a:t>
            </a:r>
            <a:r>
              <a:rPr sz="1100" b="1" spc="-160" dirty="0">
                <a:solidFill>
                  <a:srgbClr val="3182CD"/>
                </a:solidFill>
                <a:latin typeface="Arial"/>
                <a:cs typeface="Arial"/>
              </a:rPr>
              <a:t> </a:t>
            </a:r>
            <a:r>
              <a:rPr sz="1100" b="1" spc="-10" dirty="0">
                <a:solidFill>
                  <a:srgbClr val="3182CD"/>
                </a:solidFill>
                <a:latin typeface="Arial"/>
                <a:cs typeface="Arial"/>
              </a:rPr>
              <a:t>U</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A</a:t>
            </a:r>
            <a:r>
              <a:rPr sz="1100" b="1" spc="21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D</a:t>
            </a:r>
            <a:r>
              <a:rPr sz="1100" b="1" spc="-160" dirty="0">
                <a:solidFill>
                  <a:srgbClr val="3182CD"/>
                </a:solidFill>
                <a:latin typeface="Arial"/>
                <a:cs typeface="Arial"/>
              </a:rPr>
              <a:t> </a:t>
            </a:r>
            <a:r>
              <a:rPr sz="1100" b="1" spc="-10" dirty="0">
                <a:solidFill>
                  <a:srgbClr val="3182CD"/>
                </a:solidFill>
                <a:latin typeface="Arial"/>
                <a:cs typeface="Arial"/>
              </a:rPr>
              <a:t>É</a:t>
            </a:r>
            <a:r>
              <a:rPr sz="1100" b="1" spc="-16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50" dirty="0">
                <a:solidFill>
                  <a:srgbClr val="3182CD"/>
                </a:solidFill>
                <a:latin typeface="Arial"/>
                <a:cs typeface="Arial"/>
              </a:rPr>
              <a:t>A</a:t>
            </a:r>
            <a:endParaRPr sz="1100">
              <a:latin typeface="Arial"/>
              <a:cs typeface="Arial"/>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Diccionario</a:t>
            </a:r>
            <a:r>
              <a:rPr spc="-80" dirty="0"/>
              <a:t> </a:t>
            </a:r>
            <a:r>
              <a:rPr dirty="0"/>
              <a:t>de</a:t>
            </a:r>
            <a:r>
              <a:rPr spc="-80" dirty="0"/>
              <a:t> </a:t>
            </a:r>
            <a:r>
              <a:rPr dirty="0"/>
              <a:t>Datos</a:t>
            </a:r>
            <a:r>
              <a:rPr spc="-80" dirty="0"/>
              <a:t> </a:t>
            </a:r>
            <a:r>
              <a:rPr dirty="0"/>
              <a:t>(Capa</a:t>
            </a:r>
            <a:r>
              <a:rPr spc="-75" dirty="0"/>
              <a:t> </a:t>
            </a:r>
            <a:r>
              <a:rPr spc="-10" dirty="0"/>
              <a:t>Transaccional</a:t>
            </a:r>
            <a:r>
              <a:rPr spc="-80" dirty="0"/>
              <a:t> </a:t>
            </a:r>
            <a:r>
              <a:rPr dirty="0"/>
              <a:t>y</a:t>
            </a:r>
            <a:r>
              <a:rPr spc="-155" dirty="0"/>
              <a:t> </a:t>
            </a:r>
            <a:r>
              <a:rPr spc="-10" dirty="0"/>
              <a:t>Avance)</a:t>
            </a:r>
          </a:p>
        </p:txBody>
      </p:sp>
      <p:sp>
        <p:nvSpPr>
          <p:cNvPr id="5" name="object 5"/>
          <p:cNvSpPr txBox="1"/>
          <p:nvPr/>
        </p:nvSpPr>
        <p:spPr>
          <a:xfrm>
            <a:off x="887300" y="1782007"/>
            <a:ext cx="6658609" cy="197490"/>
          </a:xfrm>
          <a:prstGeom prst="rect">
            <a:avLst/>
          </a:prstGeom>
        </p:spPr>
        <p:txBody>
          <a:bodyPr vert="horz" wrap="square" lIns="0" tIns="12700" rIns="0" bIns="0" rtlCol="0">
            <a:spAutoFit/>
          </a:bodyPr>
          <a:lstStyle/>
          <a:p>
            <a:pPr marL="12700">
              <a:lnSpc>
                <a:spcPct val="100000"/>
              </a:lnSpc>
              <a:spcBef>
                <a:spcPts val="100"/>
              </a:spcBef>
            </a:pPr>
            <a:r>
              <a:rPr lang="es-ES" sz="1200" dirty="0"/>
              <a:t>Estructuración de campos dinámicos y restricciones CHECK de dominio controlado:</a:t>
            </a:r>
            <a:endParaRPr sz="1200" dirty="0">
              <a:latin typeface="Arial MT"/>
              <a:cs typeface="Arial MT"/>
            </a:endParaRPr>
          </a:p>
        </p:txBody>
      </p:sp>
      <p:sp>
        <p:nvSpPr>
          <p:cNvPr id="6" name="object 6"/>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7" name="object 7"/>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10</a:t>
            </a:fld>
            <a:endParaRPr spc="-50" dirty="0"/>
          </a:p>
        </p:txBody>
      </p:sp>
      <p:graphicFrame>
        <p:nvGraphicFramePr>
          <p:cNvPr id="9" name="Tabla 8">
            <a:extLst>
              <a:ext uri="{FF2B5EF4-FFF2-40B4-BE49-F238E27FC236}">
                <a16:creationId xmlns:a16="http://schemas.microsoft.com/office/drawing/2014/main" id="{E9C6F9E0-B8CB-4C55-8CDB-768DDA8AF3F3}"/>
              </a:ext>
            </a:extLst>
          </p:cNvPr>
          <p:cNvGraphicFramePr>
            <a:graphicFrameLocks noGrp="1"/>
          </p:cNvGraphicFramePr>
          <p:nvPr>
            <p:extLst>
              <p:ext uri="{D42A27DB-BD31-4B8C-83A1-F6EECF244321}">
                <p14:modId xmlns:p14="http://schemas.microsoft.com/office/powerpoint/2010/main" val="764234590"/>
              </p:ext>
            </p:extLst>
          </p:nvPr>
        </p:nvGraphicFramePr>
        <p:xfrm>
          <a:off x="887299" y="2181225"/>
          <a:ext cx="8883648" cy="3804044"/>
        </p:xfrm>
        <a:graphic>
          <a:graphicData uri="http://schemas.openxmlformats.org/drawingml/2006/table">
            <a:tbl>
              <a:tblPr/>
              <a:tblGrid>
                <a:gridCol w="1792401">
                  <a:extLst>
                    <a:ext uri="{9D8B030D-6E8A-4147-A177-3AD203B41FA5}">
                      <a16:colId xmlns:a16="http://schemas.microsoft.com/office/drawing/2014/main" val="488602945"/>
                    </a:ext>
                  </a:extLst>
                </a:gridCol>
                <a:gridCol w="1752600">
                  <a:extLst>
                    <a:ext uri="{9D8B030D-6E8A-4147-A177-3AD203B41FA5}">
                      <a16:colId xmlns:a16="http://schemas.microsoft.com/office/drawing/2014/main" val="1433225484"/>
                    </a:ext>
                  </a:extLst>
                </a:gridCol>
                <a:gridCol w="1828800">
                  <a:extLst>
                    <a:ext uri="{9D8B030D-6E8A-4147-A177-3AD203B41FA5}">
                      <a16:colId xmlns:a16="http://schemas.microsoft.com/office/drawing/2014/main" val="4073547518"/>
                    </a:ext>
                  </a:extLst>
                </a:gridCol>
                <a:gridCol w="3509847">
                  <a:extLst>
                    <a:ext uri="{9D8B030D-6E8A-4147-A177-3AD203B41FA5}">
                      <a16:colId xmlns:a16="http://schemas.microsoft.com/office/drawing/2014/main" val="4205375547"/>
                    </a:ext>
                  </a:extLst>
                </a:gridCol>
              </a:tblGrid>
              <a:tr h="302333">
                <a:tc>
                  <a:txBody>
                    <a:bodyPr/>
                    <a:lstStyle/>
                    <a:p>
                      <a:pPr rtl="0"/>
                      <a:r>
                        <a:rPr lang="es-CO" sz="1050" b="1" dirty="0">
                          <a:solidFill>
                            <a:srgbClr val="1F1F1F"/>
                          </a:solidFill>
                          <a:effectLst/>
                          <a:latin typeface="Arial" panose="020B0604020202020204" pitchFamily="34" charset="0"/>
                          <a:cs typeface="Arial" panose="020B0604020202020204" pitchFamily="34" charset="0"/>
                        </a:rPr>
                        <a:t>Entidad</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dirty="0">
                          <a:solidFill>
                            <a:srgbClr val="1F1F1F"/>
                          </a:solidFill>
                          <a:effectLst/>
                          <a:latin typeface="Arial" panose="020B0604020202020204" pitchFamily="34" charset="0"/>
                          <a:cs typeface="Arial" panose="020B0604020202020204" pitchFamily="34" charset="0"/>
                        </a:rPr>
                        <a:t>Atributo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dirty="0">
                          <a:solidFill>
                            <a:srgbClr val="1F1F1F"/>
                          </a:solidFill>
                          <a:effectLst/>
                          <a:latin typeface="Arial" panose="020B0604020202020204" pitchFamily="34" charset="0"/>
                          <a:cs typeface="Arial" panose="020B0604020202020204" pitchFamily="34" charset="0"/>
                        </a:rPr>
                        <a:t>Tipo de Dato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tc>
                  <a:txBody>
                    <a:bodyPr/>
                    <a:lstStyle/>
                    <a:p>
                      <a:pPr rtl="0"/>
                      <a:r>
                        <a:rPr lang="es-CO" sz="1050" b="1" dirty="0">
                          <a:solidFill>
                            <a:srgbClr val="1F1F1F"/>
                          </a:solidFill>
                          <a:effectLst/>
                          <a:latin typeface="Arial" panose="020B0604020202020204" pitchFamily="34" charset="0"/>
                          <a:cs typeface="Arial" panose="020B0604020202020204" pitchFamily="34" charset="0"/>
                        </a:rPr>
                        <a:t>Restricciones / Comportamiento Técnico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rgbClr val="EBF7FF"/>
                    </a:solidFill>
                  </a:tcPr>
                </a:tc>
                <a:extLst>
                  <a:ext uri="{0D108BD9-81ED-4DB2-BD59-A6C34878D82A}">
                    <a16:rowId xmlns:a16="http://schemas.microsoft.com/office/drawing/2014/main" val="3500364027"/>
                  </a:ext>
                </a:extLst>
              </a:tr>
              <a:tr h="302333">
                <a:tc>
                  <a:txBody>
                    <a:bodyPr/>
                    <a:lstStyle/>
                    <a:p>
                      <a:pPr rtl="0"/>
                      <a:r>
                        <a:rPr lang="es-CO" sz="1050" b="1" dirty="0">
                          <a:solidFill>
                            <a:srgbClr val="1F1F1F"/>
                          </a:solidFill>
                          <a:effectLst/>
                          <a:latin typeface="Arial" panose="020B0604020202020204" pitchFamily="34" charset="0"/>
                          <a:cs typeface="Arial" panose="020B0604020202020204" pitchFamily="34" charset="0"/>
                        </a:rPr>
                        <a:t>INSCRIPCIONES</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id_inscripcion</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INT AUTO_INCREMENT</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PRIMARY KEY. Control operativo de cada matrícula académica.</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3119566527"/>
                  </a:ext>
                </a:extLst>
              </a:tr>
              <a:tr h="302333">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id_estudiante</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INT</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ES" sz="1050">
                          <a:solidFill>
                            <a:srgbClr val="1F1F1F"/>
                          </a:solidFill>
                          <a:effectLst/>
                          <a:latin typeface="Arial" panose="020B0604020202020204" pitchFamily="34" charset="0"/>
                          <a:cs typeface="Arial" panose="020B0604020202020204" pitchFamily="34" charset="0"/>
                        </a:rPr>
                        <a:t>FOREIGN KEY. Aplica restricción RESTRICT ante borrados.</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1876513980"/>
                  </a:ext>
                </a:extLst>
              </a:tr>
              <a:tr h="302333">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id_curso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INT</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ES" sz="1050">
                          <a:solidFill>
                            <a:srgbClr val="1F1F1F"/>
                          </a:solidFill>
                          <a:effectLst/>
                          <a:latin typeface="Arial" panose="020B0604020202020204" pitchFamily="34" charset="0"/>
                          <a:cs typeface="Arial" panose="020B0604020202020204" pitchFamily="34" charset="0"/>
                        </a:rPr>
                        <a:t>FOREIGN KEY. Aplica restricción RESTRICT ante borrados.</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2464655746"/>
                  </a:ext>
                </a:extLst>
              </a:tr>
              <a:tr h="302333">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fecha_inscripcion</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DATE</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ES" sz="1050">
                          <a:solidFill>
                            <a:srgbClr val="1F1F1F"/>
                          </a:solidFill>
                          <a:effectLst/>
                          <a:latin typeface="Arial" panose="020B0604020202020204" pitchFamily="34" charset="0"/>
                          <a:cs typeface="Arial" panose="020B0604020202020204" pitchFamily="34" charset="0"/>
                        </a:rPr>
                        <a:t>Default NOW(). Registro cronológico de la transacción.</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3464082848"/>
                  </a:ext>
                </a:extLst>
              </a:tr>
              <a:tr h="392036">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estado</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VARCHAR(20)</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CHECK. Limitado a estados de la matrícula (Activa / Inactiva). </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1855027557"/>
                  </a:ext>
                </a:extLst>
              </a:tr>
              <a:tr h="392036">
                <a:tc>
                  <a:txBody>
                    <a:bodyPr/>
                    <a:lstStyle/>
                    <a:p>
                      <a:pPr rtl="0"/>
                      <a:r>
                        <a:rPr lang="es-CO" sz="1050" b="1" dirty="0">
                          <a:solidFill>
                            <a:srgbClr val="1F1F1F"/>
                          </a:solidFill>
                          <a:effectLst/>
                          <a:latin typeface="Arial" panose="020B0604020202020204" pitchFamily="34" charset="0"/>
                          <a:cs typeface="Arial" panose="020B0604020202020204" pitchFamily="34" charset="0"/>
                        </a:rPr>
                        <a:t>PROGRESO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id_progreso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INT AUTO_INCREMENT</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ES" sz="1050">
                          <a:solidFill>
                            <a:srgbClr val="1F1F1F"/>
                          </a:solidFill>
                          <a:effectLst/>
                          <a:latin typeface="Arial" panose="020B0604020202020204" pitchFamily="34" charset="0"/>
                          <a:cs typeface="Arial" panose="020B0604020202020204" pitchFamily="34" charset="0"/>
                        </a:rPr>
                        <a:t>PRIMARY KEY. Trazabilidad granular de avances en tiempo real.</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481018472"/>
                  </a:ext>
                </a:extLst>
              </a:tr>
              <a:tr h="481739">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id_inscripción</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INT</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ES" sz="1050" b="1">
                          <a:solidFill>
                            <a:srgbClr val="1F1F1F"/>
                          </a:solidFill>
                          <a:effectLst/>
                          <a:latin typeface="Arial" panose="020B0604020202020204" pitchFamily="34" charset="0"/>
                          <a:cs typeface="Arial" panose="020B0604020202020204" pitchFamily="34" charset="0"/>
                        </a:rPr>
                        <a:t>FOREIGN KEY</a:t>
                      </a:r>
                      <a:r>
                        <a:rPr lang="es-ES" sz="1050">
                          <a:solidFill>
                            <a:srgbClr val="1F1F1F"/>
                          </a:solidFill>
                          <a:effectLst/>
                          <a:latin typeface="Arial" panose="020B0604020202020204" pitchFamily="34" charset="0"/>
                          <a:cs typeface="Arial" panose="020B0604020202020204" pitchFamily="34" charset="0"/>
                        </a:rPr>
                        <a:t>. Vinculación directa con la matrícula (Matriz de automatización).</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2351826275"/>
                  </a:ext>
                </a:extLst>
              </a:tr>
              <a:tr h="392036">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err="1">
                          <a:solidFill>
                            <a:srgbClr val="1F1F1F"/>
                          </a:solidFill>
                          <a:effectLst/>
                          <a:latin typeface="Arial" panose="020B0604020202020204" pitchFamily="34" charset="0"/>
                          <a:cs typeface="Arial" panose="020B0604020202020204" pitchFamily="34" charset="0"/>
                        </a:rPr>
                        <a:t>porcentaje_progreso</a:t>
                      </a:r>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DECIMAL(5,2)</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CONSTRAINT chk_porcentaje CHECK (valores entre 0.00 y 100.00).</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3335608717"/>
                  </a:ext>
                </a:extLst>
              </a:tr>
              <a:tr h="481739">
                <a:tc>
                  <a:txBody>
                    <a:bodyPr/>
                    <a:lstStyle/>
                    <a:p>
                      <a:pPr rtl="0"/>
                      <a:endParaRPr lang="es-CO" sz="1050" dirty="0">
                        <a:solidFill>
                          <a:srgbClr val="1F1F1F"/>
                        </a:solidFill>
                        <a:effectLst/>
                        <a:latin typeface="Arial" panose="020B0604020202020204" pitchFamily="34" charset="0"/>
                        <a:cs typeface="Arial" panose="020B0604020202020204" pitchFamily="34" charset="0"/>
                      </a:endParaRP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estado</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a:solidFill>
                            <a:srgbClr val="1F1F1F"/>
                          </a:solidFill>
                          <a:effectLst/>
                          <a:latin typeface="Arial" panose="020B0604020202020204" pitchFamily="34" charset="0"/>
                          <a:cs typeface="Arial" panose="020B0604020202020204" pitchFamily="34" charset="0"/>
                        </a:rPr>
                        <a:t>VARCHAR(20)</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tc>
                  <a:txBody>
                    <a:bodyPr/>
                    <a:lstStyle/>
                    <a:p>
                      <a:pPr rtl="0"/>
                      <a:r>
                        <a:rPr lang="es-CO" sz="1050" dirty="0">
                          <a:solidFill>
                            <a:srgbClr val="1F1F1F"/>
                          </a:solidFill>
                          <a:effectLst/>
                          <a:latin typeface="Arial" panose="020B0604020202020204" pitchFamily="34" charset="0"/>
                          <a:cs typeface="Arial" panose="020B0604020202020204" pitchFamily="34" charset="0"/>
                        </a:rPr>
                        <a:t>CONSTRAINT </a:t>
                      </a:r>
                      <a:r>
                        <a:rPr lang="es-CO" sz="1050" dirty="0" err="1">
                          <a:solidFill>
                            <a:srgbClr val="1F1F1F"/>
                          </a:solidFill>
                          <a:effectLst/>
                          <a:latin typeface="Arial" panose="020B0604020202020204" pitchFamily="34" charset="0"/>
                          <a:cs typeface="Arial" panose="020B0604020202020204" pitchFamily="34" charset="0"/>
                        </a:rPr>
                        <a:t>chk_estado</a:t>
                      </a:r>
                      <a:r>
                        <a:rPr lang="es-CO" sz="1050" dirty="0">
                          <a:solidFill>
                            <a:srgbClr val="1F1F1F"/>
                          </a:solidFill>
                          <a:effectLst/>
                          <a:latin typeface="Arial" panose="020B0604020202020204" pitchFamily="34" charset="0"/>
                          <a:cs typeface="Arial" panose="020B0604020202020204" pitchFamily="34" charset="0"/>
                        </a:rPr>
                        <a:t> CHECK (Limitado a: 'No iniciado', 'En curso', 'Completado').</a:t>
                      </a:r>
                    </a:p>
                  </a:txBody>
                  <a:tcPr marL="24918" marR="24918" marT="16612" marB="16612"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bg1"/>
                    </a:solidFill>
                  </a:tcPr>
                </a:tc>
                <a:extLst>
                  <a:ext uri="{0D108BD9-81ED-4DB2-BD59-A6C34878D82A}">
                    <a16:rowId xmlns:a16="http://schemas.microsoft.com/office/drawing/2014/main" val="47622827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73543" y="2131660"/>
            <a:ext cx="4314190" cy="223520"/>
          </a:xfrm>
          <a:prstGeom prst="rect">
            <a:avLst/>
          </a:prstGeom>
        </p:spPr>
        <p:txBody>
          <a:bodyPr vert="horz" wrap="square" lIns="0" tIns="12700" rIns="0" bIns="0" rtlCol="0">
            <a:spAutoFit/>
          </a:bodyPr>
          <a:lstStyle/>
          <a:p>
            <a:pPr marL="12700">
              <a:lnSpc>
                <a:spcPct val="100000"/>
              </a:lnSpc>
              <a:spcBef>
                <a:spcPts val="100"/>
              </a:spcBef>
            </a:pPr>
            <a:r>
              <a:rPr sz="1300" b="1" dirty="0">
                <a:solidFill>
                  <a:srgbClr val="62B3ED"/>
                </a:solidFill>
                <a:latin typeface="Arial"/>
                <a:cs typeface="Arial"/>
              </a:rPr>
              <a:t>S</a:t>
            </a:r>
            <a:r>
              <a:rPr sz="1300" b="1" spc="-135"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P</a:t>
            </a:r>
            <a:r>
              <a:rPr sz="1300" b="1" spc="-135" dirty="0">
                <a:solidFill>
                  <a:srgbClr val="62B3ED"/>
                </a:solidFill>
                <a:latin typeface="Arial"/>
                <a:cs typeface="Arial"/>
              </a:rPr>
              <a:t> </a:t>
            </a:r>
            <a:r>
              <a:rPr sz="1300" b="1" spc="-10" dirty="0">
                <a:solidFill>
                  <a:srgbClr val="62B3ED"/>
                </a:solidFill>
                <a:latin typeface="Arial"/>
                <a:cs typeface="Arial"/>
              </a:rPr>
              <a:t>T</a:t>
            </a:r>
            <a:r>
              <a:rPr sz="1300" b="1" spc="-140"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N</a:t>
            </a:r>
            <a:r>
              <a:rPr sz="1300" b="1" spc="-140" dirty="0">
                <a:solidFill>
                  <a:srgbClr val="62B3ED"/>
                </a:solidFill>
                <a:latin typeface="Arial"/>
                <a:cs typeface="Arial"/>
              </a:rPr>
              <a:t> </a:t>
            </a:r>
            <a:r>
              <a:rPr sz="1300" b="1" dirty="0">
                <a:solidFill>
                  <a:srgbClr val="62B3ED"/>
                </a:solidFill>
                <a:latin typeface="Arial"/>
                <a:cs typeface="Arial"/>
              </a:rPr>
              <a:t>G</a:t>
            </a:r>
            <a:r>
              <a:rPr sz="1300" b="1" spc="450" dirty="0">
                <a:solidFill>
                  <a:srgbClr val="62B3ED"/>
                </a:solidFill>
                <a:latin typeface="Arial"/>
                <a:cs typeface="Arial"/>
              </a:rPr>
              <a:t> </a:t>
            </a:r>
            <a:r>
              <a:rPr sz="1300" b="1" dirty="0">
                <a:solidFill>
                  <a:srgbClr val="62B3ED"/>
                </a:solidFill>
                <a:latin typeface="Arial"/>
                <a:cs typeface="Arial"/>
              </a:rPr>
              <a:t>E</a:t>
            </a:r>
            <a:r>
              <a:rPr sz="1300" b="1" spc="450"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N</a:t>
            </a:r>
            <a:r>
              <a:rPr sz="1300" b="1" spc="-140" dirty="0">
                <a:solidFill>
                  <a:srgbClr val="62B3ED"/>
                </a:solidFill>
                <a:latin typeface="Arial"/>
                <a:cs typeface="Arial"/>
              </a:rPr>
              <a:t> </a:t>
            </a:r>
            <a:r>
              <a:rPr sz="1300" b="1" spc="-10" dirty="0">
                <a:solidFill>
                  <a:srgbClr val="62B3ED"/>
                </a:solidFill>
                <a:latin typeface="Arial"/>
                <a:cs typeface="Arial"/>
              </a:rPr>
              <a:t>T</a:t>
            </a:r>
            <a:r>
              <a:rPr sz="1300" b="1" spc="-140"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spc="-20" dirty="0">
                <a:solidFill>
                  <a:srgbClr val="62B3ED"/>
                </a:solidFill>
                <a:latin typeface="Arial"/>
                <a:cs typeface="Arial"/>
              </a:rPr>
              <a:t>G</a:t>
            </a:r>
            <a:r>
              <a:rPr sz="1300" b="1" spc="-135"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D</a:t>
            </a:r>
            <a:r>
              <a:rPr sz="1300" b="1" spc="-140" dirty="0">
                <a:solidFill>
                  <a:srgbClr val="62B3ED"/>
                </a:solidFill>
                <a:latin typeface="Arial"/>
                <a:cs typeface="Arial"/>
              </a:rPr>
              <a:t> </a:t>
            </a:r>
            <a:r>
              <a:rPr sz="1300" b="1" dirty="0">
                <a:solidFill>
                  <a:srgbClr val="62B3ED"/>
                </a:solidFill>
                <a:latin typeface="Arial"/>
                <a:cs typeface="Arial"/>
              </a:rPr>
              <a:t>A</a:t>
            </a:r>
            <a:r>
              <a:rPr sz="1300" b="1" spc="-140" dirty="0">
                <a:solidFill>
                  <a:srgbClr val="62B3ED"/>
                </a:solidFill>
                <a:latin typeface="Arial"/>
                <a:cs typeface="Arial"/>
              </a:rPr>
              <a:t> </a:t>
            </a:r>
            <a:r>
              <a:rPr sz="1300" b="1" dirty="0">
                <a:solidFill>
                  <a:srgbClr val="62B3ED"/>
                </a:solidFill>
                <a:latin typeface="Arial"/>
                <a:cs typeface="Arial"/>
              </a:rPr>
              <a:t>D</a:t>
            </a:r>
            <a:r>
              <a:rPr sz="1300" b="1" spc="450"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spc="-10" dirty="0">
                <a:solidFill>
                  <a:srgbClr val="62B3ED"/>
                </a:solidFill>
                <a:latin typeface="Arial"/>
                <a:cs typeface="Arial"/>
              </a:rPr>
              <a:t>F</a:t>
            </a:r>
            <a:r>
              <a:rPr sz="1300" b="1" spc="-135"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dirty="0">
                <a:solidFill>
                  <a:srgbClr val="62B3ED"/>
                </a:solidFill>
                <a:latin typeface="Arial"/>
                <a:cs typeface="Arial"/>
              </a:rPr>
              <a:t>N</a:t>
            </a:r>
            <a:r>
              <a:rPr sz="1300" b="1" spc="-140" dirty="0">
                <a:solidFill>
                  <a:srgbClr val="62B3ED"/>
                </a:solidFill>
                <a:latin typeface="Arial"/>
                <a:cs typeface="Arial"/>
              </a:rPr>
              <a:t> </a:t>
            </a:r>
            <a:r>
              <a:rPr sz="1300" b="1" dirty="0">
                <a:solidFill>
                  <a:srgbClr val="62B3ED"/>
                </a:solidFill>
                <a:latin typeface="Arial"/>
                <a:cs typeface="Arial"/>
              </a:rPr>
              <a:t>C</a:t>
            </a:r>
            <a:r>
              <a:rPr sz="1300" b="1" spc="-135"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A</a:t>
            </a:r>
            <a:r>
              <a:rPr sz="1300" b="1" spc="-140" dirty="0">
                <a:solidFill>
                  <a:srgbClr val="62B3ED"/>
                </a:solidFill>
                <a:latin typeface="Arial"/>
                <a:cs typeface="Arial"/>
              </a:rPr>
              <a:t> </a:t>
            </a:r>
            <a:r>
              <a:rPr sz="1300" b="1" spc="-50" dirty="0">
                <a:solidFill>
                  <a:srgbClr val="62B3ED"/>
                </a:solidFill>
                <a:latin typeface="Arial"/>
                <a:cs typeface="Arial"/>
              </a:rPr>
              <a:t>L</a:t>
            </a:r>
            <a:endParaRPr sz="1300">
              <a:latin typeface="Arial"/>
              <a:cs typeface="Arial"/>
            </a:endParaRPr>
          </a:p>
        </p:txBody>
      </p:sp>
      <p:sp>
        <p:nvSpPr>
          <p:cNvPr id="3" name="object 3" descr="$PPTXTitle"/>
          <p:cNvSpPr txBox="1">
            <a:spLocks noGrp="1"/>
          </p:cNvSpPr>
          <p:nvPr>
            <p:ph type="title"/>
          </p:nvPr>
        </p:nvSpPr>
        <p:spPr>
          <a:xfrm>
            <a:off x="2426500" y="2530504"/>
            <a:ext cx="5840730" cy="1016000"/>
          </a:xfrm>
          <a:prstGeom prst="rect">
            <a:avLst/>
          </a:prstGeom>
        </p:spPr>
        <p:txBody>
          <a:bodyPr vert="horz" wrap="square" lIns="0" tIns="50800" rIns="0" bIns="0" rtlCol="0">
            <a:spAutoFit/>
          </a:bodyPr>
          <a:lstStyle/>
          <a:p>
            <a:pPr algn="ctr">
              <a:lnSpc>
                <a:spcPct val="100000"/>
              </a:lnSpc>
              <a:spcBef>
                <a:spcPts val="400"/>
              </a:spcBef>
            </a:pPr>
            <a:r>
              <a:rPr sz="3000" dirty="0">
                <a:solidFill>
                  <a:srgbClr val="FFFFFF"/>
                </a:solidFill>
              </a:rPr>
              <a:t>SECCIÓN</a:t>
            </a:r>
            <a:r>
              <a:rPr sz="3000" spc="-30" dirty="0">
                <a:solidFill>
                  <a:srgbClr val="FFFFFF"/>
                </a:solidFill>
              </a:rPr>
              <a:t> </a:t>
            </a:r>
            <a:r>
              <a:rPr sz="3000" spc="-25" dirty="0">
                <a:solidFill>
                  <a:srgbClr val="FFFFFF"/>
                </a:solidFill>
              </a:rPr>
              <a:t>02</a:t>
            </a:r>
            <a:endParaRPr sz="3000"/>
          </a:p>
          <a:p>
            <a:pPr algn="ctr">
              <a:lnSpc>
                <a:spcPct val="100000"/>
              </a:lnSpc>
              <a:spcBef>
                <a:spcPts val="300"/>
              </a:spcBef>
            </a:pPr>
            <a:r>
              <a:rPr sz="3000" dirty="0">
                <a:solidFill>
                  <a:srgbClr val="FFFFFF"/>
                </a:solidFill>
              </a:rPr>
              <a:t>Código</a:t>
            </a:r>
            <a:r>
              <a:rPr sz="3000" spc="-40" dirty="0">
                <a:solidFill>
                  <a:srgbClr val="FFFFFF"/>
                </a:solidFill>
              </a:rPr>
              <a:t> </a:t>
            </a:r>
            <a:r>
              <a:rPr sz="3000" dirty="0">
                <a:solidFill>
                  <a:srgbClr val="FFFFFF"/>
                </a:solidFill>
              </a:rPr>
              <a:t>Estructurado</a:t>
            </a:r>
            <a:r>
              <a:rPr sz="3000" spc="-35" dirty="0">
                <a:solidFill>
                  <a:srgbClr val="FFFFFF"/>
                </a:solidFill>
              </a:rPr>
              <a:t> </a:t>
            </a:r>
            <a:r>
              <a:rPr sz="3000" dirty="0">
                <a:solidFill>
                  <a:srgbClr val="FFFFFF"/>
                </a:solidFill>
              </a:rPr>
              <a:t>DDL</a:t>
            </a:r>
            <a:r>
              <a:rPr sz="3000" spc="-85" dirty="0">
                <a:solidFill>
                  <a:srgbClr val="FFFFFF"/>
                </a:solidFill>
              </a:rPr>
              <a:t> </a:t>
            </a:r>
            <a:r>
              <a:rPr sz="3000" spc="-10" dirty="0">
                <a:solidFill>
                  <a:srgbClr val="FFFFFF"/>
                </a:solidFill>
              </a:rPr>
              <a:t>(SQL)</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00" y="874066"/>
            <a:ext cx="270319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2</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N</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N</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Í</a:t>
            </a:r>
            <a:r>
              <a:rPr sz="1100" b="1" spc="-160" dirty="0">
                <a:solidFill>
                  <a:srgbClr val="3182CD"/>
                </a:solidFill>
                <a:latin typeface="Arial"/>
                <a:cs typeface="Arial"/>
              </a:rPr>
              <a:t> </a:t>
            </a:r>
            <a:r>
              <a:rPr sz="1100" b="1" dirty="0">
                <a:solidFill>
                  <a:srgbClr val="3182CD"/>
                </a:solidFill>
                <a:latin typeface="Arial"/>
                <a:cs typeface="Arial"/>
              </a:rPr>
              <a:t>A</a:t>
            </a:r>
            <a:r>
              <a:rPr sz="1100" b="1" spc="254"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Q</a:t>
            </a:r>
            <a:r>
              <a:rPr sz="1100" b="1" spc="-160" dirty="0">
                <a:solidFill>
                  <a:srgbClr val="3182CD"/>
                </a:solidFill>
                <a:latin typeface="Arial"/>
                <a:cs typeface="Arial"/>
              </a:rPr>
              <a:t> </a:t>
            </a:r>
            <a:r>
              <a:rPr sz="1100" b="1" spc="-50" dirty="0">
                <a:solidFill>
                  <a:srgbClr val="3182CD"/>
                </a:solidFill>
                <a:latin typeface="Arial"/>
                <a:cs typeface="Arial"/>
              </a:rPr>
              <a:t>L</a:t>
            </a:r>
            <a:endParaRPr sz="1100">
              <a:latin typeface="Arial"/>
              <a:cs typeface="Arial"/>
            </a:endParaRPr>
          </a:p>
        </p:txBody>
      </p:sp>
      <p:sp>
        <p:nvSpPr>
          <p:cNvPr id="3" name="object 3" descr="$PPTXTitle"/>
          <p:cNvSpPr txBox="1">
            <a:spLocks noGrp="1"/>
          </p:cNvSpPr>
          <p:nvPr>
            <p:ph type="title"/>
          </p:nvPr>
        </p:nvSpPr>
        <p:spPr>
          <a:xfrm>
            <a:off x="887299" y="1104676"/>
            <a:ext cx="8883975" cy="351378"/>
          </a:xfrm>
          <a:prstGeom prst="rect">
            <a:avLst/>
          </a:prstGeom>
        </p:spPr>
        <p:txBody>
          <a:bodyPr vert="horz" wrap="square" lIns="0" tIns="12700" rIns="0" bIns="0" rtlCol="0">
            <a:spAutoFit/>
          </a:bodyPr>
          <a:lstStyle/>
          <a:p>
            <a:pPr marL="12700">
              <a:lnSpc>
                <a:spcPct val="100000"/>
              </a:lnSpc>
              <a:spcBef>
                <a:spcPts val="100"/>
              </a:spcBef>
            </a:pPr>
            <a:r>
              <a:rPr lang="es-CO" dirty="0"/>
              <a:t>Código Estructurado DDL (SQL) - Parte 1</a:t>
            </a:r>
            <a:endParaRPr spc="-25" dirty="0"/>
          </a:p>
        </p:txBody>
      </p:sp>
      <p:grpSp>
        <p:nvGrpSpPr>
          <p:cNvPr id="4" name="object 4"/>
          <p:cNvGrpSpPr/>
          <p:nvPr/>
        </p:nvGrpSpPr>
        <p:grpSpPr>
          <a:xfrm>
            <a:off x="900000" y="2187643"/>
            <a:ext cx="8892540" cy="3564628"/>
            <a:chOff x="900000" y="2187643"/>
            <a:chExt cx="8892540" cy="3733800"/>
          </a:xfrm>
        </p:grpSpPr>
        <p:sp>
          <p:nvSpPr>
            <p:cNvPr id="5" name="object 5"/>
            <p:cNvSpPr/>
            <p:nvPr/>
          </p:nvSpPr>
          <p:spPr>
            <a:xfrm>
              <a:off x="900000" y="2187643"/>
              <a:ext cx="8892540" cy="3733800"/>
            </a:xfrm>
            <a:custGeom>
              <a:avLst/>
              <a:gdLst/>
              <a:ahLst/>
              <a:cxnLst/>
              <a:rect l="l" t="t" r="r" b="b"/>
              <a:pathLst>
                <a:path w="8892540" h="3733800">
                  <a:moveTo>
                    <a:pt x="8834850" y="3733800"/>
                  </a:moveTo>
                  <a:lnTo>
                    <a:pt x="57150" y="3733800"/>
                  </a:lnTo>
                  <a:lnTo>
                    <a:pt x="34959" y="3729290"/>
                  </a:lnTo>
                  <a:lnTo>
                    <a:pt x="16787" y="3717012"/>
                  </a:lnTo>
                  <a:lnTo>
                    <a:pt x="4509" y="3698840"/>
                  </a:lnTo>
                  <a:lnTo>
                    <a:pt x="0" y="36766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3676650"/>
                  </a:lnTo>
                  <a:lnTo>
                    <a:pt x="8887490" y="3698840"/>
                  </a:lnTo>
                  <a:lnTo>
                    <a:pt x="8875212" y="3717012"/>
                  </a:lnTo>
                  <a:lnTo>
                    <a:pt x="8857040" y="3729290"/>
                  </a:lnTo>
                  <a:lnTo>
                    <a:pt x="8834850" y="3733800"/>
                  </a:lnTo>
                  <a:close/>
                </a:path>
              </a:pathLst>
            </a:custGeom>
            <a:solidFill>
              <a:srgbClr val="F7F9FB"/>
            </a:solidFill>
          </p:spPr>
          <p:txBody>
            <a:bodyPr wrap="square" lIns="0" tIns="0" rIns="0" bIns="0" rtlCol="0"/>
            <a:lstStyle/>
            <a:p>
              <a:endParaRPr dirty="0"/>
            </a:p>
          </p:txBody>
        </p:sp>
        <p:sp>
          <p:nvSpPr>
            <p:cNvPr id="6" name="object 6"/>
            <p:cNvSpPr/>
            <p:nvPr/>
          </p:nvSpPr>
          <p:spPr>
            <a:xfrm>
              <a:off x="900000" y="2187644"/>
              <a:ext cx="8892540" cy="3733800"/>
            </a:xfrm>
            <a:custGeom>
              <a:avLst/>
              <a:gdLst/>
              <a:ahLst/>
              <a:cxnLst/>
              <a:rect l="l" t="t" r="r" b="b"/>
              <a:pathLst>
                <a:path w="8892540" h="3733800">
                  <a:moveTo>
                    <a:pt x="8834850" y="3733800"/>
                  </a:moveTo>
                  <a:lnTo>
                    <a:pt x="57150" y="3733800"/>
                  </a:lnTo>
                  <a:lnTo>
                    <a:pt x="34959" y="3729290"/>
                  </a:lnTo>
                  <a:lnTo>
                    <a:pt x="16787" y="3717012"/>
                  </a:lnTo>
                  <a:lnTo>
                    <a:pt x="4509" y="3698840"/>
                  </a:lnTo>
                  <a:lnTo>
                    <a:pt x="0" y="36766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3676650"/>
                  </a:lnTo>
                  <a:lnTo>
                    <a:pt x="13282" y="3695142"/>
                  </a:lnTo>
                  <a:lnTo>
                    <a:pt x="23514" y="3710285"/>
                  </a:lnTo>
                  <a:lnTo>
                    <a:pt x="38658" y="3720517"/>
                  </a:lnTo>
                  <a:lnTo>
                    <a:pt x="57150" y="3724275"/>
                  </a:lnTo>
                  <a:lnTo>
                    <a:pt x="8864463" y="3724275"/>
                  </a:lnTo>
                  <a:lnTo>
                    <a:pt x="8857040" y="3729290"/>
                  </a:lnTo>
                  <a:lnTo>
                    <a:pt x="8834850" y="3733800"/>
                  </a:lnTo>
                  <a:close/>
                </a:path>
                <a:path w="8892540" h="3733800">
                  <a:moveTo>
                    <a:pt x="8864463" y="3724275"/>
                  </a:moveTo>
                  <a:lnTo>
                    <a:pt x="8834850" y="3724275"/>
                  </a:lnTo>
                  <a:lnTo>
                    <a:pt x="8853342" y="3720517"/>
                  </a:lnTo>
                  <a:lnTo>
                    <a:pt x="8868485" y="3710285"/>
                  </a:lnTo>
                  <a:lnTo>
                    <a:pt x="8878717" y="3695142"/>
                  </a:lnTo>
                  <a:lnTo>
                    <a:pt x="8882475" y="36766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3676650"/>
                  </a:lnTo>
                  <a:lnTo>
                    <a:pt x="8887490" y="3698840"/>
                  </a:lnTo>
                  <a:lnTo>
                    <a:pt x="8875212" y="3717012"/>
                  </a:lnTo>
                  <a:lnTo>
                    <a:pt x="8864463" y="3724275"/>
                  </a:lnTo>
                  <a:close/>
                </a:path>
              </a:pathLst>
            </a:custGeom>
            <a:solidFill>
              <a:srgbClr val="E2E8EF"/>
            </a:solidFill>
          </p:spPr>
          <p:txBody>
            <a:bodyPr wrap="square" lIns="0" tIns="0" rIns="0" bIns="0" rtlCol="0"/>
            <a:lstStyle/>
            <a:p>
              <a:endParaRPr/>
            </a:p>
          </p:txBody>
        </p:sp>
      </p:grpSp>
      <p:sp>
        <p:nvSpPr>
          <p:cNvPr id="7" name="object 7"/>
          <p:cNvSpPr txBox="1"/>
          <p:nvPr/>
        </p:nvSpPr>
        <p:spPr>
          <a:xfrm>
            <a:off x="887300" y="1782007"/>
            <a:ext cx="8905240" cy="3811300"/>
          </a:xfrm>
          <a:prstGeom prst="rect">
            <a:avLst/>
          </a:prstGeom>
        </p:spPr>
        <p:txBody>
          <a:bodyPr vert="horz" wrap="square" lIns="0" tIns="12700" rIns="0" bIns="0" rtlCol="0">
            <a:spAutoFit/>
          </a:bodyPr>
          <a:lstStyle/>
          <a:p>
            <a:pPr marL="12700">
              <a:lnSpc>
                <a:spcPct val="100000"/>
              </a:lnSpc>
              <a:spcBef>
                <a:spcPts val="100"/>
              </a:spcBef>
            </a:pPr>
            <a:r>
              <a:rPr lang="es-ES" sz="1200" dirty="0"/>
              <a:t>Sentencias SQL depuradas y corregidas para inicializar el entorno físico y las tablas maestras de la Capa Central:</a:t>
            </a:r>
            <a:endParaRPr lang="es-ES" sz="1200" dirty="0">
              <a:latin typeface="Arial MT"/>
              <a:cs typeface="Arial MT"/>
            </a:endParaRPr>
          </a:p>
          <a:p>
            <a:pPr>
              <a:lnSpc>
                <a:spcPct val="100000"/>
              </a:lnSpc>
            </a:pPr>
            <a:endParaRPr lang="es-CO" sz="1200" dirty="0">
              <a:latin typeface="Arial MT"/>
              <a:cs typeface="Arial MT"/>
            </a:endParaRPr>
          </a:p>
          <a:p>
            <a:pPr>
              <a:lnSpc>
                <a:spcPct val="100000"/>
              </a:lnSpc>
              <a:spcBef>
                <a:spcPts val="110"/>
              </a:spcBef>
            </a:pPr>
            <a:endParaRPr lang="es-CO" sz="1200" dirty="0">
              <a:latin typeface="Arial MT"/>
              <a:cs typeface="Arial MT"/>
            </a:endParaRPr>
          </a:p>
          <a:p>
            <a:pPr marL="165100">
              <a:lnSpc>
                <a:spcPct val="100000"/>
              </a:lnSpc>
            </a:pPr>
            <a:r>
              <a:rPr lang="es-CO" sz="1000" spc="-10" dirty="0">
                <a:solidFill>
                  <a:srgbClr val="1A1F2B"/>
                </a:solidFill>
                <a:latin typeface="Courier New"/>
                <a:cs typeface="Courier New"/>
              </a:rPr>
              <a:t>CREATE DATABASE IF NOT EXISTS </a:t>
            </a:r>
            <a:r>
              <a:rPr lang="es-CO" sz="1000" spc="-10" dirty="0" err="1">
                <a:solidFill>
                  <a:srgbClr val="1A1F2B"/>
                </a:solidFill>
                <a:latin typeface="Courier New"/>
                <a:cs typeface="Courier New"/>
              </a:rPr>
              <a:t>plataforma_educativa</a:t>
            </a:r>
            <a:r>
              <a:rPr lang="es-CO" sz="1000" spc="-10" dirty="0">
                <a:solidFill>
                  <a:srgbClr val="1A1F2B"/>
                </a:solidFill>
                <a:latin typeface="Courier New"/>
                <a:cs typeface="Courier New"/>
              </a:rPr>
              <a:t>;</a:t>
            </a:r>
          </a:p>
          <a:p>
            <a:pPr marL="165100">
              <a:lnSpc>
                <a:spcPct val="100000"/>
              </a:lnSpc>
            </a:pPr>
            <a:r>
              <a:rPr lang="es-CO" sz="1000" spc="-10" dirty="0">
                <a:solidFill>
                  <a:srgbClr val="1A1F2B"/>
                </a:solidFill>
                <a:latin typeface="Courier New"/>
                <a:cs typeface="Courier New"/>
              </a:rPr>
              <a:t>USE </a:t>
            </a:r>
            <a:r>
              <a:rPr lang="es-CO" sz="1000" spc="-10" dirty="0" err="1">
                <a:solidFill>
                  <a:srgbClr val="1A1F2B"/>
                </a:solidFill>
                <a:latin typeface="Courier New"/>
                <a:cs typeface="Courier New"/>
              </a:rPr>
              <a:t>plataforma_educativa</a:t>
            </a:r>
            <a:r>
              <a:rPr lang="es-CO" sz="1000" spc="-10" dirty="0">
                <a:solidFill>
                  <a:srgbClr val="1A1F2B"/>
                </a:solidFill>
                <a:latin typeface="Courier New"/>
                <a:cs typeface="Courier New"/>
              </a:rPr>
              <a:t>;</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a:t>
            </a:r>
          </a:p>
          <a:p>
            <a:pPr marL="165100">
              <a:lnSpc>
                <a:spcPct val="100000"/>
              </a:lnSpc>
            </a:pPr>
            <a:r>
              <a:rPr lang="es-CO" sz="1000" spc="-10" dirty="0">
                <a:solidFill>
                  <a:srgbClr val="1A1F2B"/>
                </a:solidFill>
                <a:latin typeface="Courier New"/>
                <a:cs typeface="Courier New"/>
              </a:rPr>
              <a:t>-- CAPA 1: MAESTRA CENTRAL (IDENTIDADES INDEPENDIENTES)</a:t>
            </a:r>
          </a:p>
          <a:p>
            <a:pPr marL="165100">
              <a:lnSpc>
                <a:spcPct val="100000"/>
              </a:lnSpc>
            </a:pPr>
            <a:r>
              <a:rPr lang="es-CO" sz="1000" spc="-10" dirty="0">
                <a:solidFill>
                  <a:srgbClr val="1A1F2B"/>
                </a:solidFill>
                <a:latin typeface="Courier New"/>
                <a:cs typeface="Courier New"/>
              </a:rPr>
              <a:t>-- =========================================================</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-- 1. Crear Tabla de Docentes (Corrección de sintaxis y paréntesis)</a:t>
            </a:r>
          </a:p>
          <a:p>
            <a:pPr marL="165100">
              <a:lnSpc>
                <a:spcPct val="100000"/>
              </a:lnSpc>
            </a:pPr>
            <a:r>
              <a:rPr lang="es-CO" sz="1000" spc="-10" dirty="0">
                <a:solidFill>
                  <a:srgbClr val="1A1F2B"/>
                </a:solidFill>
                <a:latin typeface="Courier New"/>
                <a:cs typeface="Courier New"/>
              </a:rPr>
              <a:t>CREATE TABLE DOCENTES (</a:t>
            </a:r>
          </a:p>
          <a:p>
            <a:pPr marL="165100">
              <a:lnSpc>
                <a:spcPct val="100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id_docente</a:t>
            </a:r>
            <a:r>
              <a:rPr lang="es-CO" sz="1000" spc="-10" dirty="0">
                <a:solidFill>
                  <a:srgbClr val="1A1F2B"/>
                </a:solidFill>
                <a:latin typeface="Courier New"/>
                <a:cs typeface="Courier New"/>
              </a:rPr>
              <a:t> INT AUTO_INCREMENT PRIMARY KEY,</a:t>
            </a:r>
          </a:p>
          <a:p>
            <a:pPr marL="165100">
              <a:lnSpc>
                <a:spcPct val="100000"/>
              </a:lnSpc>
            </a:pPr>
            <a:r>
              <a:rPr lang="es-CO" sz="1000" spc="-10" dirty="0">
                <a:solidFill>
                  <a:srgbClr val="1A1F2B"/>
                </a:solidFill>
                <a:latin typeface="Courier New"/>
                <a:cs typeface="Courier New"/>
              </a:rPr>
              <a:t>    nombre VARCHAR(100) NOT NULL,</a:t>
            </a:r>
          </a:p>
          <a:p>
            <a:pPr marL="165100">
              <a:lnSpc>
                <a:spcPct val="100000"/>
              </a:lnSpc>
            </a:pPr>
            <a:r>
              <a:rPr lang="es-CO" sz="1000" spc="-10" dirty="0">
                <a:solidFill>
                  <a:srgbClr val="1A1F2B"/>
                </a:solidFill>
                <a:latin typeface="Courier New"/>
                <a:cs typeface="Courier New"/>
              </a:rPr>
              <a:t>    especialidad VARCHAR(100)</a:t>
            </a:r>
          </a:p>
          <a:p>
            <a:pPr marL="165100">
              <a:lnSpc>
                <a:spcPct val="100000"/>
              </a:lnSpc>
            </a:pPr>
            <a:r>
              <a:rPr lang="es-CO" sz="1000" spc="-10" dirty="0">
                <a:solidFill>
                  <a:srgbClr val="1A1F2B"/>
                </a:solidFill>
                <a:latin typeface="Courier New"/>
                <a:cs typeface="Courier New"/>
              </a:rPr>
              <a:t>);</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-- 2. Crear Tabla de Estudiantes</a:t>
            </a:r>
          </a:p>
          <a:p>
            <a:pPr marL="165100">
              <a:lnSpc>
                <a:spcPct val="100000"/>
              </a:lnSpc>
            </a:pPr>
            <a:r>
              <a:rPr lang="es-CO" sz="1000" spc="-10" dirty="0">
                <a:solidFill>
                  <a:srgbClr val="1A1F2B"/>
                </a:solidFill>
                <a:latin typeface="Courier New"/>
                <a:cs typeface="Courier New"/>
              </a:rPr>
              <a:t>CREATE TABLE ESTUDIANTES (</a:t>
            </a:r>
          </a:p>
          <a:p>
            <a:pPr marL="165100">
              <a:lnSpc>
                <a:spcPct val="100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id_estudiante</a:t>
            </a:r>
            <a:r>
              <a:rPr lang="es-CO" sz="1000" spc="-10" dirty="0">
                <a:solidFill>
                  <a:srgbClr val="1A1F2B"/>
                </a:solidFill>
                <a:latin typeface="Courier New"/>
                <a:cs typeface="Courier New"/>
              </a:rPr>
              <a:t> INT AUTO_INCREMENT PRIMARY KEY,</a:t>
            </a:r>
          </a:p>
          <a:p>
            <a:pPr marL="165100">
              <a:lnSpc>
                <a:spcPct val="100000"/>
              </a:lnSpc>
            </a:pPr>
            <a:r>
              <a:rPr lang="es-CO" sz="1000" spc="-10" dirty="0">
                <a:solidFill>
                  <a:srgbClr val="1A1F2B"/>
                </a:solidFill>
                <a:latin typeface="Courier New"/>
                <a:cs typeface="Courier New"/>
              </a:rPr>
              <a:t>    nombre VARCHAR(100) NOT NULL,</a:t>
            </a:r>
          </a:p>
          <a:p>
            <a:pPr marL="165100">
              <a:lnSpc>
                <a:spcPct val="100000"/>
              </a:lnSpc>
            </a:pPr>
            <a:r>
              <a:rPr lang="es-CO" sz="1000" spc="-10" dirty="0">
                <a:solidFill>
                  <a:srgbClr val="1A1F2B"/>
                </a:solidFill>
                <a:latin typeface="Courier New"/>
                <a:cs typeface="Courier New"/>
              </a:rPr>
              <a:t>    email VARCHAR(150) UNIQUE NOT NULL,</a:t>
            </a:r>
          </a:p>
          <a:p>
            <a:pPr marL="165100">
              <a:lnSpc>
                <a:spcPct val="100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fecha_registro</a:t>
            </a:r>
            <a:r>
              <a:rPr lang="es-CO" sz="1000" spc="-10" dirty="0">
                <a:solidFill>
                  <a:srgbClr val="1A1F2B"/>
                </a:solidFill>
                <a:latin typeface="Courier New"/>
                <a:cs typeface="Courier New"/>
              </a:rPr>
              <a:t> DATE NOT NULL</a:t>
            </a:r>
          </a:p>
          <a:p>
            <a:pPr marL="165100">
              <a:lnSpc>
                <a:spcPct val="100000"/>
              </a:lnSpc>
            </a:pPr>
            <a:r>
              <a:rPr lang="es-CO" sz="1000" spc="-10" dirty="0">
                <a:solidFill>
                  <a:srgbClr val="1A1F2B"/>
                </a:solidFill>
                <a:latin typeface="Courier New"/>
                <a:cs typeface="Courier New"/>
              </a:rPr>
              <a:t>);</a:t>
            </a:r>
          </a:p>
        </p:txBody>
      </p:sp>
      <p:sp>
        <p:nvSpPr>
          <p:cNvPr id="8" name="object 8"/>
          <p:cNvSpPr/>
          <p:nvPr/>
        </p:nvSpPr>
        <p:spPr>
          <a:xfrm>
            <a:off x="878735" y="6970983"/>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9" name="object 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12</a:t>
            </a:fld>
            <a:endParaRPr spc="-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00" y="874066"/>
            <a:ext cx="270319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2</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N</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N</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Í</a:t>
            </a:r>
            <a:r>
              <a:rPr sz="1100" b="1" spc="-160" dirty="0">
                <a:solidFill>
                  <a:srgbClr val="3182CD"/>
                </a:solidFill>
                <a:latin typeface="Arial"/>
                <a:cs typeface="Arial"/>
              </a:rPr>
              <a:t> </a:t>
            </a:r>
            <a:r>
              <a:rPr sz="1100" b="1" dirty="0">
                <a:solidFill>
                  <a:srgbClr val="3182CD"/>
                </a:solidFill>
                <a:latin typeface="Arial"/>
                <a:cs typeface="Arial"/>
              </a:rPr>
              <a:t>A</a:t>
            </a:r>
            <a:r>
              <a:rPr sz="1100" b="1" spc="254"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Q</a:t>
            </a:r>
            <a:r>
              <a:rPr sz="1100" b="1" spc="-160" dirty="0">
                <a:solidFill>
                  <a:srgbClr val="3182CD"/>
                </a:solidFill>
                <a:latin typeface="Arial"/>
                <a:cs typeface="Arial"/>
              </a:rPr>
              <a:t> </a:t>
            </a:r>
            <a:r>
              <a:rPr sz="1100" b="1" spc="-50" dirty="0">
                <a:solidFill>
                  <a:srgbClr val="3182CD"/>
                </a:solidFill>
                <a:latin typeface="Arial"/>
                <a:cs typeface="Arial"/>
              </a:rPr>
              <a:t>L</a:t>
            </a:r>
            <a:endParaRPr sz="1100">
              <a:latin typeface="Arial"/>
              <a:cs typeface="Arial"/>
            </a:endParaRPr>
          </a:p>
        </p:txBody>
      </p:sp>
      <p:sp>
        <p:nvSpPr>
          <p:cNvPr id="3" name="object 3" descr="$PPTXTitle"/>
          <p:cNvSpPr txBox="1">
            <a:spLocks noGrp="1"/>
          </p:cNvSpPr>
          <p:nvPr>
            <p:ph type="title"/>
          </p:nvPr>
        </p:nvSpPr>
        <p:spPr>
          <a:xfrm>
            <a:off x="887300" y="1104677"/>
            <a:ext cx="8892540" cy="351378"/>
          </a:xfrm>
          <a:prstGeom prst="rect">
            <a:avLst/>
          </a:prstGeom>
        </p:spPr>
        <p:txBody>
          <a:bodyPr vert="horz" wrap="square" lIns="0" tIns="12700" rIns="0" bIns="0" rtlCol="0">
            <a:spAutoFit/>
          </a:bodyPr>
          <a:lstStyle/>
          <a:p>
            <a:pPr marL="12700">
              <a:lnSpc>
                <a:spcPct val="100000"/>
              </a:lnSpc>
              <a:spcBef>
                <a:spcPts val="100"/>
              </a:spcBef>
            </a:pPr>
            <a:r>
              <a:rPr lang="es-CO" dirty="0"/>
              <a:t>Código Estructurado DDL (SQL) - </a:t>
            </a:r>
            <a:r>
              <a:rPr dirty="0" err="1"/>
              <a:t>Parte</a:t>
            </a:r>
            <a:r>
              <a:rPr spc="-60" dirty="0"/>
              <a:t> </a:t>
            </a:r>
            <a:r>
              <a:rPr spc="-25" dirty="0"/>
              <a:t>2</a:t>
            </a:r>
          </a:p>
        </p:txBody>
      </p:sp>
      <p:grpSp>
        <p:nvGrpSpPr>
          <p:cNvPr id="4" name="object 4"/>
          <p:cNvGrpSpPr/>
          <p:nvPr/>
        </p:nvGrpSpPr>
        <p:grpSpPr>
          <a:xfrm>
            <a:off x="900000" y="2187642"/>
            <a:ext cx="8892540" cy="4588062"/>
            <a:chOff x="900000" y="2187643"/>
            <a:chExt cx="8892540" cy="3543300"/>
          </a:xfrm>
        </p:grpSpPr>
        <p:sp>
          <p:nvSpPr>
            <p:cNvPr id="5" name="object 5"/>
            <p:cNvSpPr/>
            <p:nvPr/>
          </p:nvSpPr>
          <p:spPr>
            <a:xfrm>
              <a:off x="900000" y="2187643"/>
              <a:ext cx="8892540" cy="3543300"/>
            </a:xfrm>
            <a:custGeom>
              <a:avLst/>
              <a:gdLst/>
              <a:ahLst/>
              <a:cxnLst/>
              <a:rect l="l" t="t" r="r" b="b"/>
              <a:pathLst>
                <a:path w="8892540" h="3543300">
                  <a:moveTo>
                    <a:pt x="8834850" y="3543300"/>
                  </a:moveTo>
                  <a:lnTo>
                    <a:pt x="57150" y="3543300"/>
                  </a:lnTo>
                  <a:lnTo>
                    <a:pt x="34959" y="3538790"/>
                  </a:lnTo>
                  <a:lnTo>
                    <a:pt x="16787" y="3526512"/>
                  </a:lnTo>
                  <a:lnTo>
                    <a:pt x="4509" y="3508340"/>
                  </a:lnTo>
                  <a:lnTo>
                    <a:pt x="0" y="34861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3486150"/>
                  </a:lnTo>
                  <a:lnTo>
                    <a:pt x="8887490" y="3508340"/>
                  </a:lnTo>
                  <a:lnTo>
                    <a:pt x="8875212" y="3526512"/>
                  </a:lnTo>
                  <a:lnTo>
                    <a:pt x="8857040" y="3538790"/>
                  </a:lnTo>
                  <a:lnTo>
                    <a:pt x="8834850" y="3543300"/>
                  </a:lnTo>
                  <a:close/>
                </a:path>
              </a:pathLst>
            </a:custGeom>
            <a:solidFill>
              <a:srgbClr val="F7F9FB"/>
            </a:solidFill>
          </p:spPr>
          <p:txBody>
            <a:bodyPr wrap="square" lIns="0" tIns="0" rIns="0" bIns="0" rtlCol="0"/>
            <a:lstStyle/>
            <a:p>
              <a:endParaRPr/>
            </a:p>
          </p:txBody>
        </p:sp>
        <p:sp>
          <p:nvSpPr>
            <p:cNvPr id="6" name="object 6"/>
            <p:cNvSpPr/>
            <p:nvPr/>
          </p:nvSpPr>
          <p:spPr>
            <a:xfrm>
              <a:off x="900000" y="2187644"/>
              <a:ext cx="8892540" cy="3543300"/>
            </a:xfrm>
            <a:custGeom>
              <a:avLst/>
              <a:gdLst/>
              <a:ahLst/>
              <a:cxnLst/>
              <a:rect l="l" t="t" r="r" b="b"/>
              <a:pathLst>
                <a:path w="8892540" h="3543300">
                  <a:moveTo>
                    <a:pt x="8834850" y="3543300"/>
                  </a:moveTo>
                  <a:lnTo>
                    <a:pt x="57150" y="3543300"/>
                  </a:lnTo>
                  <a:lnTo>
                    <a:pt x="34959" y="3538790"/>
                  </a:lnTo>
                  <a:lnTo>
                    <a:pt x="16787" y="3526512"/>
                  </a:lnTo>
                  <a:lnTo>
                    <a:pt x="4509" y="3508340"/>
                  </a:lnTo>
                  <a:lnTo>
                    <a:pt x="0" y="34861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3486150"/>
                  </a:lnTo>
                  <a:lnTo>
                    <a:pt x="13282" y="3504641"/>
                  </a:lnTo>
                  <a:lnTo>
                    <a:pt x="23514" y="3519785"/>
                  </a:lnTo>
                  <a:lnTo>
                    <a:pt x="38658" y="3530017"/>
                  </a:lnTo>
                  <a:lnTo>
                    <a:pt x="57150" y="3533775"/>
                  </a:lnTo>
                  <a:lnTo>
                    <a:pt x="8864463" y="3533775"/>
                  </a:lnTo>
                  <a:lnTo>
                    <a:pt x="8857040" y="3538790"/>
                  </a:lnTo>
                  <a:lnTo>
                    <a:pt x="8834850" y="3543300"/>
                  </a:lnTo>
                  <a:close/>
                </a:path>
                <a:path w="8892540" h="3543300">
                  <a:moveTo>
                    <a:pt x="8864463" y="3533775"/>
                  </a:moveTo>
                  <a:lnTo>
                    <a:pt x="8834850" y="3533775"/>
                  </a:lnTo>
                  <a:lnTo>
                    <a:pt x="8853342" y="3530017"/>
                  </a:lnTo>
                  <a:lnTo>
                    <a:pt x="8868485" y="3519785"/>
                  </a:lnTo>
                  <a:lnTo>
                    <a:pt x="8878717" y="3504641"/>
                  </a:lnTo>
                  <a:lnTo>
                    <a:pt x="8882475" y="34861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3486150"/>
                  </a:lnTo>
                  <a:lnTo>
                    <a:pt x="8887490" y="3508340"/>
                  </a:lnTo>
                  <a:lnTo>
                    <a:pt x="8875212" y="3526512"/>
                  </a:lnTo>
                  <a:lnTo>
                    <a:pt x="8864463" y="3533775"/>
                  </a:lnTo>
                  <a:close/>
                </a:path>
              </a:pathLst>
            </a:custGeom>
            <a:solidFill>
              <a:srgbClr val="E2E8EF"/>
            </a:solidFill>
          </p:spPr>
          <p:txBody>
            <a:bodyPr wrap="square" lIns="0" tIns="0" rIns="0" bIns="0" rtlCol="0"/>
            <a:lstStyle/>
            <a:p>
              <a:endParaRPr/>
            </a:p>
          </p:txBody>
        </p:sp>
      </p:grpSp>
      <p:sp>
        <p:nvSpPr>
          <p:cNvPr id="7" name="object 7"/>
          <p:cNvSpPr txBox="1"/>
          <p:nvPr/>
        </p:nvSpPr>
        <p:spPr>
          <a:xfrm>
            <a:off x="850385" y="1645073"/>
            <a:ext cx="8892540" cy="5335435"/>
          </a:xfrm>
          <a:prstGeom prst="rect">
            <a:avLst/>
          </a:prstGeom>
        </p:spPr>
        <p:txBody>
          <a:bodyPr vert="horz" wrap="square" lIns="0" tIns="12700" rIns="0" bIns="0" rtlCol="0">
            <a:spAutoFit/>
          </a:bodyPr>
          <a:lstStyle/>
          <a:p>
            <a:pPr marL="12700">
              <a:lnSpc>
                <a:spcPct val="100000"/>
              </a:lnSpc>
              <a:spcBef>
                <a:spcPts val="100"/>
              </a:spcBef>
            </a:pPr>
            <a:r>
              <a:rPr lang="es-ES" sz="1200" dirty="0"/>
              <a:t>Sentencias SQL ejecutadas para estructurar el catálogo modular sin conflictos de identificadores:</a:t>
            </a:r>
            <a:endParaRPr sz="1200" dirty="0">
              <a:latin typeface="Arial MT"/>
              <a:cs typeface="Arial MT"/>
            </a:endParaRPr>
          </a:p>
          <a:p>
            <a:pPr>
              <a:lnSpc>
                <a:spcPct val="100000"/>
              </a:lnSpc>
              <a:spcBef>
                <a:spcPts val="1190"/>
              </a:spcBef>
            </a:pPr>
            <a:endParaRPr sz="1200" dirty="0">
              <a:latin typeface="Arial MT"/>
              <a:cs typeface="Arial MT"/>
            </a:endParaRPr>
          </a:p>
          <a:p>
            <a:pPr marL="165100" marR="4301490">
              <a:lnSpc>
                <a:spcPct val="125000"/>
              </a:lnSpc>
            </a:pPr>
            <a:r>
              <a:rPr lang="es-CO" sz="1000" spc="-10" dirty="0">
                <a:solidFill>
                  <a:srgbClr val="1A1F2B"/>
                </a:solidFill>
                <a:latin typeface="Courier New"/>
                <a:cs typeface="Courier New"/>
              </a:rPr>
              <a:t>-- ========================================================</a:t>
            </a:r>
          </a:p>
          <a:p>
            <a:pPr marL="165100" marR="4301490">
              <a:lnSpc>
                <a:spcPct val="125000"/>
              </a:lnSpc>
            </a:pPr>
            <a:r>
              <a:rPr lang="es-CO" sz="1000" spc="-10" dirty="0">
                <a:solidFill>
                  <a:srgbClr val="1A1F2B"/>
                </a:solidFill>
                <a:latin typeface="Courier New"/>
                <a:cs typeface="Courier New"/>
              </a:rPr>
              <a:t>-- CAPA 2: CATÁLOGO ACADÉMICO (OFERTA EDUCATIVA)</a:t>
            </a:r>
          </a:p>
          <a:p>
            <a:pPr marL="165100" marR="4301490">
              <a:lnSpc>
                <a:spcPct val="125000"/>
              </a:lnSpc>
            </a:pPr>
            <a:r>
              <a:rPr lang="es-CO" sz="1000" spc="-10" dirty="0">
                <a:solidFill>
                  <a:srgbClr val="1A1F2B"/>
                </a:solidFill>
                <a:latin typeface="Courier New"/>
                <a:cs typeface="Courier New"/>
              </a:rPr>
              <a:t>-- ========================================================</a:t>
            </a:r>
          </a:p>
          <a:p>
            <a:pPr marL="165100" marR="4301490">
              <a:lnSpc>
                <a:spcPct val="125000"/>
              </a:lnSpc>
            </a:pPr>
            <a:endParaRPr lang="es-CO" sz="1000" spc="-10" dirty="0">
              <a:solidFill>
                <a:srgbClr val="1A1F2B"/>
              </a:solidFill>
              <a:latin typeface="Courier New"/>
              <a:cs typeface="Courier New"/>
            </a:endParaRPr>
          </a:p>
          <a:p>
            <a:pPr marL="165100" marR="4301490">
              <a:lnSpc>
                <a:spcPct val="125000"/>
              </a:lnSpc>
            </a:pPr>
            <a:r>
              <a:rPr lang="es-CO" sz="1000" spc="-10" dirty="0">
                <a:solidFill>
                  <a:srgbClr val="1A1F2B"/>
                </a:solidFill>
                <a:latin typeface="Courier New"/>
                <a:cs typeface="Courier New"/>
              </a:rPr>
              <a:t>-- 3. Crear Tabla de Cursos (Unificación de </a:t>
            </a:r>
            <a:r>
              <a:rPr lang="es-CO" sz="1000" spc="-10" dirty="0" err="1">
                <a:solidFill>
                  <a:srgbClr val="1A1F2B"/>
                </a:solidFill>
                <a:latin typeface="Courier New"/>
                <a:cs typeface="Courier New"/>
              </a:rPr>
              <a:t>id_docente</a:t>
            </a:r>
            <a:r>
              <a:rPr lang="es-CO" sz="1000" spc="-10" dirty="0">
                <a:solidFill>
                  <a:srgbClr val="1A1F2B"/>
                </a:solidFill>
                <a:latin typeface="Courier New"/>
                <a:cs typeface="Courier New"/>
              </a:rPr>
              <a:t>)</a:t>
            </a:r>
          </a:p>
          <a:p>
            <a:pPr marL="165100" marR="4301490">
              <a:lnSpc>
                <a:spcPct val="125000"/>
              </a:lnSpc>
            </a:pPr>
            <a:r>
              <a:rPr lang="es-CO" sz="1000" spc="-10" dirty="0">
                <a:solidFill>
                  <a:srgbClr val="1A1F2B"/>
                </a:solidFill>
                <a:latin typeface="Courier New"/>
                <a:cs typeface="Courier New"/>
              </a:rPr>
              <a:t>CREATE TABLE CURSOS (</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id_curso</a:t>
            </a:r>
            <a:r>
              <a:rPr lang="es-CO" sz="1000" spc="-10" dirty="0">
                <a:solidFill>
                  <a:srgbClr val="1A1F2B"/>
                </a:solidFill>
                <a:latin typeface="Courier New"/>
                <a:cs typeface="Courier New"/>
              </a:rPr>
              <a:t> INT AUTO_INCREMENT PRIMARY KEY,</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nombre_curso</a:t>
            </a:r>
            <a:r>
              <a:rPr lang="es-CO" sz="1000" spc="-10" dirty="0">
                <a:solidFill>
                  <a:srgbClr val="1A1F2B"/>
                </a:solidFill>
                <a:latin typeface="Courier New"/>
                <a:cs typeface="Courier New"/>
              </a:rPr>
              <a:t> VARCHAR(200) NOT NULL,</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descripcion</a:t>
            </a:r>
            <a:r>
              <a:rPr lang="es-CO" sz="1000" spc="-10" dirty="0">
                <a:solidFill>
                  <a:srgbClr val="1A1F2B"/>
                </a:solidFill>
                <a:latin typeface="Courier New"/>
                <a:cs typeface="Courier New"/>
              </a:rPr>
              <a:t> TEXT,</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id_docente</a:t>
            </a:r>
            <a:r>
              <a:rPr lang="es-CO" sz="1000" spc="-10" dirty="0">
                <a:solidFill>
                  <a:srgbClr val="1A1F2B"/>
                </a:solidFill>
                <a:latin typeface="Courier New"/>
                <a:cs typeface="Courier New"/>
              </a:rPr>
              <a:t> INT,</a:t>
            </a:r>
          </a:p>
          <a:p>
            <a:pPr marL="165100" marR="4301490">
              <a:lnSpc>
                <a:spcPct val="125000"/>
              </a:lnSpc>
            </a:pPr>
            <a:r>
              <a:rPr lang="es-CO" sz="1000" spc="-10" dirty="0">
                <a:solidFill>
                  <a:srgbClr val="1A1F2B"/>
                </a:solidFill>
                <a:latin typeface="Courier New"/>
                <a:cs typeface="Courier New"/>
              </a:rPr>
              <a:t>    FOREIGN KEY (</a:t>
            </a:r>
            <a:r>
              <a:rPr lang="es-CO" sz="1000" spc="-10" dirty="0" err="1">
                <a:solidFill>
                  <a:srgbClr val="1A1F2B"/>
                </a:solidFill>
                <a:latin typeface="Courier New"/>
                <a:cs typeface="Courier New"/>
              </a:rPr>
              <a:t>id_docente</a:t>
            </a:r>
            <a:r>
              <a:rPr lang="es-CO" sz="1000" spc="-10" dirty="0">
                <a:solidFill>
                  <a:srgbClr val="1A1F2B"/>
                </a:solidFill>
                <a:latin typeface="Courier New"/>
                <a:cs typeface="Courier New"/>
              </a:rPr>
              <a:t>) REFERENCES DOCENTES (</a:t>
            </a:r>
            <a:r>
              <a:rPr lang="es-CO" sz="1000" spc="-10" dirty="0" err="1">
                <a:solidFill>
                  <a:srgbClr val="1A1F2B"/>
                </a:solidFill>
                <a:latin typeface="Courier New"/>
                <a:cs typeface="Courier New"/>
              </a:rPr>
              <a:t>id_docente</a:t>
            </a:r>
            <a:r>
              <a:rPr lang="es-CO" sz="1000" spc="-10" dirty="0">
                <a:solidFill>
                  <a:srgbClr val="1A1F2B"/>
                </a:solidFill>
                <a:latin typeface="Courier New"/>
                <a:cs typeface="Courier New"/>
              </a:rPr>
              <a:t>) ON DELETE SET NULL</a:t>
            </a:r>
          </a:p>
          <a:p>
            <a:pPr marL="165100" marR="4301490">
              <a:lnSpc>
                <a:spcPct val="125000"/>
              </a:lnSpc>
            </a:pPr>
            <a:r>
              <a:rPr lang="es-CO" sz="1000" spc="-10" dirty="0">
                <a:solidFill>
                  <a:srgbClr val="1A1F2B"/>
                </a:solidFill>
                <a:latin typeface="Courier New"/>
                <a:cs typeface="Courier New"/>
              </a:rPr>
              <a:t>);</a:t>
            </a:r>
          </a:p>
          <a:p>
            <a:pPr marL="165100" marR="4301490">
              <a:lnSpc>
                <a:spcPct val="125000"/>
              </a:lnSpc>
            </a:pPr>
            <a:endParaRPr lang="es-CO" sz="1000" spc="-10" dirty="0">
              <a:solidFill>
                <a:srgbClr val="1A1F2B"/>
              </a:solidFill>
              <a:latin typeface="Courier New"/>
              <a:cs typeface="Courier New"/>
            </a:endParaRPr>
          </a:p>
          <a:p>
            <a:pPr marL="165100" marR="4301490">
              <a:lnSpc>
                <a:spcPct val="125000"/>
              </a:lnSpc>
            </a:pPr>
            <a:r>
              <a:rPr lang="es-CO" sz="1000" spc="-10" dirty="0">
                <a:solidFill>
                  <a:srgbClr val="1A1F2B"/>
                </a:solidFill>
                <a:latin typeface="Courier New"/>
                <a:cs typeface="Courier New"/>
              </a:rPr>
              <a:t>-- 4. Crear Tabla de Módulos (Relación 1:N con Cursos, corregido </a:t>
            </a:r>
            <a:r>
              <a:rPr lang="es-CO" sz="1000" spc="-10" dirty="0" err="1">
                <a:solidFill>
                  <a:srgbClr val="1A1F2B"/>
                </a:solidFill>
                <a:latin typeface="Courier New"/>
                <a:cs typeface="Courier New"/>
              </a:rPr>
              <a:t>snake_case</a:t>
            </a:r>
            <a:r>
              <a:rPr lang="es-CO" sz="1000" spc="-10" dirty="0">
                <a:solidFill>
                  <a:srgbClr val="1A1F2B"/>
                </a:solidFill>
                <a:latin typeface="Courier New"/>
                <a:cs typeface="Courier New"/>
              </a:rPr>
              <a:t>)</a:t>
            </a:r>
          </a:p>
          <a:p>
            <a:pPr marL="165100" marR="4301490">
              <a:lnSpc>
                <a:spcPct val="125000"/>
              </a:lnSpc>
            </a:pPr>
            <a:r>
              <a:rPr lang="es-CO" sz="1000" spc="-10" dirty="0">
                <a:solidFill>
                  <a:srgbClr val="1A1F2B"/>
                </a:solidFill>
                <a:latin typeface="Courier New"/>
                <a:cs typeface="Courier New"/>
              </a:rPr>
              <a:t>CREATE TABLE MODULOS (</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id_modulo</a:t>
            </a:r>
            <a:r>
              <a:rPr lang="es-CO" sz="1000" spc="-10" dirty="0">
                <a:solidFill>
                  <a:srgbClr val="1A1F2B"/>
                </a:solidFill>
                <a:latin typeface="Courier New"/>
                <a:cs typeface="Courier New"/>
              </a:rPr>
              <a:t> INT AUTO_INCREMENT PRIMARY KEY,</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id_curso</a:t>
            </a:r>
            <a:r>
              <a:rPr lang="es-CO" sz="1000" spc="-10" dirty="0">
                <a:solidFill>
                  <a:srgbClr val="1A1F2B"/>
                </a:solidFill>
                <a:latin typeface="Courier New"/>
                <a:cs typeface="Courier New"/>
              </a:rPr>
              <a:t> INT NOT NULL,</a:t>
            </a:r>
          </a:p>
          <a:p>
            <a:pPr marL="165100" marR="4301490">
              <a:lnSpc>
                <a:spcPct val="125000"/>
              </a:lnSpc>
            </a:pP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nombre_modulo</a:t>
            </a:r>
            <a:r>
              <a:rPr lang="es-CO" sz="1000" spc="-10" dirty="0">
                <a:solidFill>
                  <a:srgbClr val="1A1F2B"/>
                </a:solidFill>
                <a:latin typeface="Courier New"/>
                <a:cs typeface="Courier New"/>
              </a:rPr>
              <a:t> VARCHAR(200) NOT NULL,</a:t>
            </a:r>
          </a:p>
          <a:p>
            <a:pPr marL="165100" marR="4301490">
              <a:lnSpc>
                <a:spcPct val="125000"/>
              </a:lnSpc>
            </a:pPr>
            <a:r>
              <a:rPr lang="es-CO" sz="1000" spc="-10" dirty="0">
                <a:solidFill>
                  <a:srgbClr val="1A1F2B"/>
                </a:solidFill>
                <a:latin typeface="Courier New"/>
                <a:cs typeface="Courier New"/>
              </a:rPr>
              <a:t>    contenido TEXT,</a:t>
            </a:r>
          </a:p>
          <a:p>
            <a:pPr marL="165100" marR="4301490">
              <a:lnSpc>
                <a:spcPct val="125000"/>
              </a:lnSpc>
            </a:pPr>
            <a:r>
              <a:rPr lang="es-CO" sz="1000" spc="-10" dirty="0">
                <a:solidFill>
                  <a:srgbClr val="1A1F2B"/>
                </a:solidFill>
                <a:latin typeface="Courier New"/>
                <a:cs typeface="Courier New"/>
              </a:rPr>
              <a:t>    FOREIGN KEY (</a:t>
            </a:r>
            <a:r>
              <a:rPr lang="es-CO" sz="1000" spc="-10" dirty="0" err="1">
                <a:solidFill>
                  <a:srgbClr val="1A1F2B"/>
                </a:solidFill>
                <a:latin typeface="Courier New"/>
                <a:cs typeface="Courier New"/>
              </a:rPr>
              <a:t>id_curso</a:t>
            </a:r>
            <a:r>
              <a:rPr lang="es-CO" sz="1000" spc="-10" dirty="0">
                <a:solidFill>
                  <a:srgbClr val="1A1F2B"/>
                </a:solidFill>
                <a:latin typeface="Courier New"/>
                <a:cs typeface="Courier New"/>
              </a:rPr>
              <a:t>) REFERENCES CURSOS (</a:t>
            </a:r>
            <a:r>
              <a:rPr lang="es-CO" sz="1000" spc="-10" dirty="0" err="1">
                <a:solidFill>
                  <a:srgbClr val="1A1F2B"/>
                </a:solidFill>
                <a:latin typeface="Courier New"/>
                <a:cs typeface="Courier New"/>
              </a:rPr>
              <a:t>id_curso</a:t>
            </a:r>
            <a:r>
              <a:rPr lang="es-CO" sz="1000" spc="-10" dirty="0">
                <a:solidFill>
                  <a:srgbClr val="1A1F2B"/>
                </a:solidFill>
                <a:latin typeface="Courier New"/>
                <a:cs typeface="Courier New"/>
              </a:rPr>
              <a:t>) ON DELETE CASCADE</a:t>
            </a:r>
          </a:p>
          <a:p>
            <a:pPr marL="165100" marR="4301490">
              <a:lnSpc>
                <a:spcPct val="125000"/>
              </a:lnSpc>
            </a:pPr>
            <a:r>
              <a:rPr lang="es-CO" sz="1000" spc="-10" dirty="0">
                <a:solidFill>
                  <a:srgbClr val="1A1F2B"/>
                </a:solidFill>
                <a:latin typeface="Courier New"/>
                <a:cs typeface="Courier New"/>
              </a:rPr>
              <a:t>);</a:t>
            </a:r>
          </a:p>
        </p:txBody>
      </p:sp>
      <p:sp>
        <p:nvSpPr>
          <p:cNvPr id="8" name="object 8"/>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9" name="object 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13</a:t>
            </a:fld>
            <a:endParaRPr spc="-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93650" y="5991225"/>
            <a:ext cx="8892540" cy="803993"/>
            <a:chOff x="900000" y="4511743"/>
            <a:chExt cx="8892540" cy="692150"/>
          </a:xfrm>
        </p:grpSpPr>
        <p:sp>
          <p:nvSpPr>
            <p:cNvPr id="3" name="object 3"/>
            <p:cNvSpPr/>
            <p:nvPr/>
          </p:nvSpPr>
          <p:spPr>
            <a:xfrm>
              <a:off x="900000" y="4511743"/>
              <a:ext cx="8892540" cy="692150"/>
            </a:xfrm>
            <a:custGeom>
              <a:avLst/>
              <a:gdLst/>
              <a:ahLst/>
              <a:cxnLst/>
              <a:rect l="l" t="t" r="r" b="b"/>
              <a:pathLst>
                <a:path w="8892540" h="692150">
                  <a:moveTo>
                    <a:pt x="8853900" y="692092"/>
                  </a:moveTo>
                  <a:lnTo>
                    <a:pt x="38100" y="692092"/>
                  </a:lnTo>
                  <a:lnTo>
                    <a:pt x="23306" y="689086"/>
                  </a:lnTo>
                  <a:lnTo>
                    <a:pt x="11191" y="680900"/>
                  </a:lnTo>
                  <a:lnTo>
                    <a:pt x="3006" y="668786"/>
                  </a:lnTo>
                  <a:lnTo>
                    <a:pt x="0" y="653992"/>
                  </a:lnTo>
                  <a:lnTo>
                    <a:pt x="0" y="38100"/>
                  </a:lnTo>
                  <a:lnTo>
                    <a:pt x="3006" y="23306"/>
                  </a:lnTo>
                  <a:lnTo>
                    <a:pt x="11191" y="11191"/>
                  </a:lnTo>
                  <a:lnTo>
                    <a:pt x="23306" y="3006"/>
                  </a:lnTo>
                  <a:lnTo>
                    <a:pt x="38100" y="0"/>
                  </a:lnTo>
                  <a:lnTo>
                    <a:pt x="8853900" y="0"/>
                  </a:lnTo>
                  <a:lnTo>
                    <a:pt x="8868693" y="3006"/>
                  </a:lnTo>
                  <a:lnTo>
                    <a:pt x="8880808" y="11191"/>
                  </a:lnTo>
                  <a:lnTo>
                    <a:pt x="8888993" y="23306"/>
                  </a:lnTo>
                  <a:lnTo>
                    <a:pt x="8892000" y="38100"/>
                  </a:lnTo>
                  <a:lnTo>
                    <a:pt x="8892000" y="653992"/>
                  </a:lnTo>
                  <a:lnTo>
                    <a:pt x="8888993" y="668786"/>
                  </a:lnTo>
                  <a:lnTo>
                    <a:pt x="8880808" y="680900"/>
                  </a:lnTo>
                  <a:lnTo>
                    <a:pt x="8868693" y="689086"/>
                  </a:lnTo>
                  <a:lnTo>
                    <a:pt x="8853900" y="692092"/>
                  </a:lnTo>
                  <a:close/>
                </a:path>
              </a:pathLst>
            </a:custGeom>
            <a:solidFill>
              <a:srgbClr val="EBF7FF"/>
            </a:solidFill>
          </p:spPr>
          <p:txBody>
            <a:bodyPr wrap="square" lIns="0" tIns="0" rIns="0" bIns="0" rtlCol="0"/>
            <a:lstStyle/>
            <a:p>
              <a:endParaRPr dirty="0"/>
            </a:p>
          </p:txBody>
        </p:sp>
        <p:sp>
          <p:nvSpPr>
            <p:cNvPr id="4" name="object 4"/>
            <p:cNvSpPr/>
            <p:nvPr/>
          </p:nvSpPr>
          <p:spPr>
            <a:xfrm>
              <a:off x="900000" y="4511743"/>
              <a:ext cx="47625" cy="692150"/>
            </a:xfrm>
            <a:custGeom>
              <a:avLst/>
              <a:gdLst/>
              <a:ahLst/>
              <a:cxnLst/>
              <a:rect l="l" t="t" r="r" b="b"/>
              <a:pathLst>
                <a:path w="47625" h="692150">
                  <a:moveTo>
                    <a:pt x="47625" y="692092"/>
                  </a:moveTo>
                  <a:lnTo>
                    <a:pt x="38100" y="692092"/>
                  </a:lnTo>
                  <a:lnTo>
                    <a:pt x="23306" y="689086"/>
                  </a:lnTo>
                  <a:lnTo>
                    <a:pt x="11191" y="680900"/>
                  </a:lnTo>
                  <a:lnTo>
                    <a:pt x="3006" y="668786"/>
                  </a:lnTo>
                  <a:lnTo>
                    <a:pt x="0" y="653992"/>
                  </a:lnTo>
                  <a:lnTo>
                    <a:pt x="0" y="38100"/>
                  </a:lnTo>
                  <a:lnTo>
                    <a:pt x="3006" y="23306"/>
                  </a:lnTo>
                  <a:lnTo>
                    <a:pt x="11191" y="11191"/>
                  </a:lnTo>
                  <a:lnTo>
                    <a:pt x="23306" y="3006"/>
                  </a:lnTo>
                  <a:lnTo>
                    <a:pt x="38100" y="0"/>
                  </a:lnTo>
                  <a:lnTo>
                    <a:pt x="47625" y="0"/>
                  </a:lnTo>
                  <a:lnTo>
                    <a:pt x="47625" y="692092"/>
                  </a:lnTo>
                  <a:close/>
                </a:path>
              </a:pathLst>
            </a:custGeom>
            <a:solidFill>
              <a:srgbClr val="3182CD"/>
            </a:solidFill>
          </p:spPr>
          <p:txBody>
            <a:bodyPr wrap="square" lIns="0" tIns="0" rIns="0" bIns="0" rtlCol="0"/>
            <a:lstStyle/>
            <a:p>
              <a:endParaRPr/>
            </a:p>
          </p:txBody>
        </p:sp>
      </p:grpSp>
      <p:sp>
        <p:nvSpPr>
          <p:cNvPr id="5" name="object 5"/>
          <p:cNvSpPr txBox="1"/>
          <p:nvPr/>
        </p:nvSpPr>
        <p:spPr>
          <a:xfrm>
            <a:off x="887300" y="874066"/>
            <a:ext cx="270319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5"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2</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dirty="0">
                <a:solidFill>
                  <a:srgbClr val="3182CD"/>
                </a:solidFill>
                <a:latin typeface="Arial"/>
                <a:cs typeface="Arial"/>
              </a:rPr>
              <a:t>I</a:t>
            </a:r>
            <a:r>
              <a:rPr sz="1100" b="1" spc="-155" dirty="0">
                <a:solidFill>
                  <a:srgbClr val="3182CD"/>
                </a:solidFill>
                <a:latin typeface="Arial"/>
                <a:cs typeface="Arial"/>
              </a:rPr>
              <a:t> </a:t>
            </a:r>
            <a:r>
              <a:rPr sz="1100" b="1" spc="-10" dirty="0">
                <a:solidFill>
                  <a:srgbClr val="3182CD"/>
                </a:solidFill>
                <a:latin typeface="Arial"/>
                <a:cs typeface="Arial"/>
              </a:rPr>
              <a:t>N</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N</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Í</a:t>
            </a:r>
            <a:r>
              <a:rPr sz="1100" b="1" spc="-160" dirty="0">
                <a:solidFill>
                  <a:srgbClr val="3182CD"/>
                </a:solidFill>
                <a:latin typeface="Arial"/>
                <a:cs typeface="Arial"/>
              </a:rPr>
              <a:t> </a:t>
            </a:r>
            <a:r>
              <a:rPr sz="1100" b="1" dirty="0">
                <a:solidFill>
                  <a:srgbClr val="3182CD"/>
                </a:solidFill>
                <a:latin typeface="Arial"/>
                <a:cs typeface="Arial"/>
              </a:rPr>
              <a:t>A</a:t>
            </a:r>
            <a:r>
              <a:rPr sz="1100" b="1" spc="254"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Q</a:t>
            </a:r>
            <a:r>
              <a:rPr sz="1100" b="1" spc="-160" dirty="0">
                <a:solidFill>
                  <a:srgbClr val="3182CD"/>
                </a:solidFill>
                <a:latin typeface="Arial"/>
                <a:cs typeface="Arial"/>
              </a:rPr>
              <a:t> </a:t>
            </a:r>
            <a:r>
              <a:rPr sz="1100" b="1" spc="-50" dirty="0">
                <a:solidFill>
                  <a:srgbClr val="3182CD"/>
                </a:solidFill>
                <a:latin typeface="Arial"/>
                <a:cs typeface="Arial"/>
              </a:rPr>
              <a:t>L</a:t>
            </a:r>
            <a:endParaRPr sz="1100">
              <a:latin typeface="Arial"/>
              <a:cs typeface="Arial"/>
            </a:endParaRPr>
          </a:p>
        </p:txBody>
      </p:sp>
      <p:sp>
        <p:nvSpPr>
          <p:cNvPr id="6" name="object 6" descr="$PPTXTitle"/>
          <p:cNvSpPr txBox="1">
            <a:spLocks noGrp="1"/>
          </p:cNvSpPr>
          <p:nvPr>
            <p:ph type="title"/>
          </p:nvPr>
        </p:nvSpPr>
        <p:spPr>
          <a:xfrm>
            <a:off x="887300" y="1104677"/>
            <a:ext cx="8892540" cy="351378"/>
          </a:xfrm>
          <a:prstGeom prst="rect">
            <a:avLst/>
          </a:prstGeom>
        </p:spPr>
        <p:txBody>
          <a:bodyPr vert="horz" wrap="square" lIns="0" tIns="12700" rIns="0" bIns="0" rtlCol="0">
            <a:spAutoFit/>
          </a:bodyPr>
          <a:lstStyle/>
          <a:p>
            <a:pPr marL="12700">
              <a:lnSpc>
                <a:spcPct val="100000"/>
              </a:lnSpc>
              <a:spcBef>
                <a:spcPts val="100"/>
              </a:spcBef>
            </a:pPr>
            <a:r>
              <a:rPr lang="es-CO" dirty="0"/>
              <a:t>Código Estructurado DDL (SQL) - Parte 3</a:t>
            </a:r>
            <a:endParaRPr spc="-25" dirty="0"/>
          </a:p>
        </p:txBody>
      </p:sp>
      <p:grpSp>
        <p:nvGrpSpPr>
          <p:cNvPr id="7" name="object 7"/>
          <p:cNvGrpSpPr/>
          <p:nvPr/>
        </p:nvGrpSpPr>
        <p:grpSpPr>
          <a:xfrm>
            <a:off x="900000" y="1885950"/>
            <a:ext cx="8886190" cy="3944926"/>
            <a:chOff x="900000" y="2187643"/>
            <a:chExt cx="8892540" cy="2209800"/>
          </a:xfrm>
        </p:grpSpPr>
        <p:sp>
          <p:nvSpPr>
            <p:cNvPr id="8" name="object 8"/>
            <p:cNvSpPr/>
            <p:nvPr/>
          </p:nvSpPr>
          <p:spPr>
            <a:xfrm>
              <a:off x="900000" y="2187643"/>
              <a:ext cx="8892540" cy="2209800"/>
            </a:xfrm>
            <a:custGeom>
              <a:avLst/>
              <a:gdLst/>
              <a:ahLst/>
              <a:cxnLst/>
              <a:rect l="l" t="t" r="r" b="b"/>
              <a:pathLst>
                <a:path w="8892540" h="2209800">
                  <a:moveTo>
                    <a:pt x="8834850" y="2209800"/>
                  </a:moveTo>
                  <a:lnTo>
                    <a:pt x="57150" y="2209800"/>
                  </a:lnTo>
                  <a:lnTo>
                    <a:pt x="34959" y="2205290"/>
                  </a:lnTo>
                  <a:lnTo>
                    <a:pt x="16787" y="2193012"/>
                  </a:lnTo>
                  <a:lnTo>
                    <a:pt x="4509" y="2174840"/>
                  </a:lnTo>
                  <a:lnTo>
                    <a:pt x="0" y="21526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2152650"/>
                  </a:lnTo>
                  <a:lnTo>
                    <a:pt x="8887490" y="2174840"/>
                  </a:lnTo>
                  <a:lnTo>
                    <a:pt x="8875212" y="2193012"/>
                  </a:lnTo>
                  <a:lnTo>
                    <a:pt x="8857040" y="2205290"/>
                  </a:lnTo>
                  <a:lnTo>
                    <a:pt x="8834850" y="2209800"/>
                  </a:lnTo>
                  <a:close/>
                </a:path>
              </a:pathLst>
            </a:custGeom>
            <a:solidFill>
              <a:srgbClr val="F7F9FB"/>
            </a:solidFill>
          </p:spPr>
          <p:txBody>
            <a:bodyPr wrap="square" lIns="0" tIns="0" rIns="0" bIns="0" rtlCol="0"/>
            <a:lstStyle/>
            <a:p>
              <a:endParaRPr dirty="0"/>
            </a:p>
          </p:txBody>
        </p:sp>
        <p:sp>
          <p:nvSpPr>
            <p:cNvPr id="9" name="object 9"/>
            <p:cNvSpPr/>
            <p:nvPr/>
          </p:nvSpPr>
          <p:spPr>
            <a:xfrm>
              <a:off x="900000" y="2187644"/>
              <a:ext cx="8892540" cy="2209800"/>
            </a:xfrm>
            <a:custGeom>
              <a:avLst/>
              <a:gdLst/>
              <a:ahLst/>
              <a:cxnLst/>
              <a:rect l="l" t="t" r="r" b="b"/>
              <a:pathLst>
                <a:path w="8892540" h="2209800">
                  <a:moveTo>
                    <a:pt x="8834850" y="2209800"/>
                  </a:moveTo>
                  <a:lnTo>
                    <a:pt x="57150" y="2209800"/>
                  </a:lnTo>
                  <a:lnTo>
                    <a:pt x="34959" y="2205290"/>
                  </a:lnTo>
                  <a:lnTo>
                    <a:pt x="16787" y="2193012"/>
                  </a:lnTo>
                  <a:lnTo>
                    <a:pt x="4509" y="2174840"/>
                  </a:lnTo>
                  <a:lnTo>
                    <a:pt x="0" y="21526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2152650"/>
                  </a:lnTo>
                  <a:lnTo>
                    <a:pt x="13282" y="2171141"/>
                  </a:lnTo>
                  <a:lnTo>
                    <a:pt x="23514" y="2186285"/>
                  </a:lnTo>
                  <a:lnTo>
                    <a:pt x="38658" y="2196517"/>
                  </a:lnTo>
                  <a:lnTo>
                    <a:pt x="57150" y="2200275"/>
                  </a:lnTo>
                  <a:lnTo>
                    <a:pt x="8864463" y="2200275"/>
                  </a:lnTo>
                  <a:lnTo>
                    <a:pt x="8857040" y="2205290"/>
                  </a:lnTo>
                  <a:lnTo>
                    <a:pt x="8834850" y="2209800"/>
                  </a:lnTo>
                  <a:close/>
                </a:path>
                <a:path w="8892540" h="2209800">
                  <a:moveTo>
                    <a:pt x="8864463" y="2200275"/>
                  </a:moveTo>
                  <a:lnTo>
                    <a:pt x="8834850" y="2200275"/>
                  </a:lnTo>
                  <a:lnTo>
                    <a:pt x="8853342" y="2196517"/>
                  </a:lnTo>
                  <a:lnTo>
                    <a:pt x="8868485" y="2186285"/>
                  </a:lnTo>
                  <a:lnTo>
                    <a:pt x="8878717" y="2171141"/>
                  </a:lnTo>
                  <a:lnTo>
                    <a:pt x="8882475" y="21526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2152650"/>
                  </a:lnTo>
                  <a:lnTo>
                    <a:pt x="8887490" y="2174840"/>
                  </a:lnTo>
                  <a:lnTo>
                    <a:pt x="8875212" y="2193012"/>
                  </a:lnTo>
                  <a:lnTo>
                    <a:pt x="8864463" y="2200275"/>
                  </a:lnTo>
                  <a:close/>
                </a:path>
              </a:pathLst>
            </a:custGeom>
            <a:solidFill>
              <a:srgbClr val="E2E8EF"/>
            </a:solidFill>
          </p:spPr>
          <p:txBody>
            <a:bodyPr wrap="square" lIns="0" tIns="0" rIns="0" bIns="0" rtlCol="0"/>
            <a:lstStyle/>
            <a:p>
              <a:endParaRPr/>
            </a:p>
          </p:txBody>
        </p:sp>
      </p:grpSp>
      <p:sp>
        <p:nvSpPr>
          <p:cNvPr id="10" name="object 10"/>
          <p:cNvSpPr txBox="1"/>
          <p:nvPr/>
        </p:nvSpPr>
        <p:spPr>
          <a:xfrm>
            <a:off x="887299" y="1647825"/>
            <a:ext cx="8659926" cy="5083892"/>
          </a:xfrm>
          <a:prstGeom prst="rect">
            <a:avLst/>
          </a:prstGeom>
        </p:spPr>
        <p:txBody>
          <a:bodyPr vert="horz" wrap="square" lIns="0" tIns="12700" rIns="0" bIns="0" rtlCol="0">
            <a:spAutoFit/>
          </a:bodyPr>
          <a:lstStyle/>
          <a:p>
            <a:pPr marL="12700">
              <a:lnSpc>
                <a:spcPct val="100000"/>
              </a:lnSpc>
              <a:spcBef>
                <a:spcPts val="100"/>
              </a:spcBef>
            </a:pPr>
            <a:r>
              <a:rPr lang="es-ES" sz="1200" dirty="0"/>
              <a:t>Inclusión obligatoria de la tabla de Inscripciones y la declaración atómica de Progreso con sus respectivas restricciones:</a:t>
            </a:r>
            <a:endParaRPr sz="1200" dirty="0">
              <a:latin typeface="Arial MT"/>
              <a:cs typeface="Arial MT"/>
            </a:endParaRPr>
          </a:p>
          <a:p>
            <a:pPr>
              <a:lnSpc>
                <a:spcPct val="100000"/>
              </a:lnSpc>
            </a:pPr>
            <a:r>
              <a:rPr lang="es-CO" sz="1100" dirty="0">
                <a:latin typeface="Courier New"/>
                <a:cs typeface="Courier New"/>
              </a:rPr>
              <a:t>-- =========================================================</a:t>
            </a:r>
          </a:p>
          <a:p>
            <a:pPr>
              <a:lnSpc>
                <a:spcPct val="100000"/>
              </a:lnSpc>
            </a:pPr>
            <a:r>
              <a:rPr lang="es-CO" sz="1100" dirty="0">
                <a:latin typeface="Courier New"/>
                <a:cs typeface="Courier New"/>
              </a:rPr>
              <a:t>-- CAPA 3: TRANSACCIONAL Y DE AVANCE (DINÁMICA DE NEGOCIO)</a:t>
            </a:r>
          </a:p>
          <a:p>
            <a:pPr>
              <a:lnSpc>
                <a:spcPct val="100000"/>
              </a:lnSpc>
            </a:pPr>
            <a:r>
              <a:rPr lang="es-CO" sz="1100" dirty="0">
                <a:latin typeface="Courier New"/>
                <a:cs typeface="Courier New"/>
              </a:rPr>
              <a:t>-- =========================================================</a:t>
            </a:r>
          </a:p>
          <a:p>
            <a:pPr>
              <a:lnSpc>
                <a:spcPct val="100000"/>
              </a:lnSpc>
            </a:pPr>
            <a:r>
              <a:rPr lang="es-CO" sz="1100" dirty="0">
                <a:latin typeface="Courier New"/>
                <a:cs typeface="Courier New"/>
              </a:rPr>
              <a:t>-- 5. Crear Tabla Transaccional de Inscripciones (Omitida en versión anterior)</a:t>
            </a:r>
          </a:p>
          <a:p>
            <a:pPr>
              <a:lnSpc>
                <a:spcPct val="100000"/>
              </a:lnSpc>
            </a:pPr>
            <a:r>
              <a:rPr lang="es-CO" sz="1100" dirty="0">
                <a:latin typeface="Courier New"/>
                <a:cs typeface="Courier New"/>
              </a:rPr>
              <a:t>CREATE TABLE INSCRIPCIONES (</a:t>
            </a:r>
          </a:p>
          <a:p>
            <a:pPr>
              <a:lnSpc>
                <a:spcPct val="100000"/>
              </a:lnSpc>
            </a:pPr>
            <a:r>
              <a:rPr lang="es-CO" sz="1100" dirty="0">
                <a:latin typeface="Courier New"/>
                <a:cs typeface="Courier New"/>
              </a:rPr>
              <a:t>    </a:t>
            </a:r>
            <a:r>
              <a:rPr lang="es-CO" sz="1100" dirty="0" err="1">
                <a:latin typeface="Courier New"/>
                <a:cs typeface="Courier New"/>
              </a:rPr>
              <a:t>id_inscripcion</a:t>
            </a:r>
            <a:r>
              <a:rPr lang="es-CO" sz="1100" dirty="0">
                <a:latin typeface="Courier New"/>
                <a:cs typeface="Courier New"/>
              </a:rPr>
              <a:t> INT AUTO_INCREMENT PRIMARY KEY,</a:t>
            </a:r>
          </a:p>
          <a:p>
            <a:pPr>
              <a:lnSpc>
                <a:spcPct val="100000"/>
              </a:lnSpc>
            </a:pPr>
            <a:r>
              <a:rPr lang="es-CO" sz="1100" dirty="0">
                <a:latin typeface="Courier New"/>
                <a:cs typeface="Courier New"/>
              </a:rPr>
              <a:t>    </a:t>
            </a:r>
            <a:r>
              <a:rPr lang="es-CO" sz="1100" dirty="0" err="1">
                <a:latin typeface="Courier New"/>
                <a:cs typeface="Courier New"/>
              </a:rPr>
              <a:t>id_estudiante</a:t>
            </a:r>
            <a:r>
              <a:rPr lang="es-CO" sz="1100" dirty="0">
                <a:latin typeface="Courier New"/>
                <a:cs typeface="Courier New"/>
              </a:rPr>
              <a:t> INT NOT NULL,</a:t>
            </a:r>
          </a:p>
          <a:p>
            <a:pPr>
              <a:lnSpc>
                <a:spcPct val="100000"/>
              </a:lnSpc>
            </a:pPr>
            <a:r>
              <a:rPr lang="es-CO" sz="1100" dirty="0">
                <a:latin typeface="Courier New"/>
                <a:cs typeface="Courier New"/>
              </a:rPr>
              <a:t>    </a:t>
            </a:r>
            <a:r>
              <a:rPr lang="es-CO" sz="1100" dirty="0" err="1">
                <a:latin typeface="Courier New"/>
                <a:cs typeface="Courier New"/>
              </a:rPr>
              <a:t>id_curso</a:t>
            </a:r>
            <a:r>
              <a:rPr lang="es-CO" sz="1100" dirty="0">
                <a:latin typeface="Courier New"/>
                <a:cs typeface="Courier New"/>
              </a:rPr>
              <a:t> INT NOT NULL,</a:t>
            </a:r>
          </a:p>
          <a:p>
            <a:pPr>
              <a:lnSpc>
                <a:spcPct val="100000"/>
              </a:lnSpc>
            </a:pPr>
            <a:r>
              <a:rPr lang="es-CO" sz="1100" dirty="0">
                <a:latin typeface="Courier New"/>
                <a:cs typeface="Courier New"/>
              </a:rPr>
              <a:t>    </a:t>
            </a:r>
            <a:r>
              <a:rPr lang="es-CO" sz="1100" dirty="0" err="1">
                <a:latin typeface="Courier New"/>
                <a:cs typeface="Courier New"/>
              </a:rPr>
              <a:t>fecha_inscripcion</a:t>
            </a:r>
            <a:r>
              <a:rPr lang="es-CO" sz="1100" dirty="0">
                <a:latin typeface="Courier New"/>
                <a:cs typeface="Courier New"/>
              </a:rPr>
              <a:t> DATE DEFAULT (CURRENT_DATE),</a:t>
            </a:r>
          </a:p>
          <a:p>
            <a:pPr>
              <a:lnSpc>
                <a:spcPct val="100000"/>
              </a:lnSpc>
            </a:pPr>
            <a:r>
              <a:rPr lang="es-CO" sz="1100" dirty="0">
                <a:latin typeface="Courier New"/>
                <a:cs typeface="Courier New"/>
              </a:rPr>
              <a:t>    estado VARCHAR(20) DEFAULT 'Activa',</a:t>
            </a:r>
          </a:p>
          <a:p>
            <a:pPr>
              <a:lnSpc>
                <a:spcPct val="100000"/>
              </a:lnSpc>
            </a:pPr>
            <a:r>
              <a:rPr lang="es-CO" sz="1100" dirty="0">
                <a:latin typeface="Courier New"/>
                <a:cs typeface="Courier New"/>
              </a:rPr>
              <a:t>    FOREIGN KEY (</a:t>
            </a:r>
            <a:r>
              <a:rPr lang="es-CO" sz="1100" dirty="0" err="1">
                <a:latin typeface="Courier New"/>
                <a:cs typeface="Courier New"/>
              </a:rPr>
              <a:t>id_estudiante</a:t>
            </a:r>
            <a:r>
              <a:rPr lang="es-CO" sz="1100" dirty="0">
                <a:latin typeface="Courier New"/>
                <a:cs typeface="Courier New"/>
              </a:rPr>
              <a:t>) REFERENCES ESTUDIANTES (</a:t>
            </a:r>
            <a:r>
              <a:rPr lang="es-CO" sz="1100" dirty="0" err="1">
                <a:latin typeface="Courier New"/>
                <a:cs typeface="Courier New"/>
              </a:rPr>
              <a:t>id_estudiante</a:t>
            </a:r>
            <a:r>
              <a:rPr lang="es-CO" sz="1100" dirty="0">
                <a:latin typeface="Courier New"/>
                <a:cs typeface="Courier New"/>
              </a:rPr>
              <a:t>) ON DELETE RESTRICT,</a:t>
            </a:r>
          </a:p>
          <a:p>
            <a:pPr>
              <a:lnSpc>
                <a:spcPct val="100000"/>
              </a:lnSpc>
            </a:pPr>
            <a:r>
              <a:rPr lang="es-CO" sz="1100" dirty="0">
                <a:latin typeface="Courier New"/>
                <a:cs typeface="Courier New"/>
              </a:rPr>
              <a:t>    FOREIGN KEY (</a:t>
            </a:r>
            <a:r>
              <a:rPr lang="es-CO" sz="1100" dirty="0" err="1">
                <a:latin typeface="Courier New"/>
                <a:cs typeface="Courier New"/>
              </a:rPr>
              <a:t>id_curso</a:t>
            </a:r>
            <a:r>
              <a:rPr lang="es-CO" sz="1100" dirty="0">
                <a:latin typeface="Courier New"/>
                <a:cs typeface="Courier New"/>
              </a:rPr>
              <a:t>) REFERENCES CURSOS (</a:t>
            </a:r>
            <a:r>
              <a:rPr lang="es-CO" sz="1100" dirty="0" err="1">
                <a:latin typeface="Courier New"/>
                <a:cs typeface="Courier New"/>
              </a:rPr>
              <a:t>id_curso</a:t>
            </a:r>
            <a:r>
              <a:rPr lang="es-CO" sz="1100" dirty="0">
                <a:latin typeface="Courier New"/>
                <a:cs typeface="Courier New"/>
              </a:rPr>
              <a:t>) ON DELETE RESTRICT,</a:t>
            </a:r>
          </a:p>
          <a:p>
            <a:pPr>
              <a:lnSpc>
                <a:spcPct val="100000"/>
              </a:lnSpc>
            </a:pPr>
            <a:r>
              <a:rPr lang="es-CO" sz="1100" dirty="0">
                <a:latin typeface="Courier New"/>
                <a:cs typeface="Courier New"/>
              </a:rPr>
              <a:t>    CONSTRAINT </a:t>
            </a:r>
            <a:r>
              <a:rPr lang="es-CO" sz="1100" dirty="0" err="1">
                <a:latin typeface="Courier New"/>
                <a:cs typeface="Courier New"/>
              </a:rPr>
              <a:t>chk_estado_insc</a:t>
            </a:r>
            <a:r>
              <a:rPr lang="es-CO" sz="1100" dirty="0">
                <a:latin typeface="Courier New"/>
                <a:cs typeface="Courier New"/>
              </a:rPr>
              <a:t> CHECK (estado IN ('Activa', 'Inactiva'))</a:t>
            </a:r>
          </a:p>
          <a:p>
            <a:pPr>
              <a:lnSpc>
                <a:spcPct val="100000"/>
              </a:lnSpc>
            </a:pPr>
            <a:r>
              <a:rPr lang="es-CO" sz="1100" dirty="0">
                <a:latin typeface="Courier New"/>
                <a:cs typeface="Courier New"/>
              </a:rPr>
              <a:t>);</a:t>
            </a:r>
          </a:p>
          <a:p>
            <a:pPr>
              <a:lnSpc>
                <a:spcPct val="100000"/>
              </a:lnSpc>
            </a:pPr>
            <a:r>
              <a:rPr lang="es-CO" sz="1100" dirty="0">
                <a:latin typeface="Courier New"/>
                <a:cs typeface="Courier New"/>
              </a:rPr>
              <a:t>-- 6. Crear Tabla de Progreso (Alineada estrictamente a la inscripción en 3FN)</a:t>
            </a:r>
          </a:p>
          <a:p>
            <a:pPr>
              <a:lnSpc>
                <a:spcPct val="100000"/>
              </a:lnSpc>
            </a:pPr>
            <a:r>
              <a:rPr lang="es-CO" sz="1100" dirty="0">
                <a:latin typeface="Courier New"/>
                <a:cs typeface="Courier New"/>
              </a:rPr>
              <a:t>CREATE TABLE PROGRESO (</a:t>
            </a:r>
          </a:p>
          <a:p>
            <a:pPr>
              <a:lnSpc>
                <a:spcPct val="100000"/>
              </a:lnSpc>
            </a:pPr>
            <a:r>
              <a:rPr lang="es-CO" sz="1100" dirty="0">
                <a:latin typeface="Courier New"/>
                <a:cs typeface="Courier New"/>
              </a:rPr>
              <a:t>    </a:t>
            </a:r>
            <a:r>
              <a:rPr lang="es-CO" sz="1100" dirty="0" err="1">
                <a:latin typeface="Courier New"/>
                <a:cs typeface="Courier New"/>
              </a:rPr>
              <a:t>id_progreso</a:t>
            </a:r>
            <a:r>
              <a:rPr lang="es-CO" sz="1100" dirty="0">
                <a:latin typeface="Courier New"/>
                <a:cs typeface="Courier New"/>
              </a:rPr>
              <a:t> INT AUTO_INCREMENT PRIMARY KEY,</a:t>
            </a:r>
          </a:p>
          <a:p>
            <a:pPr>
              <a:lnSpc>
                <a:spcPct val="100000"/>
              </a:lnSpc>
            </a:pPr>
            <a:r>
              <a:rPr lang="es-CO" sz="1100" dirty="0">
                <a:latin typeface="Courier New"/>
                <a:cs typeface="Courier New"/>
              </a:rPr>
              <a:t>    </a:t>
            </a:r>
            <a:r>
              <a:rPr lang="es-CO" sz="1100" dirty="0" err="1">
                <a:latin typeface="Courier New"/>
                <a:cs typeface="Courier New"/>
              </a:rPr>
              <a:t>id_inscripcion</a:t>
            </a:r>
            <a:r>
              <a:rPr lang="es-CO" sz="1100" dirty="0">
                <a:latin typeface="Courier New"/>
                <a:cs typeface="Courier New"/>
              </a:rPr>
              <a:t> INT NOT NULL,</a:t>
            </a:r>
          </a:p>
          <a:p>
            <a:pPr>
              <a:lnSpc>
                <a:spcPct val="100000"/>
              </a:lnSpc>
            </a:pPr>
            <a:r>
              <a:rPr lang="es-CO" sz="1100" dirty="0">
                <a:latin typeface="Courier New"/>
                <a:cs typeface="Courier New"/>
              </a:rPr>
              <a:t>    </a:t>
            </a:r>
            <a:r>
              <a:rPr lang="es-CO" sz="1100" dirty="0" err="1">
                <a:latin typeface="Courier New"/>
                <a:cs typeface="Courier New"/>
              </a:rPr>
              <a:t>porcentaje_progreso</a:t>
            </a:r>
            <a:r>
              <a:rPr lang="es-CO" sz="1100" dirty="0">
                <a:latin typeface="Courier New"/>
                <a:cs typeface="Courier New"/>
              </a:rPr>
              <a:t> DECIMAL(5,2) DEFAULT 0.00,</a:t>
            </a:r>
          </a:p>
          <a:p>
            <a:pPr>
              <a:lnSpc>
                <a:spcPct val="100000"/>
              </a:lnSpc>
            </a:pPr>
            <a:r>
              <a:rPr lang="es-CO" sz="1100" dirty="0">
                <a:latin typeface="Courier New"/>
                <a:cs typeface="Courier New"/>
              </a:rPr>
              <a:t>    estado VARCHAR(20) DEFAULT 'No iniciado',</a:t>
            </a:r>
          </a:p>
          <a:p>
            <a:pPr>
              <a:lnSpc>
                <a:spcPct val="100000"/>
              </a:lnSpc>
            </a:pPr>
            <a:r>
              <a:rPr lang="es-CO" sz="1100" dirty="0">
                <a:latin typeface="Courier New"/>
                <a:cs typeface="Courier New"/>
              </a:rPr>
              <a:t>    FOREIGN KEY (</a:t>
            </a:r>
            <a:r>
              <a:rPr lang="es-CO" sz="1100" dirty="0" err="1">
                <a:latin typeface="Courier New"/>
                <a:cs typeface="Courier New"/>
              </a:rPr>
              <a:t>id_inscripcion</a:t>
            </a:r>
            <a:r>
              <a:rPr lang="es-CO" sz="1100" dirty="0">
                <a:latin typeface="Courier New"/>
                <a:cs typeface="Courier New"/>
              </a:rPr>
              <a:t>) REFERENCES INSCRIPCIONES (</a:t>
            </a:r>
            <a:r>
              <a:rPr lang="es-CO" sz="1100" dirty="0" err="1">
                <a:latin typeface="Courier New"/>
                <a:cs typeface="Courier New"/>
              </a:rPr>
              <a:t>id_inscripcion</a:t>
            </a:r>
            <a:r>
              <a:rPr lang="es-CO" sz="1100" dirty="0">
                <a:latin typeface="Courier New"/>
                <a:cs typeface="Courier New"/>
              </a:rPr>
              <a:t>) ON DELETE CASCADE,</a:t>
            </a:r>
          </a:p>
          <a:p>
            <a:pPr>
              <a:lnSpc>
                <a:spcPct val="100000"/>
              </a:lnSpc>
            </a:pPr>
            <a:r>
              <a:rPr lang="es-CO" sz="1100" dirty="0">
                <a:latin typeface="Courier New"/>
                <a:cs typeface="Courier New"/>
              </a:rPr>
              <a:t>    CONSTRAINT </a:t>
            </a:r>
            <a:r>
              <a:rPr lang="es-CO" sz="1100" dirty="0" err="1">
                <a:latin typeface="Courier New"/>
                <a:cs typeface="Courier New"/>
              </a:rPr>
              <a:t>chk_porcentaje</a:t>
            </a:r>
            <a:r>
              <a:rPr lang="es-CO" sz="1100" dirty="0">
                <a:latin typeface="Courier New"/>
                <a:cs typeface="Courier New"/>
              </a:rPr>
              <a:t> CHECK (</a:t>
            </a:r>
            <a:r>
              <a:rPr lang="es-CO" sz="1100" dirty="0" err="1">
                <a:latin typeface="Courier New"/>
                <a:cs typeface="Courier New"/>
              </a:rPr>
              <a:t>porcentaje_progreso</a:t>
            </a:r>
            <a:r>
              <a:rPr lang="es-CO" sz="1100" dirty="0">
                <a:latin typeface="Courier New"/>
                <a:cs typeface="Courier New"/>
              </a:rPr>
              <a:t> BETWEEN 0.00 AND 100.00),</a:t>
            </a:r>
          </a:p>
          <a:p>
            <a:pPr>
              <a:lnSpc>
                <a:spcPct val="100000"/>
              </a:lnSpc>
            </a:pPr>
            <a:r>
              <a:rPr lang="es-CO" sz="1100" dirty="0">
                <a:latin typeface="Courier New"/>
                <a:cs typeface="Courier New"/>
              </a:rPr>
              <a:t>    CONSTRAINT </a:t>
            </a:r>
            <a:r>
              <a:rPr lang="es-CO" sz="1100" dirty="0" err="1">
                <a:latin typeface="Courier New"/>
                <a:cs typeface="Courier New"/>
              </a:rPr>
              <a:t>chk_estado_prog</a:t>
            </a:r>
            <a:r>
              <a:rPr lang="es-CO" sz="1100" dirty="0">
                <a:latin typeface="Courier New"/>
                <a:cs typeface="Courier New"/>
              </a:rPr>
              <a:t> CHECK (estado IN ('No iniciado', 'En curso', 'Completado’));</a:t>
            </a:r>
          </a:p>
          <a:p>
            <a:pPr>
              <a:lnSpc>
                <a:spcPct val="100000"/>
              </a:lnSpc>
            </a:pPr>
            <a:endParaRPr lang="es-CO" sz="1100" dirty="0">
              <a:latin typeface="Courier New"/>
              <a:cs typeface="Courier New"/>
            </a:endParaRPr>
          </a:p>
          <a:p>
            <a:pPr>
              <a:lnSpc>
                <a:spcPct val="100000"/>
              </a:lnSpc>
            </a:pPr>
            <a:endParaRPr sz="1000" dirty="0">
              <a:latin typeface="Courier New"/>
              <a:cs typeface="Courier New"/>
            </a:endParaRPr>
          </a:p>
          <a:p>
            <a:pPr marL="174625" marR="5080" algn="just">
              <a:lnSpc>
                <a:spcPct val="125000"/>
              </a:lnSpc>
              <a:spcBef>
                <a:spcPts val="5"/>
              </a:spcBef>
            </a:pPr>
            <a:r>
              <a:rPr lang="es-ES" sz="1200" b="1" spc="-10" dirty="0">
                <a:solidFill>
                  <a:srgbClr val="2D3648"/>
                </a:solidFill>
                <a:latin typeface="Arial MT"/>
                <a:cs typeface="Arial MT"/>
              </a:rPr>
              <a:t>Justificación de Integridad: </a:t>
            </a:r>
            <a:r>
              <a:rPr lang="es-ES" sz="1200" spc="-10" dirty="0">
                <a:solidFill>
                  <a:srgbClr val="2D3648"/>
                </a:solidFill>
                <a:latin typeface="Arial MT"/>
                <a:cs typeface="Arial MT"/>
              </a:rPr>
              <a:t>El uso de ON DELETE CASCADE en la tabla PROGRESO garantiza que ante una baja de matrícula controlada, el sistema purgue los logs asociados de manera inmediata, eliminando la basura lógica en el almacenamiento.</a:t>
            </a:r>
            <a:endParaRPr sz="1200" dirty="0">
              <a:latin typeface="Arial MT"/>
              <a:cs typeface="Arial MT"/>
            </a:endParaRPr>
          </a:p>
        </p:txBody>
      </p:sp>
      <p:sp>
        <p:nvSpPr>
          <p:cNvPr id="11" name="object 11"/>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12" name="object 12"/>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3" name="object 13"/>
          <p:cNvSpPr txBox="1">
            <a:spLocks noGrp="1"/>
          </p:cNvSpPr>
          <p:nvPr>
            <p:ph type="sldNum" sz="quarter" idx="7"/>
          </p:nvPr>
        </p:nvSpPr>
        <p:spPr>
          <a:prstGeom prst="rect">
            <a:avLst/>
          </a:prstGeom>
        </p:spPr>
        <p:txBody>
          <a:bodyPr vert="horz" wrap="square" lIns="0" tIns="1270" rIns="0" bIns="0" rtlCol="0">
            <a:spAutoFit/>
          </a:bodyPr>
          <a:lstStyle/>
          <a:p>
            <a:pPr marL="79375">
              <a:lnSpc>
                <a:spcPct val="100000"/>
              </a:lnSpc>
              <a:spcBef>
                <a:spcPts val="10"/>
              </a:spcBef>
            </a:pPr>
            <a:r>
              <a:rPr dirty="0"/>
              <a:t>Slide</a:t>
            </a:r>
            <a:r>
              <a:rPr spc="-45" dirty="0"/>
              <a:t> </a:t>
            </a:r>
            <a:fld id="{81D60167-4931-47E6-BA6A-407CBD079E47}" type="slidenum">
              <a:rPr spc="-50" dirty="0"/>
              <a:t>14</a:t>
            </a:fld>
            <a:endParaRPr spc="-50" dirty="0"/>
          </a:p>
        </p:txBody>
      </p:sp>
    </p:spTree>
    <p:extLst>
      <p:ext uri="{BB962C8B-B14F-4D97-AF65-F5344CB8AC3E}">
        <p14:creationId xmlns:p14="http://schemas.microsoft.com/office/powerpoint/2010/main" val="274042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12957" y="2131660"/>
            <a:ext cx="5833745" cy="223520"/>
          </a:xfrm>
          <a:prstGeom prst="rect">
            <a:avLst/>
          </a:prstGeom>
        </p:spPr>
        <p:txBody>
          <a:bodyPr vert="horz" wrap="square" lIns="0" tIns="12700" rIns="0" bIns="0" rtlCol="0">
            <a:spAutoFit/>
          </a:bodyPr>
          <a:lstStyle/>
          <a:p>
            <a:pPr marL="12700">
              <a:lnSpc>
                <a:spcPct val="100000"/>
              </a:lnSpc>
              <a:spcBef>
                <a:spcPts val="100"/>
              </a:spcBef>
            </a:pPr>
            <a:r>
              <a:rPr sz="1300" b="1" dirty="0">
                <a:solidFill>
                  <a:srgbClr val="62B3ED"/>
                </a:solidFill>
                <a:latin typeface="Arial"/>
                <a:cs typeface="Arial"/>
              </a:rPr>
              <a:t>E</a:t>
            </a:r>
            <a:r>
              <a:rPr sz="1300" b="1" spc="-135" dirty="0">
                <a:solidFill>
                  <a:srgbClr val="62B3ED"/>
                </a:solidFill>
                <a:latin typeface="Arial"/>
                <a:cs typeface="Arial"/>
              </a:rPr>
              <a:t> </a:t>
            </a:r>
            <a:r>
              <a:rPr sz="1300" b="1" dirty="0">
                <a:solidFill>
                  <a:srgbClr val="62B3ED"/>
                </a:solidFill>
                <a:latin typeface="Arial"/>
                <a:cs typeface="Arial"/>
              </a:rPr>
              <a:t>S</a:t>
            </a:r>
            <a:r>
              <a:rPr sz="1300" b="1" spc="-140" dirty="0">
                <a:solidFill>
                  <a:srgbClr val="62B3ED"/>
                </a:solidFill>
                <a:latin typeface="Arial"/>
                <a:cs typeface="Arial"/>
              </a:rPr>
              <a:t> </a:t>
            </a:r>
            <a:r>
              <a:rPr sz="1300" b="1" spc="-10" dirty="0">
                <a:solidFill>
                  <a:srgbClr val="62B3ED"/>
                </a:solidFill>
                <a:latin typeface="Arial"/>
                <a:cs typeface="Arial"/>
              </a:rPr>
              <a:t>T</a:t>
            </a:r>
            <a:r>
              <a:rPr sz="1300" b="1" spc="-135" dirty="0">
                <a:solidFill>
                  <a:srgbClr val="62B3ED"/>
                </a:solidFill>
                <a:latin typeface="Arial"/>
                <a:cs typeface="Arial"/>
              </a:rPr>
              <a:t> </a:t>
            </a:r>
            <a:r>
              <a:rPr sz="1300" b="1" dirty="0">
                <a:solidFill>
                  <a:srgbClr val="62B3ED"/>
                </a:solidFill>
                <a:latin typeface="Arial"/>
                <a:cs typeface="Arial"/>
              </a:rPr>
              <a:t>R</a:t>
            </a:r>
            <a:r>
              <a:rPr sz="1300" b="1" spc="-140" dirty="0">
                <a:solidFill>
                  <a:srgbClr val="62B3ED"/>
                </a:solidFill>
                <a:latin typeface="Arial"/>
                <a:cs typeface="Arial"/>
              </a:rPr>
              <a:t> </a:t>
            </a:r>
            <a:r>
              <a:rPr sz="1300" b="1" spc="55" dirty="0">
                <a:solidFill>
                  <a:srgbClr val="62B3ED"/>
                </a:solidFill>
                <a:latin typeface="Arial"/>
                <a:cs typeface="Arial"/>
              </a:rPr>
              <a:t>AT</a:t>
            </a:r>
            <a:r>
              <a:rPr sz="1300" b="1" spc="-135"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spc="-20" dirty="0">
                <a:solidFill>
                  <a:srgbClr val="62B3ED"/>
                </a:solidFill>
                <a:latin typeface="Arial"/>
                <a:cs typeface="Arial"/>
              </a:rPr>
              <a:t>G</a:t>
            </a:r>
            <a:r>
              <a:rPr sz="1300" b="1" spc="-140" dirty="0">
                <a:solidFill>
                  <a:srgbClr val="62B3ED"/>
                </a:solidFill>
                <a:latin typeface="Arial"/>
                <a:cs typeface="Arial"/>
              </a:rPr>
              <a:t> </a:t>
            </a:r>
            <a:r>
              <a:rPr sz="1300" b="1" spc="-10" dirty="0">
                <a:solidFill>
                  <a:srgbClr val="62B3ED"/>
                </a:solidFill>
                <a:latin typeface="Arial"/>
                <a:cs typeface="Arial"/>
              </a:rPr>
              <a:t>I</a:t>
            </a:r>
            <a:r>
              <a:rPr sz="1300" b="1" spc="-135" dirty="0">
                <a:solidFill>
                  <a:srgbClr val="62B3ED"/>
                </a:solidFill>
                <a:latin typeface="Arial"/>
                <a:cs typeface="Arial"/>
              </a:rPr>
              <a:t> </a:t>
            </a:r>
            <a:r>
              <a:rPr sz="1300" b="1" dirty="0">
                <a:solidFill>
                  <a:srgbClr val="62B3ED"/>
                </a:solidFill>
                <a:latin typeface="Arial"/>
                <a:cs typeface="Arial"/>
              </a:rPr>
              <a:t>A</a:t>
            </a:r>
            <a:r>
              <a:rPr sz="1300" b="1" spc="400" dirty="0">
                <a:solidFill>
                  <a:srgbClr val="62B3ED"/>
                </a:solidFill>
                <a:latin typeface="Arial"/>
                <a:cs typeface="Arial"/>
              </a:rPr>
              <a:t> </a:t>
            </a:r>
            <a:r>
              <a:rPr sz="1300" b="1" dirty="0">
                <a:solidFill>
                  <a:srgbClr val="62B3ED"/>
                </a:solidFill>
                <a:latin typeface="Arial"/>
                <a:cs typeface="Arial"/>
              </a:rPr>
              <a:t>D</a:t>
            </a:r>
            <a:r>
              <a:rPr sz="1300" b="1" spc="-140" dirty="0">
                <a:solidFill>
                  <a:srgbClr val="62B3ED"/>
                </a:solidFill>
                <a:latin typeface="Arial"/>
                <a:cs typeface="Arial"/>
              </a:rPr>
              <a:t> </a:t>
            </a:r>
            <a:r>
              <a:rPr sz="1300" b="1" dirty="0">
                <a:solidFill>
                  <a:srgbClr val="62B3ED"/>
                </a:solidFill>
                <a:latin typeface="Arial"/>
                <a:cs typeface="Arial"/>
              </a:rPr>
              <a:t>E</a:t>
            </a:r>
            <a:r>
              <a:rPr sz="1300" b="1" spc="455"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N</a:t>
            </a:r>
            <a:r>
              <a:rPr sz="1300" b="1" spc="-135" dirty="0">
                <a:solidFill>
                  <a:srgbClr val="62B3ED"/>
                </a:solidFill>
                <a:latin typeface="Arial"/>
                <a:cs typeface="Arial"/>
              </a:rPr>
              <a:t> </a:t>
            </a:r>
            <a:r>
              <a:rPr sz="1300" b="1" dirty="0">
                <a:solidFill>
                  <a:srgbClr val="62B3ED"/>
                </a:solidFill>
                <a:latin typeface="Arial"/>
                <a:cs typeface="Arial"/>
              </a:rPr>
              <a:t>S</a:t>
            </a:r>
            <a:r>
              <a:rPr sz="1300" b="1" spc="-140"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dirty="0">
                <a:solidFill>
                  <a:srgbClr val="62B3ED"/>
                </a:solidFill>
                <a:latin typeface="Arial"/>
                <a:cs typeface="Arial"/>
              </a:rPr>
              <a:t>R</a:t>
            </a:r>
            <a:r>
              <a:rPr sz="1300" b="1" spc="-135"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spc="-10" dirty="0">
                <a:solidFill>
                  <a:srgbClr val="62B3ED"/>
                </a:solidFill>
                <a:latin typeface="Arial"/>
                <a:cs typeface="Arial"/>
              </a:rPr>
              <a:t>I</a:t>
            </a:r>
            <a:r>
              <a:rPr sz="1300" b="1" spc="-135" dirty="0">
                <a:solidFill>
                  <a:srgbClr val="62B3ED"/>
                </a:solidFill>
                <a:latin typeface="Arial"/>
                <a:cs typeface="Arial"/>
              </a:rPr>
              <a:t> </a:t>
            </a:r>
            <a:r>
              <a:rPr sz="1300" b="1" spc="-20" dirty="0">
                <a:solidFill>
                  <a:srgbClr val="62B3ED"/>
                </a:solidFill>
                <a:latin typeface="Arial"/>
                <a:cs typeface="Arial"/>
              </a:rPr>
              <a:t>Ó</a:t>
            </a:r>
            <a:r>
              <a:rPr sz="1300" b="1" spc="-140" dirty="0">
                <a:solidFill>
                  <a:srgbClr val="62B3ED"/>
                </a:solidFill>
                <a:latin typeface="Arial"/>
                <a:cs typeface="Arial"/>
              </a:rPr>
              <a:t> </a:t>
            </a:r>
            <a:r>
              <a:rPr sz="1300" b="1" dirty="0">
                <a:solidFill>
                  <a:srgbClr val="62B3ED"/>
                </a:solidFill>
                <a:latin typeface="Arial"/>
                <a:cs typeface="Arial"/>
              </a:rPr>
              <a:t>N</a:t>
            </a:r>
            <a:r>
              <a:rPr sz="1300" b="1" spc="425" dirty="0">
                <a:solidFill>
                  <a:srgbClr val="62B3ED"/>
                </a:solidFill>
                <a:latin typeface="Arial"/>
                <a:cs typeface="Arial"/>
              </a:rPr>
              <a:t> </a:t>
            </a:r>
            <a:r>
              <a:rPr sz="1300" b="1" dirty="0">
                <a:solidFill>
                  <a:srgbClr val="62B3ED"/>
                </a:solidFill>
                <a:latin typeface="Arial"/>
                <a:cs typeface="Arial"/>
              </a:rPr>
              <a:t>Y</a:t>
            </a:r>
            <a:r>
              <a:rPr sz="1300" b="1" spc="430" dirty="0">
                <a:solidFill>
                  <a:srgbClr val="62B3ED"/>
                </a:solidFill>
                <a:latin typeface="Arial"/>
                <a:cs typeface="Arial"/>
              </a:rPr>
              <a:t> </a:t>
            </a:r>
            <a:r>
              <a:rPr sz="1300" b="1" dirty="0">
                <a:solidFill>
                  <a:srgbClr val="62B3ED"/>
                </a:solidFill>
                <a:latin typeface="Arial"/>
                <a:cs typeface="Arial"/>
              </a:rPr>
              <a:t>S</a:t>
            </a:r>
            <a:r>
              <a:rPr sz="1300" b="1" spc="-140" dirty="0">
                <a:solidFill>
                  <a:srgbClr val="62B3ED"/>
                </a:solidFill>
                <a:latin typeface="Arial"/>
                <a:cs typeface="Arial"/>
              </a:rPr>
              <a:t> </a:t>
            </a:r>
            <a:r>
              <a:rPr sz="1300" b="1" spc="-10" dirty="0">
                <a:solidFill>
                  <a:srgbClr val="62B3ED"/>
                </a:solidFill>
                <a:latin typeface="Arial"/>
                <a:cs typeface="Arial"/>
              </a:rPr>
              <a:t>I</a:t>
            </a:r>
            <a:r>
              <a:rPr sz="1300" b="1" spc="-135" dirty="0">
                <a:solidFill>
                  <a:srgbClr val="62B3ED"/>
                </a:solidFill>
                <a:latin typeface="Arial"/>
                <a:cs typeface="Arial"/>
              </a:rPr>
              <a:t> </a:t>
            </a:r>
            <a:r>
              <a:rPr sz="1300" b="1" spc="-20" dirty="0">
                <a:solidFill>
                  <a:srgbClr val="62B3ED"/>
                </a:solidFill>
                <a:latin typeface="Arial"/>
                <a:cs typeface="Arial"/>
              </a:rPr>
              <a:t>M</a:t>
            </a:r>
            <a:r>
              <a:rPr sz="1300" b="1" spc="-140" dirty="0">
                <a:solidFill>
                  <a:srgbClr val="62B3ED"/>
                </a:solidFill>
                <a:latin typeface="Arial"/>
                <a:cs typeface="Arial"/>
              </a:rPr>
              <a:t> </a:t>
            </a:r>
            <a:r>
              <a:rPr sz="1300" b="1" dirty="0">
                <a:solidFill>
                  <a:srgbClr val="62B3ED"/>
                </a:solidFill>
                <a:latin typeface="Arial"/>
                <a:cs typeface="Arial"/>
              </a:rPr>
              <a:t>U</a:t>
            </a:r>
            <a:r>
              <a:rPr sz="1300" b="1" spc="-140" dirty="0">
                <a:solidFill>
                  <a:srgbClr val="62B3ED"/>
                </a:solidFill>
                <a:latin typeface="Arial"/>
                <a:cs typeface="Arial"/>
              </a:rPr>
              <a:t> </a:t>
            </a:r>
            <a:r>
              <a:rPr sz="1300" b="1" spc="-10" dirty="0">
                <a:solidFill>
                  <a:srgbClr val="62B3ED"/>
                </a:solidFill>
                <a:latin typeface="Arial"/>
                <a:cs typeface="Arial"/>
              </a:rPr>
              <a:t>L</a:t>
            </a:r>
            <a:r>
              <a:rPr sz="1300" b="1" spc="-135" dirty="0">
                <a:solidFill>
                  <a:srgbClr val="62B3ED"/>
                </a:solidFill>
                <a:latin typeface="Arial"/>
                <a:cs typeface="Arial"/>
              </a:rPr>
              <a:t> </a:t>
            </a:r>
            <a:r>
              <a:rPr sz="1300" b="1" dirty="0">
                <a:solidFill>
                  <a:srgbClr val="62B3ED"/>
                </a:solidFill>
                <a:latin typeface="Arial"/>
                <a:cs typeface="Arial"/>
              </a:rPr>
              <a:t>A</a:t>
            </a:r>
            <a:r>
              <a:rPr sz="1300" b="1" spc="-140" dirty="0">
                <a:solidFill>
                  <a:srgbClr val="62B3ED"/>
                </a:solidFill>
                <a:latin typeface="Arial"/>
                <a:cs typeface="Arial"/>
              </a:rPr>
              <a:t> </a:t>
            </a:r>
            <a:r>
              <a:rPr sz="1300" b="1" dirty="0">
                <a:solidFill>
                  <a:srgbClr val="62B3ED"/>
                </a:solidFill>
                <a:latin typeface="Arial"/>
                <a:cs typeface="Arial"/>
              </a:rPr>
              <a:t>C</a:t>
            </a:r>
            <a:r>
              <a:rPr sz="1300" b="1" spc="-135"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spc="-20" dirty="0">
                <a:solidFill>
                  <a:srgbClr val="62B3ED"/>
                </a:solidFill>
                <a:latin typeface="Arial"/>
                <a:cs typeface="Arial"/>
              </a:rPr>
              <a:t>Ó</a:t>
            </a:r>
            <a:r>
              <a:rPr sz="1300" b="1" spc="-140" dirty="0">
                <a:solidFill>
                  <a:srgbClr val="62B3ED"/>
                </a:solidFill>
                <a:latin typeface="Arial"/>
                <a:cs typeface="Arial"/>
              </a:rPr>
              <a:t> </a:t>
            </a:r>
            <a:r>
              <a:rPr sz="1300" b="1" dirty="0">
                <a:solidFill>
                  <a:srgbClr val="62B3ED"/>
                </a:solidFill>
                <a:latin typeface="Arial"/>
                <a:cs typeface="Arial"/>
              </a:rPr>
              <a:t>N</a:t>
            </a:r>
            <a:r>
              <a:rPr sz="1300" b="1" spc="455"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spc="-10" dirty="0">
                <a:solidFill>
                  <a:srgbClr val="62B3ED"/>
                </a:solidFill>
                <a:latin typeface="Arial"/>
                <a:cs typeface="Arial"/>
              </a:rPr>
              <a:t>I</a:t>
            </a:r>
            <a:r>
              <a:rPr sz="1300" b="1" spc="-135" dirty="0">
                <a:solidFill>
                  <a:srgbClr val="62B3ED"/>
                </a:solidFill>
                <a:latin typeface="Arial"/>
                <a:cs typeface="Arial"/>
              </a:rPr>
              <a:t> </a:t>
            </a:r>
            <a:r>
              <a:rPr sz="1300" b="1" dirty="0">
                <a:solidFill>
                  <a:srgbClr val="62B3ED"/>
                </a:solidFill>
                <a:latin typeface="Arial"/>
                <a:cs typeface="Arial"/>
              </a:rPr>
              <a:t>E</a:t>
            </a:r>
            <a:r>
              <a:rPr sz="1300" b="1" spc="-140" dirty="0">
                <a:solidFill>
                  <a:srgbClr val="62B3ED"/>
                </a:solidFill>
                <a:latin typeface="Arial"/>
                <a:cs typeface="Arial"/>
              </a:rPr>
              <a:t> </a:t>
            </a:r>
            <a:r>
              <a:rPr sz="1300" b="1" dirty="0">
                <a:solidFill>
                  <a:srgbClr val="62B3ED"/>
                </a:solidFill>
                <a:latin typeface="Arial"/>
                <a:cs typeface="Arial"/>
              </a:rPr>
              <a:t>N</a:t>
            </a:r>
            <a:r>
              <a:rPr sz="1300" b="1" spc="-140" dirty="0">
                <a:solidFill>
                  <a:srgbClr val="62B3ED"/>
                </a:solidFill>
                <a:latin typeface="Arial"/>
                <a:cs typeface="Arial"/>
              </a:rPr>
              <a:t> </a:t>
            </a:r>
            <a:r>
              <a:rPr sz="1300" b="1" spc="-10" dirty="0">
                <a:solidFill>
                  <a:srgbClr val="62B3ED"/>
                </a:solidFill>
                <a:latin typeface="Arial"/>
                <a:cs typeface="Arial"/>
              </a:rPr>
              <a:t>T</a:t>
            </a:r>
            <a:r>
              <a:rPr sz="1300" b="1" spc="-135" dirty="0">
                <a:solidFill>
                  <a:srgbClr val="62B3ED"/>
                </a:solidFill>
                <a:latin typeface="Arial"/>
                <a:cs typeface="Arial"/>
              </a:rPr>
              <a:t> </a:t>
            </a:r>
            <a:r>
              <a:rPr sz="1300" b="1" spc="-10" dirty="0">
                <a:solidFill>
                  <a:srgbClr val="62B3ED"/>
                </a:solidFill>
                <a:latin typeface="Arial"/>
                <a:cs typeface="Arial"/>
              </a:rPr>
              <a:t>Í</a:t>
            </a:r>
            <a:r>
              <a:rPr sz="1300" b="1" spc="-140" dirty="0">
                <a:solidFill>
                  <a:srgbClr val="62B3ED"/>
                </a:solidFill>
                <a:latin typeface="Arial"/>
                <a:cs typeface="Arial"/>
              </a:rPr>
              <a:t> </a:t>
            </a:r>
            <a:r>
              <a:rPr sz="1300" b="1" spc="-10" dirty="0">
                <a:solidFill>
                  <a:srgbClr val="62B3ED"/>
                </a:solidFill>
                <a:latin typeface="Arial"/>
                <a:cs typeface="Arial"/>
              </a:rPr>
              <a:t>F</a:t>
            </a:r>
            <a:r>
              <a:rPr sz="1300" b="1" spc="-135" dirty="0">
                <a:solidFill>
                  <a:srgbClr val="62B3ED"/>
                </a:solidFill>
                <a:latin typeface="Arial"/>
                <a:cs typeface="Arial"/>
              </a:rPr>
              <a:t> </a:t>
            </a:r>
            <a:r>
              <a:rPr sz="1300" b="1" spc="-10" dirty="0">
                <a:solidFill>
                  <a:srgbClr val="62B3ED"/>
                </a:solidFill>
                <a:latin typeface="Arial"/>
                <a:cs typeface="Arial"/>
              </a:rPr>
              <a:t>I</a:t>
            </a:r>
            <a:r>
              <a:rPr sz="1300" b="1" spc="-140" dirty="0">
                <a:solidFill>
                  <a:srgbClr val="62B3ED"/>
                </a:solidFill>
                <a:latin typeface="Arial"/>
                <a:cs typeface="Arial"/>
              </a:rPr>
              <a:t> </a:t>
            </a:r>
            <a:r>
              <a:rPr sz="1300" b="1" dirty="0">
                <a:solidFill>
                  <a:srgbClr val="62B3ED"/>
                </a:solidFill>
                <a:latin typeface="Arial"/>
                <a:cs typeface="Arial"/>
              </a:rPr>
              <a:t>C</a:t>
            </a:r>
            <a:r>
              <a:rPr sz="1300" b="1" spc="-140" dirty="0">
                <a:solidFill>
                  <a:srgbClr val="62B3ED"/>
                </a:solidFill>
                <a:latin typeface="Arial"/>
                <a:cs typeface="Arial"/>
              </a:rPr>
              <a:t> </a:t>
            </a:r>
            <a:r>
              <a:rPr sz="1300" b="1" spc="-50" dirty="0">
                <a:solidFill>
                  <a:srgbClr val="62B3ED"/>
                </a:solidFill>
                <a:latin typeface="Arial"/>
                <a:cs typeface="Arial"/>
              </a:rPr>
              <a:t>A</a:t>
            </a:r>
            <a:endParaRPr sz="1300">
              <a:latin typeface="Arial"/>
              <a:cs typeface="Arial"/>
            </a:endParaRPr>
          </a:p>
        </p:txBody>
      </p:sp>
      <p:sp>
        <p:nvSpPr>
          <p:cNvPr id="3" name="object 3" descr="$PPTXTitle"/>
          <p:cNvSpPr txBox="1">
            <a:spLocks noGrp="1"/>
          </p:cNvSpPr>
          <p:nvPr>
            <p:ph type="title"/>
          </p:nvPr>
        </p:nvSpPr>
        <p:spPr>
          <a:xfrm>
            <a:off x="2192747" y="2530504"/>
            <a:ext cx="6306820" cy="1016000"/>
          </a:xfrm>
          <a:prstGeom prst="rect">
            <a:avLst/>
          </a:prstGeom>
        </p:spPr>
        <p:txBody>
          <a:bodyPr vert="horz" wrap="square" lIns="0" tIns="50800" rIns="0" bIns="0" rtlCol="0">
            <a:spAutoFit/>
          </a:bodyPr>
          <a:lstStyle/>
          <a:p>
            <a:pPr algn="ctr">
              <a:lnSpc>
                <a:spcPct val="100000"/>
              </a:lnSpc>
              <a:spcBef>
                <a:spcPts val="400"/>
              </a:spcBef>
            </a:pPr>
            <a:r>
              <a:rPr sz="3000" dirty="0">
                <a:solidFill>
                  <a:srgbClr val="FFFFFF"/>
                </a:solidFill>
              </a:rPr>
              <a:t>SECCIÓN</a:t>
            </a:r>
            <a:r>
              <a:rPr sz="3000" spc="-30" dirty="0">
                <a:solidFill>
                  <a:srgbClr val="FFFFFF"/>
                </a:solidFill>
              </a:rPr>
              <a:t> </a:t>
            </a:r>
            <a:r>
              <a:rPr sz="3000" spc="-25" dirty="0">
                <a:solidFill>
                  <a:srgbClr val="FFFFFF"/>
                </a:solidFill>
              </a:rPr>
              <a:t>03</a:t>
            </a:r>
            <a:endParaRPr sz="3000"/>
          </a:p>
          <a:p>
            <a:pPr algn="ctr">
              <a:lnSpc>
                <a:spcPct val="100000"/>
              </a:lnSpc>
              <a:spcBef>
                <a:spcPts val="300"/>
              </a:spcBef>
            </a:pPr>
            <a:r>
              <a:rPr sz="3000" dirty="0">
                <a:solidFill>
                  <a:srgbClr val="FFFFFF"/>
                </a:solidFill>
              </a:rPr>
              <a:t>Estrategia</a:t>
            </a:r>
            <a:r>
              <a:rPr sz="3000" spc="-50" dirty="0">
                <a:solidFill>
                  <a:srgbClr val="FFFFFF"/>
                </a:solidFill>
              </a:rPr>
              <a:t> </a:t>
            </a:r>
            <a:r>
              <a:rPr sz="3000" dirty="0">
                <a:solidFill>
                  <a:srgbClr val="FFFFFF"/>
                </a:solidFill>
              </a:rPr>
              <a:t>DML</a:t>
            </a:r>
            <a:r>
              <a:rPr sz="3000" spc="-95" dirty="0">
                <a:solidFill>
                  <a:srgbClr val="FFFFFF"/>
                </a:solidFill>
              </a:rPr>
              <a:t> </a:t>
            </a:r>
            <a:r>
              <a:rPr sz="3000" dirty="0">
                <a:solidFill>
                  <a:srgbClr val="FFFFFF"/>
                </a:solidFill>
              </a:rPr>
              <a:t>y</a:t>
            </a:r>
            <a:r>
              <a:rPr sz="3000" spc="-45" dirty="0">
                <a:solidFill>
                  <a:srgbClr val="FFFFFF"/>
                </a:solidFill>
              </a:rPr>
              <a:t> </a:t>
            </a:r>
            <a:r>
              <a:rPr sz="3000" dirty="0">
                <a:solidFill>
                  <a:srgbClr val="FFFFFF"/>
                </a:solidFill>
              </a:rPr>
              <a:t>Calidad</a:t>
            </a:r>
            <a:r>
              <a:rPr sz="3000" spc="-45" dirty="0">
                <a:solidFill>
                  <a:srgbClr val="FFFFFF"/>
                </a:solidFill>
              </a:rPr>
              <a:t> </a:t>
            </a:r>
            <a:r>
              <a:rPr sz="3000" dirty="0">
                <a:solidFill>
                  <a:srgbClr val="FFFFFF"/>
                </a:solidFill>
              </a:rPr>
              <a:t>de</a:t>
            </a:r>
            <a:r>
              <a:rPr sz="3000" spc="-45" dirty="0">
                <a:solidFill>
                  <a:srgbClr val="FFFFFF"/>
                </a:solidFill>
              </a:rPr>
              <a:t> </a:t>
            </a:r>
            <a:r>
              <a:rPr sz="3000" spc="-10" dirty="0">
                <a:solidFill>
                  <a:srgbClr val="FFFFFF"/>
                </a:solidFill>
              </a:rPr>
              <a:t>Datos</a:t>
            </a: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3752" y="3168756"/>
            <a:ext cx="8892540" cy="1884341"/>
            <a:chOff x="900000" y="2431483"/>
            <a:chExt cx="8892540" cy="942340"/>
          </a:xfrm>
        </p:grpSpPr>
        <p:sp>
          <p:nvSpPr>
            <p:cNvPr id="3" name="object 3"/>
            <p:cNvSpPr/>
            <p:nvPr/>
          </p:nvSpPr>
          <p:spPr>
            <a:xfrm>
              <a:off x="900000" y="2431483"/>
              <a:ext cx="4446270" cy="942340"/>
            </a:xfrm>
            <a:custGeom>
              <a:avLst/>
              <a:gdLst/>
              <a:ahLst/>
              <a:cxnLst/>
              <a:rect l="l" t="t" r="r" b="b"/>
              <a:pathLst>
                <a:path w="4446270" h="942339">
                  <a:moveTo>
                    <a:pt x="4407900" y="941784"/>
                  </a:moveTo>
                  <a:lnTo>
                    <a:pt x="38100" y="941784"/>
                  </a:lnTo>
                  <a:lnTo>
                    <a:pt x="23306" y="938778"/>
                  </a:lnTo>
                  <a:lnTo>
                    <a:pt x="11191" y="930592"/>
                  </a:lnTo>
                  <a:lnTo>
                    <a:pt x="3006" y="918477"/>
                  </a:lnTo>
                  <a:lnTo>
                    <a:pt x="0" y="903684"/>
                  </a:lnTo>
                  <a:lnTo>
                    <a:pt x="0" y="38100"/>
                  </a:lnTo>
                  <a:lnTo>
                    <a:pt x="3006" y="23306"/>
                  </a:lnTo>
                  <a:lnTo>
                    <a:pt x="11191" y="11191"/>
                  </a:lnTo>
                  <a:lnTo>
                    <a:pt x="23306" y="3006"/>
                  </a:lnTo>
                  <a:lnTo>
                    <a:pt x="38100" y="0"/>
                  </a:lnTo>
                  <a:lnTo>
                    <a:pt x="4407900" y="0"/>
                  </a:lnTo>
                  <a:lnTo>
                    <a:pt x="4422693" y="3006"/>
                  </a:lnTo>
                  <a:lnTo>
                    <a:pt x="4434808" y="11191"/>
                  </a:lnTo>
                  <a:lnTo>
                    <a:pt x="4442993" y="23306"/>
                  </a:lnTo>
                  <a:lnTo>
                    <a:pt x="4446000" y="38100"/>
                  </a:lnTo>
                  <a:lnTo>
                    <a:pt x="4446000" y="903684"/>
                  </a:lnTo>
                  <a:lnTo>
                    <a:pt x="4442993" y="918477"/>
                  </a:lnTo>
                  <a:lnTo>
                    <a:pt x="4434808" y="930592"/>
                  </a:lnTo>
                  <a:lnTo>
                    <a:pt x="4422693" y="938778"/>
                  </a:lnTo>
                  <a:lnTo>
                    <a:pt x="4407900" y="941784"/>
                  </a:lnTo>
                  <a:close/>
                </a:path>
              </a:pathLst>
            </a:custGeom>
            <a:solidFill>
              <a:srgbClr val="EFFFF4"/>
            </a:solidFill>
          </p:spPr>
          <p:txBody>
            <a:bodyPr wrap="square" lIns="0" tIns="0" rIns="0" bIns="0" rtlCol="0"/>
            <a:lstStyle/>
            <a:p>
              <a:endParaRPr dirty="0"/>
            </a:p>
          </p:txBody>
        </p:sp>
        <p:sp>
          <p:nvSpPr>
            <p:cNvPr id="4" name="object 4"/>
            <p:cNvSpPr/>
            <p:nvPr/>
          </p:nvSpPr>
          <p:spPr>
            <a:xfrm>
              <a:off x="900000" y="2431484"/>
              <a:ext cx="4446270" cy="942340"/>
            </a:xfrm>
            <a:custGeom>
              <a:avLst/>
              <a:gdLst/>
              <a:ahLst/>
              <a:cxnLst/>
              <a:rect l="l" t="t" r="r" b="b"/>
              <a:pathLst>
                <a:path w="4446270" h="942339">
                  <a:moveTo>
                    <a:pt x="4407900" y="941784"/>
                  </a:moveTo>
                  <a:lnTo>
                    <a:pt x="38100" y="941784"/>
                  </a:lnTo>
                  <a:lnTo>
                    <a:pt x="23306" y="938778"/>
                  </a:lnTo>
                  <a:lnTo>
                    <a:pt x="11191" y="930592"/>
                  </a:lnTo>
                  <a:lnTo>
                    <a:pt x="3006" y="918477"/>
                  </a:lnTo>
                  <a:lnTo>
                    <a:pt x="0" y="903684"/>
                  </a:lnTo>
                  <a:lnTo>
                    <a:pt x="0" y="38100"/>
                  </a:lnTo>
                  <a:lnTo>
                    <a:pt x="3006" y="23306"/>
                  </a:lnTo>
                  <a:lnTo>
                    <a:pt x="11191" y="11191"/>
                  </a:lnTo>
                  <a:lnTo>
                    <a:pt x="23306" y="3006"/>
                  </a:lnTo>
                  <a:lnTo>
                    <a:pt x="38100" y="0"/>
                  </a:lnTo>
                  <a:lnTo>
                    <a:pt x="4407900" y="0"/>
                  </a:lnTo>
                  <a:lnTo>
                    <a:pt x="4422693" y="3006"/>
                  </a:lnTo>
                  <a:lnTo>
                    <a:pt x="4432341" y="9525"/>
                  </a:lnTo>
                  <a:lnTo>
                    <a:pt x="38100" y="9525"/>
                  </a:lnTo>
                  <a:lnTo>
                    <a:pt x="27004" y="11779"/>
                  </a:lnTo>
                  <a:lnTo>
                    <a:pt x="17918" y="17918"/>
                  </a:lnTo>
                  <a:lnTo>
                    <a:pt x="11779" y="27004"/>
                  </a:lnTo>
                  <a:lnTo>
                    <a:pt x="9525" y="38100"/>
                  </a:lnTo>
                  <a:lnTo>
                    <a:pt x="9525" y="903684"/>
                  </a:lnTo>
                  <a:lnTo>
                    <a:pt x="11779" y="914779"/>
                  </a:lnTo>
                  <a:lnTo>
                    <a:pt x="17918" y="923865"/>
                  </a:lnTo>
                  <a:lnTo>
                    <a:pt x="27004" y="930004"/>
                  </a:lnTo>
                  <a:lnTo>
                    <a:pt x="38100" y="932259"/>
                  </a:lnTo>
                  <a:lnTo>
                    <a:pt x="4432341" y="932259"/>
                  </a:lnTo>
                  <a:lnTo>
                    <a:pt x="4422693" y="938778"/>
                  </a:lnTo>
                  <a:lnTo>
                    <a:pt x="4407900" y="941784"/>
                  </a:lnTo>
                  <a:close/>
                </a:path>
                <a:path w="4446270" h="942339">
                  <a:moveTo>
                    <a:pt x="4432341" y="932259"/>
                  </a:moveTo>
                  <a:lnTo>
                    <a:pt x="4407900" y="932259"/>
                  </a:lnTo>
                  <a:lnTo>
                    <a:pt x="4418995" y="930004"/>
                  </a:lnTo>
                  <a:lnTo>
                    <a:pt x="4428081" y="923865"/>
                  </a:lnTo>
                  <a:lnTo>
                    <a:pt x="4434220" y="914779"/>
                  </a:lnTo>
                  <a:lnTo>
                    <a:pt x="4436475" y="903684"/>
                  </a:lnTo>
                  <a:lnTo>
                    <a:pt x="4436475" y="38100"/>
                  </a:lnTo>
                  <a:lnTo>
                    <a:pt x="4434220" y="27004"/>
                  </a:lnTo>
                  <a:lnTo>
                    <a:pt x="4428081" y="17918"/>
                  </a:lnTo>
                  <a:lnTo>
                    <a:pt x="4418995" y="11779"/>
                  </a:lnTo>
                  <a:lnTo>
                    <a:pt x="4407900" y="9525"/>
                  </a:lnTo>
                  <a:lnTo>
                    <a:pt x="4432341" y="9525"/>
                  </a:lnTo>
                  <a:lnTo>
                    <a:pt x="4434808" y="11191"/>
                  </a:lnTo>
                  <a:lnTo>
                    <a:pt x="4442993" y="23306"/>
                  </a:lnTo>
                  <a:lnTo>
                    <a:pt x="4446000" y="38100"/>
                  </a:lnTo>
                  <a:lnTo>
                    <a:pt x="4446000" y="903684"/>
                  </a:lnTo>
                  <a:lnTo>
                    <a:pt x="4442993" y="918477"/>
                  </a:lnTo>
                  <a:lnTo>
                    <a:pt x="4434808" y="930592"/>
                  </a:lnTo>
                  <a:lnTo>
                    <a:pt x="4432341" y="932259"/>
                  </a:lnTo>
                  <a:close/>
                </a:path>
              </a:pathLst>
            </a:custGeom>
            <a:solidFill>
              <a:srgbClr val="C6F6D4"/>
            </a:solidFill>
          </p:spPr>
          <p:txBody>
            <a:bodyPr wrap="square" lIns="0" tIns="0" rIns="0" bIns="0" rtlCol="0"/>
            <a:lstStyle/>
            <a:p>
              <a:endParaRPr/>
            </a:p>
          </p:txBody>
        </p:sp>
        <p:sp>
          <p:nvSpPr>
            <p:cNvPr id="5" name="object 5"/>
            <p:cNvSpPr/>
            <p:nvPr/>
          </p:nvSpPr>
          <p:spPr>
            <a:xfrm>
              <a:off x="5346000" y="2431483"/>
              <a:ext cx="4446270" cy="942340"/>
            </a:xfrm>
            <a:custGeom>
              <a:avLst/>
              <a:gdLst/>
              <a:ahLst/>
              <a:cxnLst/>
              <a:rect l="l" t="t" r="r" b="b"/>
              <a:pathLst>
                <a:path w="4446270" h="942339">
                  <a:moveTo>
                    <a:pt x="4407900" y="941784"/>
                  </a:moveTo>
                  <a:lnTo>
                    <a:pt x="38100" y="941784"/>
                  </a:lnTo>
                  <a:lnTo>
                    <a:pt x="23306" y="938778"/>
                  </a:lnTo>
                  <a:lnTo>
                    <a:pt x="11191" y="930592"/>
                  </a:lnTo>
                  <a:lnTo>
                    <a:pt x="3006" y="918477"/>
                  </a:lnTo>
                  <a:lnTo>
                    <a:pt x="0" y="903684"/>
                  </a:lnTo>
                  <a:lnTo>
                    <a:pt x="0" y="38100"/>
                  </a:lnTo>
                  <a:lnTo>
                    <a:pt x="3006" y="23306"/>
                  </a:lnTo>
                  <a:lnTo>
                    <a:pt x="11191" y="11191"/>
                  </a:lnTo>
                  <a:lnTo>
                    <a:pt x="23306" y="3006"/>
                  </a:lnTo>
                  <a:lnTo>
                    <a:pt x="38100" y="0"/>
                  </a:lnTo>
                  <a:lnTo>
                    <a:pt x="4407900" y="0"/>
                  </a:lnTo>
                  <a:lnTo>
                    <a:pt x="4422693" y="3006"/>
                  </a:lnTo>
                  <a:lnTo>
                    <a:pt x="4434808" y="11191"/>
                  </a:lnTo>
                  <a:lnTo>
                    <a:pt x="4442993" y="23306"/>
                  </a:lnTo>
                  <a:lnTo>
                    <a:pt x="4446000" y="38100"/>
                  </a:lnTo>
                  <a:lnTo>
                    <a:pt x="4446000" y="903684"/>
                  </a:lnTo>
                  <a:lnTo>
                    <a:pt x="4442993" y="918477"/>
                  </a:lnTo>
                  <a:lnTo>
                    <a:pt x="4434808" y="930592"/>
                  </a:lnTo>
                  <a:lnTo>
                    <a:pt x="4422693" y="938778"/>
                  </a:lnTo>
                  <a:lnTo>
                    <a:pt x="4407900" y="941784"/>
                  </a:lnTo>
                  <a:close/>
                </a:path>
              </a:pathLst>
            </a:custGeom>
            <a:solidFill>
              <a:srgbClr val="EFFFF4"/>
            </a:solidFill>
          </p:spPr>
          <p:txBody>
            <a:bodyPr wrap="square" lIns="0" tIns="0" rIns="0" bIns="0" rtlCol="0"/>
            <a:lstStyle/>
            <a:p>
              <a:endParaRPr/>
            </a:p>
          </p:txBody>
        </p:sp>
        <p:sp>
          <p:nvSpPr>
            <p:cNvPr id="6" name="object 6"/>
            <p:cNvSpPr/>
            <p:nvPr/>
          </p:nvSpPr>
          <p:spPr>
            <a:xfrm>
              <a:off x="5346000" y="2431484"/>
              <a:ext cx="4446270" cy="942340"/>
            </a:xfrm>
            <a:custGeom>
              <a:avLst/>
              <a:gdLst/>
              <a:ahLst/>
              <a:cxnLst/>
              <a:rect l="l" t="t" r="r" b="b"/>
              <a:pathLst>
                <a:path w="4446270" h="942339">
                  <a:moveTo>
                    <a:pt x="4407900" y="941784"/>
                  </a:moveTo>
                  <a:lnTo>
                    <a:pt x="38100" y="941784"/>
                  </a:lnTo>
                  <a:lnTo>
                    <a:pt x="23306" y="938778"/>
                  </a:lnTo>
                  <a:lnTo>
                    <a:pt x="11191" y="930592"/>
                  </a:lnTo>
                  <a:lnTo>
                    <a:pt x="3006" y="918477"/>
                  </a:lnTo>
                  <a:lnTo>
                    <a:pt x="0" y="903684"/>
                  </a:lnTo>
                  <a:lnTo>
                    <a:pt x="0" y="38100"/>
                  </a:lnTo>
                  <a:lnTo>
                    <a:pt x="3006" y="23306"/>
                  </a:lnTo>
                  <a:lnTo>
                    <a:pt x="11191" y="11191"/>
                  </a:lnTo>
                  <a:lnTo>
                    <a:pt x="23306" y="3006"/>
                  </a:lnTo>
                  <a:lnTo>
                    <a:pt x="38100" y="0"/>
                  </a:lnTo>
                  <a:lnTo>
                    <a:pt x="4407900" y="0"/>
                  </a:lnTo>
                  <a:lnTo>
                    <a:pt x="4422693" y="3006"/>
                  </a:lnTo>
                  <a:lnTo>
                    <a:pt x="4432341" y="9525"/>
                  </a:lnTo>
                  <a:lnTo>
                    <a:pt x="38100" y="9525"/>
                  </a:lnTo>
                  <a:lnTo>
                    <a:pt x="27004" y="11779"/>
                  </a:lnTo>
                  <a:lnTo>
                    <a:pt x="17918" y="17918"/>
                  </a:lnTo>
                  <a:lnTo>
                    <a:pt x="11779" y="27004"/>
                  </a:lnTo>
                  <a:lnTo>
                    <a:pt x="9525" y="38100"/>
                  </a:lnTo>
                  <a:lnTo>
                    <a:pt x="9525" y="903684"/>
                  </a:lnTo>
                  <a:lnTo>
                    <a:pt x="11779" y="914779"/>
                  </a:lnTo>
                  <a:lnTo>
                    <a:pt x="17918" y="923865"/>
                  </a:lnTo>
                  <a:lnTo>
                    <a:pt x="27004" y="930004"/>
                  </a:lnTo>
                  <a:lnTo>
                    <a:pt x="38100" y="932259"/>
                  </a:lnTo>
                  <a:lnTo>
                    <a:pt x="4432341" y="932259"/>
                  </a:lnTo>
                  <a:lnTo>
                    <a:pt x="4422693" y="938778"/>
                  </a:lnTo>
                  <a:lnTo>
                    <a:pt x="4407900" y="941784"/>
                  </a:lnTo>
                  <a:close/>
                </a:path>
                <a:path w="4446270" h="942339">
                  <a:moveTo>
                    <a:pt x="4432341" y="932259"/>
                  </a:moveTo>
                  <a:lnTo>
                    <a:pt x="4407900" y="932259"/>
                  </a:lnTo>
                  <a:lnTo>
                    <a:pt x="4418995" y="930004"/>
                  </a:lnTo>
                  <a:lnTo>
                    <a:pt x="4428081" y="923865"/>
                  </a:lnTo>
                  <a:lnTo>
                    <a:pt x="4434220" y="914779"/>
                  </a:lnTo>
                  <a:lnTo>
                    <a:pt x="4436475" y="903684"/>
                  </a:lnTo>
                  <a:lnTo>
                    <a:pt x="4436475" y="38100"/>
                  </a:lnTo>
                  <a:lnTo>
                    <a:pt x="4434220" y="27004"/>
                  </a:lnTo>
                  <a:lnTo>
                    <a:pt x="4428081" y="17918"/>
                  </a:lnTo>
                  <a:lnTo>
                    <a:pt x="4418995" y="11779"/>
                  </a:lnTo>
                  <a:lnTo>
                    <a:pt x="4407900" y="9525"/>
                  </a:lnTo>
                  <a:lnTo>
                    <a:pt x="4432341" y="9525"/>
                  </a:lnTo>
                  <a:lnTo>
                    <a:pt x="4434808" y="11191"/>
                  </a:lnTo>
                  <a:lnTo>
                    <a:pt x="4442993" y="23306"/>
                  </a:lnTo>
                  <a:lnTo>
                    <a:pt x="4446000" y="38100"/>
                  </a:lnTo>
                  <a:lnTo>
                    <a:pt x="4446000" y="903684"/>
                  </a:lnTo>
                  <a:lnTo>
                    <a:pt x="4442993" y="918477"/>
                  </a:lnTo>
                  <a:lnTo>
                    <a:pt x="4434808" y="930592"/>
                  </a:lnTo>
                  <a:lnTo>
                    <a:pt x="4432341" y="932259"/>
                  </a:lnTo>
                  <a:close/>
                </a:path>
              </a:pathLst>
            </a:custGeom>
            <a:solidFill>
              <a:srgbClr val="C6F6D4"/>
            </a:solidFill>
          </p:spPr>
          <p:txBody>
            <a:bodyPr wrap="square" lIns="0" tIns="0" rIns="0" bIns="0" rtlCol="0"/>
            <a:lstStyle/>
            <a:p>
              <a:endParaRPr/>
            </a:p>
          </p:txBody>
        </p:sp>
      </p:grpSp>
      <p:grpSp>
        <p:nvGrpSpPr>
          <p:cNvPr id="7" name="object 7"/>
          <p:cNvGrpSpPr/>
          <p:nvPr/>
        </p:nvGrpSpPr>
        <p:grpSpPr>
          <a:xfrm>
            <a:off x="900000" y="5229225"/>
            <a:ext cx="8892540" cy="981075"/>
            <a:chOff x="900000" y="3516142"/>
            <a:chExt cx="8892540" cy="762000"/>
          </a:xfrm>
        </p:grpSpPr>
        <p:sp>
          <p:nvSpPr>
            <p:cNvPr id="8" name="object 8"/>
            <p:cNvSpPr/>
            <p:nvPr/>
          </p:nvSpPr>
          <p:spPr>
            <a:xfrm>
              <a:off x="900000" y="3516142"/>
              <a:ext cx="8892540" cy="762000"/>
            </a:xfrm>
            <a:custGeom>
              <a:avLst/>
              <a:gdLst/>
              <a:ahLst/>
              <a:cxnLst/>
              <a:rect l="l" t="t" r="r" b="b"/>
              <a:pathLst>
                <a:path w="8892540" h="762000">
                  <a:moveTo>
                    <a:pt x="8853900" y="762000"/>
                  </a:moveTo>
                  <a:lnTo>
                    <a:pt x="38100" y="762000"/>
                  </a:lnTo>
                  <a:lnTo>
                    <a:pt x="23306" y="758993"/>
                  </a:lnTo>
                  <a:lnTo>
                    <a:pt x="11191" y="750808"/>
                  </a:lnTo>
                  <a:lnTo>
                    <a:pt x="3006" y="738693"/>
                  </a:lnTo>
                  <a:lnTo>
                    <a:pt x="0" y="723900"/>
                  </a:lnTo>
                  <a:lnTo>
                    <a:pt x="0" y="38100"/>
                  </a:lnTo>
                  <a:lnTo>
                    <a:pt x="3006" y="23306"/>
                  </a:lnTo>
                  <a:lnTo>
                    <a:pt x="11191" y="11191"/>
                  </a:lnTo>
                  <a:lnTo>
                    <a:pt x="23306" y="3006"/>
                  </a:lnTo>
                  <a:lnTo>
                    <a:pt x="38100" y="0"/>
                  </a:lnTo>
                  <a:lnTo>
                    <a:pt x="8853900" y="0"/>
                  </a:lnTo>
                  <a:lnTo>
                    <a:pt x="8868693" y="3006"/>
                  </a:lnTo>
                  <a:lnTo>
                    <a:pt x="8880808" y="11191"/>
                  </a:lnTo>
                  <a:lnTo>
                    <a:pt x="8888993" y="23306"/>
                  </a:lnTo>
                  <a:lnTo>
                    <a:pt x="8892000" y="38100"/>
                  </a:lnTo>
                  <a:lnTo>
                    <a:pt x="8892000" y="723900"/>
                  </a:lnTo>
                  <a:lnTo>
                    <a:pt x="8888993" y="738693"/>
                  </a:lnTo>
                  <a:lnTo>
                    <a:pt x="8880808" y="750808"/>
                  </a:lnTo>
                  <a:lnTo>
                    <a:pt x="8868693" y="758993"/>
                  </a:lnTo>
                  <a:lnTo>
                    <a:pt x="8853900" y="762000"/>
                  </a:lnTo>
                  <a:close/>
                </a:path>
              </a:pathLst>
            </a:custGeom>
            <a:solidFill>
              <a:srgbClr val="FFF9EF"/>
            </a:solidFill>
          </p:spPr>
          <p:txBody>
            <a:bodyPr wrap="square" lIns="0" tIns="0" rIns="0" bIns="0" rtlCol="0"/>
            <a:lstStyle/>
            <a:p>
              <a:endParaRPr/>
            </a:p>
          </p:txBody>
        </p:sp>
        <p:sp>
          <p:nvSpPr>
            <p:cNvPr id="9" name="object 9"/>
            <p:cNvSpPr/>
            <p:nvPr/>
          </p:nvSpPr>
          <p:spPr>
            <a:xfrm>
              <a:off x="921416" y="4260223"/>
              <a:ext cx="8859520" cy="18415"/>
            </a:xfrm>
            <a:custGeom>
              <a:avLst/>
              <a:gdLst/>
              <a:ahLst/>
              <a:cxnLst/>
              <a:rect l="l" t="t" r="r" b="b"/>
              <a:pathLst>
                <a:path w="8859520" h="18414">
                  <a:moveTo>
                    <a:pt x="8832483" y="17918"/>
                  </a:moveTo>
                  <a:lnTo>
                    <a:pt x="16683" y="17918"/>
                  </a:lnTo>
                  <a:lnTo>
                    <a:pt x="1889" y="14912"/>
                  </a:lnTo>
                  <a:lnTo>
                    <a:pt x="0" y="13635"/>
                  </a:lnTo>
                  <a:lnTo>
                    <a:pt x="26208" y="8393"/>
                  </a:lnTo>
                  <a:lnTo>
                    <a:pt x="8832483" y="8393"/>
                  </a:lnTo>
                  <a:lnTo>
                    <a:pt x="8843579" y="6139"/>
                  </a:lnTo>
                  <a:lnTo>
                    <a:pt x="8852665" y="0"/>
                  </a:lnTo>
                  <a:lnTo>
                    <a:pt x="8859392" y="6727"/>
                  </a:lnTo>
                  <a:lnTo>
                    <a:pt x="8847277" y="14912"/>
                  </a:lnTo>
                  <a:lnTo>
                    <a:pt x="8832483" y="17918"/>
                  </a:lnTo>
                  <a:close/>
                </a:path>
              </a:pathLst>
            </a:custGeom>
            <a:solidFill>
              <a:srgbClr val="FDEBC8"/>
            </a:solidFill>
          </p:spPr>
          <p:txBody>
            <a:bodyPr wrap="square" lIns="0" tIns="0" rIns="0" bIns="0" rtlCol="0"/>
            <a:lstStyle/>
            <a:p>
              <a:endParaRPr/>
            </a:p>
          </p:txBody>
        </p:sp>
        <p:sp>
          <p:nvSpPr>
            <p:cNvPr id="10" name="object 10"/>
            <p:cNvSpPr/>
            <p:nvPr/>
          </p:nvSpPr>
          <p:spPr>
            <a:xfrm>
              <a:off x="900000" y="3520426"/>
              <a:ext cx="47625" cy="753745"/>
            </a:xfrm>
            <a:custGeom>
              <a:avLst/>
              <a:gdLst/>
              <a:ahLst/>
              <a:cxnLst/>
              <a:rect l="l" t="t" r="r" b="b"/>
              <a:pathLst>
                <a:path w="47625" h="753745">
                  <a:moveTo>
                    <a:pt x="21416" y="753433"/>
                  </a:moveTo>
                  <a:lnTo>
                    <a:pt x="11191" y="746524"/>
                  </a:lnTo>
                  <a:lnTo>
                    <a:pt x="3006" y="734410"/>
                  </a:lnTo>
                  <a:lnTo>
                    <a:pt x="0" y="719616"/>
                  </a:lnTo>
                  <a:lnTo>
                    <a:pt x="0" y="33816"/>
                  </a:lnTo>
                  <a:lnTo>
                    <a:pt x="3006" y="19023"/>
                  </a:lnTo>
                  <a:lnTo>
                    <a:pt x="11191" y="6908"/>
                  </a:lnTo>
                  <a:lnTo>
                    <a:pt x="21416" y="0"/>
                  </a:lnTo>
                  <a:lnTo>
                    <a:pt x="47625" y="5241"/>
                  </a:lnTo>
                  <a:lnTo>
                    <a:pt x="47625" y="748191"/>
                  </a:lnTo>
                  <a:lnTo>
                    <a:pt x="21416" y="753433"/>
                  </a:lnTo>
                  <a:close/>
                </a:path>
              </a:pathLst>
            </a:custGeom>
            <a:solidFill>
              <a:srgbClr val="DD6B1F"/>
            </a:solidFill>
          </p:spPr>
          <p:txBody>
            <a:bodyPr wrap="square" lIns="0" tIns="0" rIns="0" bIns="0" rtlCol="0"/>
            <a:lstStyle/>
            <a:p>
              <a:endParaRPr/>
            </a:p>
          </p:txBody>
        </p:sp>
        <p:sp>
          <p:nvSpPr>
            <p:cNvPr id="11" name="object 11"/>
            <p:cNvSpPr/>
            <p:nvPr/>
          </p:nvSpPr>
          <p:spPr>
            <a:xfrm>
              <a:off x="921410" y="3516154"/>
              <a:ext cx="8870950" cy="751205"/>
            </a:xfrm>
            <a:custGeom>
              <a:avLst/>
              <a:gdLst/>
              <a:ahLst/>
              <a:cxnLst/>
              <a:rect l="l" t="t" r="r" b="b"/>
              <a:pathLst>
                <a:path w="8870950" h="751204">
                  <a:moveTo>
                    <a:pt x="8870582" y="38100"/>
                  </a:moveTo>
                  <a:lnTo>
                    <a:pt x="8867572" y="23304"/>
                  </a:lnTo>
                  <a:lnTo>
                    <a:pt x="8859393" y="11188"/>
                  </a:lnTo>
                  <a:lnTo>
                    <a:pt x="8847277" y="2997"/>
                  </a:lnTo>
                  <a:lnTo>
                    <a:pt x="8832482" y="0"/>
                  </a:lnTo>
                  <a:lnTo>
                    <a:pt x="16687" y="0"/>
                  </a:lnTo>
                  <a:lnTo>
                    <a:pt x="1892" y="2997"/>
                  </a:lnTo>
                  <a:lnTo>
                    <a:pt x="0" y="4279"/>
                  </a:lnTo>
                  <a:lnTo>
                    <a:pt x="26212" y="9525"/>
                  </a:lnTo>
                  <a:lnTo>
                    <a:pt x="8832482" y="9525"/>
                  </a:lnTo>
                  <a:lnTo>
                    <a:pt x="8843581" y="11772"/>
                  </a:lnTo>
                  <a:lnTo>
                    <a:pt x="8852662" y="17919"/>
                  </a:lnTo>
                  <a:lnTo>
                    <a:pt x="8858809" y="27000"/>
                  </a:lnTo>
                  <a:lnTo>
                    <a:pt x="8861057" y="38100"/>
                  </a:lnTo>
                  <a:lnTo>
                    <a:pt x="8861057" y="723900"/>
                  </a:lnTo>
                  <a:lnTo>
                    <a:pt x="8858809" y="734987"/>
                  </a:lnTo>
                  <a:lnTo>
                    <a:pt x="8852662" y="744080"/>
                  </a:lnTo>
                  <a:lnTo>
                    <a:pt x="8859393" y="750798"/>
                  </a:lnTo>
                  <a:lnTo>
                    <a:pt x="8867572" y="738682"/>
                  </a:lnTo>
                  <a:lnTo>
                    <a:pt x="8870582" y="723900"/>
                  </a:lnTo>
                  <a:lnTo>
                    <a:pt x="8870582" y="38100"/>
                  </a:lnTo>
                  <a:close/>
                </a:path>
              </a:pathLst>
            </a:custGeom>
            <a:solidFill>
              <a:srgbClr val="FDEBC8"/>
            </a:solidFill>
          </p:spPr>
          <p:txBody>
            <a:bodyPr wrap="square" lIns="0" tIns="0" rIns="0" bIns="0" rtlCol="0"/>
            <a:lstStyle/>
            <a:p>
              <a:endParaRPr/>
            </a:p>
          </p:txBody>
        </p:sp>
      </p:grpSp>
      <p:sp>
        <p:nvSpPr>
          <p:cNvPr id="12" name="object 12"/>
          <p:cNvSpPr txBox="1"/>
          <p:nvPr/>
        </p:nvSpPr>
        <p:spPr>
          <a:xfrm>
            <a:off x="887300" y="874066"/>
            <a:ext cx="260858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0"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3</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dirty="0">
                <a:solidFill>
                  <a:srgbClr val="3182CD"/>
                </a:solidFill>
                <a:latin typeface="Arial"/>
                <a:cs typeface="Arial"/>
              </a:rPr>
              <a:t>A</a:t>
            </a:r>
            <a:r>
              <a:rPr sz="1100" b="1" spc="25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25" dirty="0">
                <a:solidFill>
                  <a:srgbClr val="3182CD"/>
                </a:solidFill>
                <a:latin typeface="Arial"/>
                <a:cs typeface="Arial"/>
              </a:rPr>
              <a:t>VA</a:t>
            </a:r>
            <a:endParaRPr sz="1100">
              <a:latin typeface="Arial"/>
              <a:cs typeface="Arial"/>
            </a:endParaRPr>
          </a:p>
        </p:txBody>
      </p:sp>
      <p:sp>
        <p:nvSpPr>
          <p:cNvPr id="13" name="object 13" descr="$PPTXTitle"/>
          <p:cNvSpPr txBox="1">
            <a:spLocks noGrp="1"/>
          </p:cNvSpPr>
          <p:nvPr>
            <p:ph type="title"/>
          </p:nvPr>
        </p:nvSpPr>
        <p:spPr>
          <a:xfrm>
            <a:off x="887300" y="1104677"/>
            <a:ext cx="7505700" cy="351378"/>
          </a:xfrm>
          <a:prstGeom prst="rect">
            <a:avLst/>
          </a:prstGeom>
        </p:spPr>
        <p:txBody>
          <a:bodyPr vert="horz" wrap="square" lIns="0" tIns="12700" rIns="0" bIns="0" rtlCol="0">
            <a:spAutoFit/>
          </a:bodyPr>
          <a:lstStyle/>
          <a:p>
            <a:pPr marL="12700">
              <a:lnSpc>
                <a:spcPct val="100000"/>
              </a:lnSpc>
              <a:spcBef>
                <a:spcPts val="100"/>
              </a:spcBef>
            </a:pPr>
            <a:r>
              <a:rPr lang="es-ES" dirty="0"/>
              <a:t>1. Filosofía de la Inyección de Datos</a:t>
            </a:r>
            <a:endParaRPr lang="es-ES" spc="-10" dirty="0"/>
          </a:p>
        </p:txBody>
      </p:sp>
      <p:sp>
        <p:nvSpPr>
          <p:cNvPr id="14" name="object 14"/>
          <p:cNvSpPr txBox="1"/>
          <p:nvPr/>
        </p:nvSpPr>
        <p:spPr>
          <a:xfrm>
            <a:off x="887300" y="1721047"/>
            <a:ext cx="8886825" cy="723275"/>
          </a:xfrm>
          <a:prstGeom prst="rect">
            <a:avLst/>
          </a:prstGeom>
        </p:spPr>
        <p:txBody>
          <a:bodyPr vert="horz" wrap="square" lIns="0" tIns="12700" rIns="0" bIns="0" rtlCol="0">
            <a:spAutoFit/>
          </a:bodyPr>
          <a:lstStyle/>
          <a:p>
            <a:pPr marL="12700" marR="5080" algn="just">
              <a:lnSpc>
                <a:spcPct val="133300"/>
              </a:lnSpc>
              <a:spcBef>
                <a:spcPts val="100"/>
              </a:spcBef>
            </a:pPr>
            <a:r>
              <a:rPr lang="es-ES" sz="1200" dirty="0">
                <a:solidFill>
                  <a:srgbClr val="2D3648"/>
                </a:solidFill>
                <a:latin typeface="Arial MT"/>
              </a:rPr>
              <a:t>Par</a:t>
            </a:r>
            <a:r>
              <a:rPr lang="es-ES" sz="1200" dirty="0"/>
              <a:t>a garantizar que el modelo físico responda con eficiencia técnica y latencia óptima ante el volumen real de una plataforma en producción antes de su consumo analítico en </a:t>
            </a:r>
            <a:r>
              <a:rPr lang="es-ES" sz="1200" dirty="0" err="1"/>
              <a:t>Power</a:t>
            </a:r>
            <a:r>
              <a:rPr lang="es-ES" sz="1200" dirty="0"/>
              <a:t> BI, el equipo descartó las inserciones manuales limitadas y diseñó una estrategia de </a:t>
            </a:r>
            <a:r>
              <a:rPr lang="es-ES" sz="1200" b="1" dirty="0"/>
              <a:t>inyección automatizada de alto impacto</a:t>
            </a:r>
            <a:r>
              <a:rPr lang="es-ES" sz="1200" dirty="0"/>
              <a:t> mediante un script conector en Python.</a:t>
            </a:r>
            <a:endParaRPr sz="1200" dirty="0">
              <a:latin typeface="Arial MT"/>
              <a:cs typeface="Arial MT"/>
            </a:endParaRPr>
          </a:p>
        </p:txBody>
      </p:sp>
      <p:sp>
        <p:nvSpPr>
          <p:cNvPr id="15" name="object 15"/>
          <p:cNvSpPr txBox="1"/>
          <p:nvPr/>
        </p:nvSpPr>
        <p:spPr>
          <a:xfrm>
            <a:off x="1079500" y="3307034"/>
            <a:ext cx="4054574" cy="1541191"/>
          </a:xfrm>
          <a:prstGeom prst="rect">
            <a:avLst/>
          </a:prstGeom>
        </p:spPr>
        <p:txBody>
          <a:bodyPr vert="horz" wrap="square" lIns="0" tIns="81280" rIns="0" bIns="0" rtlCol="0">
            <a:spAutoFit/>
          </a:bodyPr>
          <a:lstStyle/>
          <a:p>
            <a:pPr marL="12700">
              <a:lnSpc>
                <a:spcPct val="100000"/>
              </a:lnSpc>
              <a:spcBef>
                <a:spcPts val="640"/>
              </a:spcBef>
            </a:pPr>
            <a:r>
              <a:rPr sz="1200" b="1" dirty="0">
                <a:solidFill>
                  <a:srgbClr val="21543D"/>
                </a:solidFill>
                <a:latin typeface="Arial"/>
                <a:cs typeface="Arial"/>
              </a:rPr>
              <a:t>1,500</a:t>
            </a:r>
            <a:r>
              <a:rPr sz="1200" b="1" spc="-85" dirty="0">
                <a:solidFill>
                  <a:srgbClr val="21543D"/>
                </a:solidFill>
                <a:latin typeface="Arial"/>
                <a:cs typeface="Arial"/>
              </a:rPr>
              <a:t> </a:t>
            </a:r>
            <a:r>
              <a:rPr sz="1200" b="1" dirty="0" err="1">
                <a:solidFill>
                  <a:srgbClr val="21543D"/>
                </a:solidFill>
                <a:latin typeface="Arial"/>
                <a:cs typeface="Arial"/>
              </a:rPr>
              <a:t>Alumnos</a:t>
            </a:r>
            <a:r>
              <a:rPr sz="1200" b="1" spc="-65" dirty="0">
                <a:solidFill>
                  <a:srgbClr val="21543D"/>
                </a:solidFill>
                <a:latin typeface="Arial"/>
                <a:cs typeface="Arial"/>
              </a:rPr>
              <a:t> </a:t>
            </a:r>
            <a:r>
              <a:rPr sz="1200" b="1" spc="-10" dirty="0" err="1">
                <a:solidFill>
                  <a:srgbClr val="21543D"/>
                </a:solidFill>
                <a:latin typeface="Arial"/>
                <a:cs typeface="Arial"/>
              </a:rPr>
              <a:t>Únicos</a:t>
            </a:r>
            <a:endParaRPr lang="es-ES" sz="1200" dirty="0">
              <a:latin typeface="Arial"/>
              <a:cs typeface="Arial"/>
            </a:endParaRPr>
          </a:p>
          <a:p>
            <a:pPr marL="12700" marR="5080" algn="just">
              <a:lnSpc>
                <a:spcPct val="125000"/>
              </a:lnSpc>
              <a:spcBef>
                <a:spcPts val="165"/>
              </a:spcBef>
            </a:pPr>
            <a:r>
              <a:rPr lang="es-ES" sz="1100" spc="-10" dirty="0">
                <a:solidFill>
                  <a:srgbClr val="2D3648"/>
                </a:solidFill>
                <a:latin typeface="Arial MT"/>
                <a:cs typeface="Arial MT"/>
              </a:rPr>
              <a:t>Se inyectaron de forma masiva registros de estudiantes utilizando un algoritmo generador de identidades. Los correos electrónicos se indexaron bajo una máscara limpia y estructurada, lo que permitió validar en tiempo de ejecución el comportamiento real, el rendimiento y el blindaje de la restricción UNIQUE en la base de dato</a:t>
            </a:r>
            <a:endParaRPr lang="es-ES" sz="1100" dirty="0">
              <a:latin typeface="Arial MT"/>
              <a:cs typeface="Arial MT"/>
            </a:endParaRPr>
          </a:p>
        </p:txBody>
      </p:sp>
      <p:sp>
        <p:nvSpPr>
          <p:cNvPr id="16" name="object 16"/>
          <p:cNvSpPr txBox="1"/>
          <p:nvPr/>
        </p:nvSpPr>
        <p:spPr>
          <a:xfrm>
            <a:off x="5485700" y="3307034"/>
            <a:ext cx="4052000" cy="1541191"/>
          </a:xfrm>
          <a:prstGeom prst="rect">
            <a:avLst/>
          </a:prstGeom>
        </p:spPr>
        <p:txBody>
          <a:bodyPr vert="horz" wrap="square" lIns="0" tIns="81280" rIns="0" bIns="0" rtlCol="0">
            <a:spAutoFit/>
          </a:bodyPr>
          <a:lstStyle/>
          <a:p>
            <a:pPr marL="12700">
              <a:lnSpc>
                <a:spcPct val="100000"/>
              </a:lnSpc>
              <a:spcBef>
                <a:spcPts val="640"/>
              </a:spcBef>
            </a:pPr>
            <a:r>
              <a:rPr sz="1200" b="1" dirty="0">
                <a:solidFill>
                  <a:srgbClr val="21543D"/>
                </a:solidFill>
                <a:latin typeface="Arial"/>
                <a:cs typeface="Arial"/>
              </a:rPr>
              <a:t>12,000+</a:t>
            </a:r>
            <a:r>
              <a:rPr sz="1200" b="1" spc="-20" dirty="0">
                <a:solidFill>
                  <a:srgbClr val="21543D"/>
                </a:solidFill>
                <a:latin typeface="Arial"/>
                <a:cs typeface="Arial"/>
              </a:rPr>
              <a:t> </a:t>
            </a:r>
            <a:r>
              <a:rPr sz="1200" b="1" dirty="0">
                <a:solidFill>
                  <a:srgbClr val="21543D"/>
                </a:solidFill>
                <a:latin typeface="Arial"/>
                <a:cs typeface="Arial"/>
              </a:rPr>
              <a:t>Filas</a:t>
            </a:r>
            <a:r>
              <a:rPr sz="1200" b="1" spc="-15" dirty="0">
                <a:solidFill>
                  <a:srgbClr val="21543D"/>
                </a:solidFill>
                <a:latin typeface="Arial"/>
                <a:cs typeface="Arial"/>
              </a:rPr>
              <a:t> </a:t>
            </a:r>
            <a:r>
              <a:rPr sz="1200" b="1" dirty="0">
                <a:solidFill>
                  <a:srgbClr val="21543D"/>
                </a:solidFill>
                <a:latin typeface="Arial"/>
                <a:cs typeface="Arial"/>
              </a:rPr>
              <a:t>de</a:t>
            </a:r>
            <a:r>
              <a:rPr sz="1200" b="1" spc="-20" dirty="0">
                <a:solidFill>
                  <a:srgbClr val="21543D"/>
                </a:solidFill>
                <a:latin typeface="Arial"/>
                <a:cs typeface="Arial"/>
              </a:rPr>
              <a:t> </a:t>
            </a:r>
            <a:r>
              <a:rPr sz="1200" b="1" spc="-10" dirty="0">
                <a:solidFill>
                  <a:srgbClr val="21543D"/>
                </a:solidFill>
                <a:latin typeface="Arial"/>
                <a:cs typeface="Arial"/>
              </a:rPr>
              <a:t>Trazabilidad</a:t>
            </a:r>
            <a:endParaRPr sz="1200" dirty="0">
              <a:latin typeface="Arial"/>
              <a:cs typeface="Arial"/>
            </a:endParaRPr>
          </a:p>
          <a:p>
            <a:pPr marL="12700" marR="5080" algn="just">
              <a:lnSpc>
                <a:spcPct val="125000"/>
              </a:lnSpc>
              <a:spcBef>
                <a:spcPts val="165"/>
              </a:spcBef>
            </a:pPr>
            <a:r>
              <a:rPr lang="es-ES" sz="1100" spc="-10" dirty="0">
                <a:solidFill>
                  <a:srgbClr val="2D3648"/>
                </a:solidFill>
                <a:latin typeface="Arial MT"/>
                <a:cs typeface="Arial MT"/>
              </a:rPr>
              <a:t>Para simular un entorno de alta concurrencia y comportamiento histórico realista, se pobló la tabla PROGRESO con más de 12,000 registros dinámicos. Esto permite que las métricas de negocio reflejen estados de avance variados (No iniciado, En curso, Completado) y distribuciones porcentuales aleatorias pero controladas.</a:t>
            </a:r>
            <a:endParaRPr sz="1100" dirty="0">
              <a:latin typeface="Arial MT"/>
              <a:cs typeface="Arial MT"/>
            </a:endParaRPr>
          </a:p>
        </p:txBody>
      </p:sp>
      <p:sp>
        <p:nvSpPr>
          <p:cNvPr id="17" name="object 17"/>
          <p:cNvSpPr txBox="1"/>
          <p:nvPr/>
        </p:nvSpPr>
        <p:spPr>
          <a:xfrm>
            <a:off x="947625" y="5337940"/>
            <a:ext cx="8826500" cy="682687"/>
          </a:xfrm>
          <a:prstGeom prst="rect">
            <a:avLst/>
          </a:prstGeom>
        </p:spPr>
        <p:txBody>
          <a:bodyPr vert="horz" wrap="square" lIns="0" tIns="12700" rIns="0" bIns="0" rtlCol="0">
            <a:spAutoFit/>
          </a:bodyPr>
          <a:lstStyle/>
          <a:p>
            <a:pPr marL="142240" marR="318770" algn="just">
              <a:lnSpc>
                <a:spcPct val="125000"/>
              </a:lnSpc>
              <a:spcBef>
                <a:spcPts val="100"/>
              </a:spcBef>
            </a:pPr>
            <a:r>
              <a:rPr sz="1200" b="1" dirty="0">
                <a:solidFill>
                  <a:srgbClr val="2D3648"/>
                </a:solidFill>
                <a:latin typeface="Arial"/>
                <a:cs typeface="Arial"/>
              </a:rPr>
              <a:t>Coherencia</a:t>
            </a:r>
            <a:r>
              <a:rPr sz="1200" b="1" spc="-25" dirty="0">
                <a:solidFill>
                  <a:srgbClr val="2D3648"/>
                </a:solidFill>
                <a:latin typeface="Arial"/>
                <a:cs typeface="Arial"/>
              </a:rPr>
              <a:t> </a:t>
            </a:r>
            <a:r>
              <a:rPr sz="1200" b="1" spc="-10" dirty="0">
                <a:solidFill>
                  <a:srgbClr val="2D3648"/>
                </a:solidFill>
                <a:latin typeface="Arial"/>
                <a:cs typeface="Arial"/>
              </a:rPr>
              <a:t>Temporal</a:t>
            </a:r>
            <a:r>
              <a:rPr sz="1200" b="1" spc="-25" dirty="0">
                <a:solidFill>
                  <a:srgbClr val="2D3648"/>
                </a:solidFill>
                <a:latin typeface="Arial"/>
                <a:cs typeface="Arial"/>
              </a:rPr>
              <a:t> </a:t>
            </a:r>
            <a:r>
              <a:rPr sz="1200" b="1" dirty="0">
                <a:solidFill>
                  <a:srgbClr val="2D3648"/>
                </a:solidFill>
                <a:latin typeface="Arial"/>
                <a:cs typeface="Arial"/>
              </a:rPr>
              <a:t>Blindada:</a:t>
            </a:r>
            <a:r>
              <a:rPr sz="1200" b="1" spc="-30" dirty="0">
                <a:solidFill>
                  <a:srgbClr val="2D3648"/>
                </a:solidFill>
                <a:latin typeface="Arial"/>
                <a:cs typeface="Arial"/>
              </a:rPr>
              <a:t> </a:t>
            </a:r>
            <a:r>
              <a:rPr lang="es-ES" sz="1200" spc="-10" dirty="0">
                <a:solidFill>
                  <a:srgbClr val="2D3648"/>
                </a:solidFill>
                <a:latin typeface="Arial MT"/>
                <a:cs typeface="Arial MT"/>
              </a:rPr>
              <a:t>El script lógico de generación matemática restringe y gobierna las marcas de tiempo. Mediante validaciones condicionales, se asegura que ninguna fecha en las tablas transaccionales de INSCRIPCIONES o en los logs de PROGRESO sea menor o anterior a la fecha de registro inicial (</a:t>
            </a:r>
            <a:r>
              <a:rPr lang="es-ES" sz="1200" spc="-10" dirty="0" err="1">
                <a:solidFill>
                  <a:srgbClr val="2D3648"/>
                </a:solidFill>
                <a:latin typeface="Arial MT"/>
                <a:cs typeface="Arial MT"/>
              </a:rPr>
              <a:t>fecha_registro</a:t>
            </a:r>
            <a:r>
              <a:rPr lang="es-ES" sz="1200" spc="-10" dirty="0">
                <a:solidFill>
                  <a:srgbClr val="2D3648"/>
                </a:solidFill>
                <a:latin typeface="Arial MT"/>
                <a:cs typeface="Arial MT"/>
              </a:rPr>
              <a:t>) del estudiante en el ecosistema.</a:t>
            </a:r>
            <a:endParaRPr sz="1200" dirty="0">
              <a:latin typeface="Arial MT"/>
              <a:cs typeface="Arial MT"/>
            </a:endParaRPr>
          </a:p>
        </p:txBody>
      </p:sp>
      <p:sp>
        <p:nvSpPr>
          <p:cNvPr id="18" name="object 18"/>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19" name="object 1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20" name="object 2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dirty="0"/>
              <a:t>Slide</a:t>
            </a:r>
            <a:r>
              <a:rPr spc="-45" dirty="0"/>
              <a:t> </a:t>
            </a:r>
            <a:fld id="{81D60167-4931-47E6-BA6A-407CBD079E47}" type="slidenum">
              <a:rPr spc="-25" dirty="0"/>
              <a:t>16</a:t>
            </a:fld>
            <a:endParaRPr spc="-25" dirty="0"/>
          </a:p>
        </p:txBody>
      </p:sp>
      <p:sp>
        <p:nvSpPr>
          <p:cNvPr id="21" name="object 13" descr="$PPTXTitle">
            <a:extLst>
              <a:ext uri="{FF2B5EF4-FFF2-40B4-BE49-F238E27FC236}">
                <a16:creationId xmlns:a16="http://schemas.microsoft.com/office/drawing/2014/main" id="{B592109A-D09A-4687-A95A-2FE002FA7F9E}"/>
              </a:ext>
            </a:extLst>
          </p:cNvPr>
          <p:cNvSpPr txBox="1">
            <a:spLocks/>
          </p:cNvSpPr>
          <p:nvPr/>
        </p:nvSpPr>
        <p:spPr>
          <a:xfrm>
            <a:off x="887299" y="2548752"/>
            <a:ext cx="8886825" cy="351378"/>
          </a:xfrm>
          <a:prstGeom prst="rect">
            <a:avLst/>
          </a:prstGeom>
        </p:spPr>
        <p:txBody>
          <a:bodyPr vert="horz" wrap="square" lIns="0" tIns="12700" rIns="0" bIns="0" rtlCol="0">
            <a:spAutoFit/>
          </a:bodyPr>
          <a:lstStyle>
            <a:lvl1pPr>
              <a:defRPr sz="2200" b="1" i="0">
                <a:solidFill>
                  <a:srgbClr val="1A365D"/>
                </a:solidFill>
                <a:latin typeface="Arial"/>
                <a:ea typeface="+mj-ea"/>
                <a:cs typeface="Arial"/>
              </a:defRPr>
            </a:lvl1pPr>
          </a:lstStyle>
          <a:p>
            <a:pPr marL="12700">
              <a:spcBef>
                <a:spcPts val="100"/>
              </a:spcBef>
            </a:pPr>
            <a:r>
              <a:rPr lang="es-CO" dirty="0"/>
              <a:t>2. Pilares de la Calidad del Dato (Data </a:t>
            </a:r>
            <a:r>
              <a:rPr lang="es-CO" dirty="0" err="1"/>
              <a:t>Quality</a:t>
            </a:r>
            <a:r>
              <a:rPr lang="es-CO" dirty="0"/>
              <a:t>)</a:t>
            </a:r>
            <a:endParaRPr lang="es-ES" spc="-1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00" y="874066"/>
            <a:ext cx="260858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0"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3</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dirty="0">
                <a:solidFill>
                  <a:srgbClr val="3182CD"/>
                </a:solidFill>
                <a:latin typeface="Arial"/>
                <a:cs typeface="Arial"/>
              </a:rPr>
              <a:t>A</a:t>
            </a:r>
            <a:r>
              <a:rPr sz="1100" b="1" spc="25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25" dirty="0">
                <a:solidFill>
                  <a:srgbClr val="3182CD"/>
                </a:solidFill>
                <a:latin typeface="Arial"/>
                <a:cs typeface="Arial"/>
              </a:rPr>
              <a:t>VA</a:t>
            </a:r>
            <a:endParaRPr sz="1100">
              <a:latin typeface="Arial"/>
              <a:cs typeface="Arial"/>
            </a:endParaRPr>
          </a:p>
        </p:txBody>
      </p:sp>
      <p:sp>
        <p:nvSpPr>
          <p:cNvPr id="3" name="object 3" descr="$PPTXTitle"/>
          <p:cNvSpPr txBox="1">
            <a:spLocks noGrp="1"/>
          </p:cNvSpPr>
          <p:nvPr>
            <p:ph type="title"/>
          </p:nvPr>
        </p:nvSpPr>
        <p:spPr>
          <a:xfrm>
            <a:off x="887299" y="1104676"/>
            <a:ext cx="8955715" cy="351378"/>
          </a:xfrm>
          <a:prstGeom prst="rect">
            <a:avLst/>
          </a:prstGeom>
        </p:spPr>
        <p:txBody>
          <a:bodyPr vert="horz" wrap="square" lIns="0" tIns="12700" rIns="0" bIns="0" rtlCol="0">
            <a:spAutoFit/>
          </a:bodyPr>
          <a:lstStyle/>
          <a:p>
            <a:pPr marL="12700">
              <a:lnSpc>
                <a:spcPct val="100000"/>
              </a:lnSpc>
              <a:spcBef>
                <a:spcPts val="100"/>
              </a:spcBef>
            </a:pPr>
            <a:r>
              <a:rPr lang="es-ES" spc="-10" dirty="0"/>
              <a:t>Arquitectura del Script de Población Automatizada</a:t>
            </a:r>
            <a:endParaRPr spc="-10" dirty="0"/>
          </a:p>
        </p:txBody>
      </p:sp>
      <p:grpSp>
        <p:nvGrpSpPr>
          <p:cNvPr id="4" name="object 4"/>
          <p:cNvGrpSpPr/>
          <p:nvPr/>
        </p:nvGrpSpPr>
        <p:grpSpPr>
          <a:xfrm>
            <a:off x="900000" y="2187642"/>
            <a:ext cx="8892540" cy="4593169"/>
            <a:chOff x="900000" y="2187643"/>
            <a:chExt cx="8892540" cy="2971800"/>
          </a:xfrm>
        </p:grpSpPr>
        <p:sp>
          <p:nvSpPr>
            <p:cNvPr id="5" name="object 5"/>
            <p:cNvSpPr/>
            <p:nvPr/>
          </p:nvSpPr>
          <p:spPr>
            <a:xfrm>
              <a:off x="900000" y="2187643"/>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2914650"/>
                  </a:lnTo>
                  <a:lnTo>
                    <a:pt x="8887490" y="2936840"/>
                  </a:lnTo>
                  <a:lnTo>
                    <a:pt x="8875212" y="2955012"/>
                  </a:lnTo>
                  <a:lnTo>
                    <a:pt x="8857040" y="2967290"/>
                  </a:lnTo>
                  <a:lnTo>
                    <a:pt x="8834850" y="2971800"/>
                  </a:lnTo>
                  <a:close/>
                </a:path>
              </a:pathLst>
            </a:custGeom>
            <a:solidFill>
              <a:srgbClr val="F7F9FB"/>
            </a:solidFill>
          </p:spPr>
          <p:txBody>
            <a:bodyPr wrap="square" lIns="0" tIns="0" rIns="0" bIns="0" rtlCol="0"/>
            <a:lstStyle/>
            <a:p>
              <a:endParaRPr/>
            </a:p>
          </p:txBody>
        </p:sp>
        <p:sp>
          <p:nvSpPr>
            <p:cNvPr id="6" name="object 6"/>
            <p:cNvSpPr/>
            <p:nvPr/>
          </p:nvSpPr>
          <p:spPr>
            <a:xfrm>
              <a:off x="900000" y="2187644"/>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2914650"/>
                  </a:lnTo>
                  <a:lnTo>
                    <a:pt x="13282" y="2933141"/>
                  </a:lnTo>
                  <a:lnTo>
                    <a:pt x="23514" y="2948285"/>
                  </a:lnTo>
                  <a:lnTo>
                    <a:pt x="38658" y="2958517"/>
                  </a:lnTo>
                  <a:lnTo>
                    <a:pt x="57150" y="2962275"/>
                  </a:lnTo>
                  <a:lnTo>
                    <a:pt x="8864463" y="2962275"/>
                  </a:lnTo>
                  <a:lnTo>
                    <a:pt x="8857040" y="2967290"/>
                  </a:lnTo>
                  <a:lnTo>
                    <a:pt x="8834850" y="2971800"/>
                  </a:lnTo>
                  <a:close/>
                </a:path>
                <a:path w="8892540" h="2971800">
                  <a:moveTo>
                    <a:pt x="8864463" y="2962275"/>
                  </a:moveTo>
                  <a:lnTo>
                    <a:pt x="8834850" y="2962275"/>
                  </a:lnTo>
                  <a:lnTo>
                    <a:pt x="8853342" y="2958517"/>
                  </a:lnTo>
                  <a:lnTo>
                    <a:pt x="8868485" y="2948285"/>
                  </a:lnTo>
                  <a:lnTo>
                    <a:pt x="8878717" y="2933141"/>
                  </a:lnTo>
                  <a:lnTo>
                    <a:pt x="8882475" y="29146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2914650"/>
                  </a:lnTo>
                  <a:lnTo>
                    <a:pt x="8887490" y="2936840"/>
                  </a:lnTo>
                  <a:lnTo>
                    <a:pt x="8875212" y="2955012"/>
                  </a:lnTo>
                  <a:lnTo>
                    <a:pt x="8864463" y="2962275"/>
                  </a:lnTo>
                  <a:close/>
                </a:path>
              </a:pathLst>
            </a:custGeom>
            <a:solidFill>
              <a:srgbClr val="E2E8EF"/>
            </a:solidFill>
          </p:spPr>
          <p:txBody>
            <a:bodyPr wrap="square" lIns="0" tIns="0" rIns="0" bIns="0" rtlCol="0"/>
            <a:lstStyle/>
            <a:p>
              <a:endParaRPr/>
            </a:p>
          </p:txBody>
        </p:sp>
      </p:grpSp>
      <p:sp>
        <p:nvSpPr>
          <p:cNvPr id="7" name="object 7"/>
          <p:cNvSpPr txBox="1"/>
          <p:nvPr/>
        </p:nvSpPr>
        <p:spPr>
          <a:xfrm>
            <a:off x="900000" y="1683881"/>
            <a:ext cx="8892540" cy="4998804"/>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D3648"/>
                </a:solidFill>
                <a:latin typeface="Arial MT"/>
                <a:cs typeface="Arial MT"/>
              </a:rPr>
              <a:t>E</a:t>
            </a:r>
            <a:r>
              <a:rPr lang="es-ES" sz="1200" dirty="0" err="1"/>
              <a:t>structura</a:t>
            </a:r>
            <a:r>
              <a:rPr lang="es-ES" sz="1200" dirty="0"/>
              <a:t> técnica del bloque lógico en Python (Pandas + MySQL </a:t>
            </a:r>
            <a:r>
              <a:rPr lang="es-ES" sz="1200" dirty="0" err="1"/>
              <a:t>Connector</a:t>
            </a:r>
            <a:r>
              <a:rPr lang="es-ES" sz="1200" dirty="0"/>
              <a:t>) utilizado por el equipo para materializar la estrategia DML y garantizar las reglas de integridad:</a:t>
            </a:r>
            <a:r>
              <a:rPr sz="1200" spc="-10" dirty="0">
                <a:solidFill>
                  <a:srgbClr val="2D3648"/>
                </a:solidFill>
                <a:latin typeface="Arial MT"/>
                <a:cs typeface="Arial MT"/>
              </a:rPr>
              <a:t>:</a:t>
            </a:r>
            <a:endParaRPr sz="1200" dirty="0">
              <a:latin typeface="Arial MT"/>
              <a:cs typeface="Arial MT"/>
            </a:endParaRP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a:t>
            </a:r>
          </a:p>
          <a:p>
            <a:pPr marL="165100">
              <a:lnSpc>
                <a:spcPct val="100000"/>
              </a:lnSpc>
            </a:pPr>
            <a:r>
              <a:rPr lang="es-CO" sz="1000" spc="-10" dirty="0">
                <a:solidFill>
                  <a:srgbClr val="1A1F2B"/>
                </a:solidFill>
                <a:latin typeface="Courier New"/>
                <a:cs typeface="Courier New"/>
              </a:rPr>
              <a:t>-- CAPA DML: INSERCIÓN DE DATOS DE CONTROL UNIFICADOS</a:t>
            </a:r>
          </a:p>
          <a:p>
            <a:pPr marL="165100">
              <a:lnSpc>
                <a:spcPct val="100000"/>
              </a:lnSpc>
            </a:pPr>
            <a:r>
              <a:rPr lang="es-CO" sz="1000" spc="-10" dirty="0">
                <a:solidFill>
                  <a:srgbClr val="1A1F2B"/>
                </a:solidFill>
                <a:latin typeface="Courier New"/>
                <a:cs typeface="Courier New"/>
              </a:rPr>
              <a:t>-- =========================================================</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-- 1. Población del cuerpo docente</a:t>
            </a:r>
          </a:p>
          <a:p>
            <a:pPr marL="165100">
              <a:lnSpc>
                <a:spcPct val="100000"/>
              </a:lnSpc>
            </a:pPr>
            <a:r>
              <a:rPr lang="es-CO" sz="1000" spc="-10" dirty="0">
                <a:solidFill>
                  <a:srgbClr val="1A1F2B"/>
                </a:solidFill>
                <a:latin typeface="Courier New"/>
                <a:cs typeface="Courier New"/>
              </a:rPr>
              <a:t>INSERT INTO DOCENTES (nombre, especialidad) VALUES </a:t>
            </a:r>
          </a:p>
          <a:p>
            <a:pPr marL="165100">
              <a:lnSpc>
                <a:spcPct val="100000"/>
              </a:lnSpc>
            </a:pPr>
            <a:r>
              <a:rPr lang="es-CO" sz="1000" spc="-10" dirty="0">
                <a:solidFill>
                  <a:srgbClr val="1A1F2B"/>
                </a:solidFill>
                <a:latin typeface="Courier New"/>
                <a:cs typeface="Courier New"/>
              </a:rPr>
              <a:t>('</a:t>
            </a:r>
            <a:r>
              <a:rPr lang="es-CO" sz="1000" spc="-10" dirty="0" err="1">
                <a:solidFill>
                  <a:srgbClr val="1A1F2B"/>
                </a:solidFill>
                <a:latin typeface="Courier New"/>
                <a:cs typeface="Courier New"/>
              </a:rPr>
              <a:t>Ingri</a:t>
            </a:r>
            <a:r>
              <a:rPr lang="es-CO" sz="1000" spc="-10" dirty="0">
                <a:solidFill>
                  <a:srgbClr val="1A1F2B"/>
                </a:solidFill>
                <a:latin typeface="Courier New"/>
                <a:cs typeface="Courier New"/>
              </a:rPr>
              <a:t> Johana Rolón', 'Bases de Datos Relacionales'), </a:t>
            </a:r>
          </a:p>
          <a:p>
            <a:pPr marL="165100">
              <a:lnSpc>
                <a:spcPct val="100000"/>
              </a:lnSpc>
            </a:pPr>
            <a:r>
              <a:rPr lang="es-CO" sz="1000" spc="-10" dirty="0">
                <a:solidFill>
                  <a:srgbClr val="1A1F2B"/>
                </a:solidFill>
                <a:latin typeface="Courier New"/>
                <a:cs typeface="Courier New"/>
              </a:rPr>
              <a:t>('Alejandro Cadavid', 'Ingeniería de Datos'),</a:t>
            </a:r>
          </a:p>
          <a:p>
            <a:pPr marL="165100">
              <a:lnSpc>
                <a:spcPct val="100000"/>
              </a:lnSpc>
            </a:pPr>
            <a:r>
              <a:rPr lang="es-CO" sz="1000" spc="-10" dirty="0">
                <a:solidFill>
                  <a:srgbClr val="1A1F2B"/>
                </a:solidFill>
                <a:latin typeface="Courier New"/>
                <a:cs typeface="Courier New"/>
              </a:rPr>
              <a:t>('Luz </a:t>
            </a:r>
            <a:r>
              <a:rPr lang="es-CO" sz="1000" spc="-10" dirty="0" err="1">
                <a:solidFill>
                  <a:srgbClr val="1A1F2B"/>
                </a:solidFill>
                <a:latin typeface="Courier New"/>
                <a:cs typeface="Courier New"/>
              </a:rPr>
              <a:t>Angelith</a:t>
            </a:r>
            <a:r>
              <a:rPr lang="es-CO" sz="1000" spc="-10" dirty="0">
                <a:solidFill>
                  <a:srgbClr val="1A1F2B"/>
                </a:solidFill>
                <a:latin typeface="Courier New"/>
                <a:cs typeface="Courier New"/>
              </a:rPr>
              <a:t> Espinosa', 'Inteligencia de Negocios');</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-- 2. Población del catálogo de cursos</a:t>
            </a:r>
          </a:p>
          <a:p>
            <a:pPr marL="165100">
              <a:lnSpc>
                <a:spcPct val="100000"/>
              </a:lnSpc>
            </a:pPr>
            <a:r>
              <a:rPr lang="es-CO" sz="1000" spc="-10" dirty="0">
                <a:solidFill>
                  <a:srgbClr val="1A1F2B"/>
                </a:solidFill>
                <a:latin typeface="Courier New"/>
                <a:cs typeface="Courier New"/>
              </a:rPr>
              <a:t>INSERT INTO CURSOS (</a:t>
            </a:r>
            <a:r>
              <a:rPr lang="es-CO" sz="1000" spc="-10" dirty="0" err="1">
                <a:solidFill>
                  <a:srgbClr val="1A1F2B"/>
                </a:solidFill>
                <a:latin typeface="Courier New"/>
                <a:cs typeface="Courier New"/>
              </a:rPr>
              <a:t>nombre_curso</a:t>
            </a: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descripcion</a:t>
            </a: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id_docente</a:t>
            </a:r>
            <a:r>
              <a:rPr lang="es-CO" sz="1000" spc="-10" dirty="0">
                <a:solidFill>
                  <a:srgbClr val="1A1F2B"/>
                </a:solidFill>
                <a:latin typeface="Courier New"/>
                <a:cs typeface="Courier New"/>
              </a:rPr>
              <a:t>) VALUES</a:t>
            </a:r>
          </a:p>
          <a:p>
            <a:pPr marL="165100">
              <a:lnSpc>
                <a:spcPct val="100000"/>
              </a:lnSpc>
            </a:pPr>
            <a:r>
              <a:rPr lang="es-CO" sz="1000" spc="-10" dirty="0">
                <a:solidFill>
                  <a:srgbClr val="1A1F2B"/>
                </a:solidFill>
                <a:latin typeface="Courier New"/>
                <a:cs typeface="Courier New"/>
              </a:rPr>
              <a:t>('</a:t>
            </a:r>
            <a:r>
              <a:rPr lang="es-CO" sz="1000" spc="-10" dirty="0" err="1">
                <a:solidFill>
                  <a:srgbClr val="1A1F2B"/>
                </a:solidFill>
                <a:latin typeface="Courier New"/>
                <a:cs typeface="Courier New"/>
              </a:rPr>
              <a:t>Bootcamp</a:t>
            </a:r>
            <a:r>
              <a:rPr lang="es-CO" sz="1000" spc="-10" dirty="0">
                <a:solidFill>
                  <a:srgbClr val="1A1F2B"/>
                </a:solidFill>
                <a:latin typeface="Courier New"/>
                <a:cs typeface="Courier New"/>
              </a:rPr>
              <a:t> de Analítica de Datos', 'Curso intensivo de SQL, Python y </a:t>
            </a:r>
            <a:r>
              <a:rPr lang="es-CO" sz="1000" spc="-10" dirty="0" err="1">
                <a:solidFill>
                  <a:srgbClr val="1A1F2B"/>
                </a:solidFill>
                <a:latin typeface="Courier New"/>
                <a:cs typeface="Courier New"/>
              </a:rPr>
              <a:t>Power</a:t>
            </a:r>
            <a:r>
              <a:rPr lang="es-CO" sz="1000" spc="-10" dirty="0">
                <a:solidFill>
                  <a:srgbClr val="1A1F2B"/>
                </a:solidFill>
                <a:latin typeface="Courier New"/>
                <a:cs typeface="Courier New"/>
              </a:rPr>
              <a:t> BI', 2),</a:t>
            </a:r>
          </a:p>
          <a:p>
            <a:pPr marL="165100">
              <a:lnSpc>
                <a:spcPct val="100000"/>
              </a:lnSpc>
            </a:pPr>
            <a:r>
              <a:rPr lang="es-CO" sz="1000" spc="-10" dirty="0">
                <a:solidFill>
                  <a:srgbClr val="1A1F2B"/>
                </a:solidFill>
                <a:latin typeface="Courier New"/>
                <a:cs typeface="Courier New"/>
              </a:rPr>
              <a:t>('Inteligencia de Negocios Avanzada', 'Modelado dimensional y arquitectura DAX', 3);</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-- 3. Población de estudiantes maestros</a:t>
            </a:r>
          </a:p>
          <a:p>
            <a:pPr marL="165100">
              <a:lnSpc>
                <a:spcPct val="100000"/>
              </a:lnSpc>
            </a:pPr>
            <a:r>
              <a:rPr lang="es-CO" sz="1000" spc="-10" dirty="0">
                <a:solidFill>
                  <a:srgbClr val="1A1F2B"/>
                </a:solidFill>
                <a:latin typeface="Courier New"/>
                <a:cs typeface="Courier New"/>
              </a:rPr>
              <a:t>INSERT INTO ESTUDIANTES (nombre, email, </a:t>
            </a:r>
            <a:r>
              <a:rPr lang="es-CO" sz="1000" spc="-10" dirty="0" err="1">
                <a:solidFill>
                  <a:srgbClr val="1A1F2B"/>
                </a:solidFill>
                <a:latin typeface="Courier New"/>
                <a:cs typeface="Courier New"/>
              </a:rPr>
              <a:t>fecha_registro</a:t>
            </a:r>
            <a:r>
              <a:rPr lang="es-CO" sz="1000" spc="-10" dirty="0">
                <a:solidFill>
                  <a:srgbClr val="1A1F2B"/>
                </a:solidFill>
                <a:latin typeface="Courier New"/>
                <a:cs typeface="Courier New"/>
              </a:rPr>
              <a:t>) VALUES </a:t>
            </a:r>
          </a:p>
          <a:p>
            <a:pPr marL="165100">
              <a:lnSpc>
                <a:spcPct val="100000"/>
              </a:lnSpc>
            </a:pPr>
            <a:r>
              <a:rPr lang="es-CO" sz="1000" spc="-10" dirty="0">
                <a:solidFill>
                  <a:srgbClr val="1A1F2B"/>
                </a:solidFill>
                <a:latin typeface="Courier New"/>
                <a:cs typeface="Courier New"/>
              </a:rPr>
              <a:t>('Carlos Mendoza', 'carlos.mendoza@fakermail.com', '2026-01-15'), </a:t>
            </a:r>
          </a:p>
          <a:p>
            <a:pPr marL="165100">
              <a:lnSpc>
                <a:spcPct val="100000"/>
              </a:lnSpc>
            </a:pPr>
            <a:r>
              <a:rPr lang="es-CO" sz="1000" spc="-10" dirty="0">
                <a:solidFill>
                  <a:srgbClr val="1A1F2B"/>
                </a:solidFill>
                <a:latin typeface="Courier New"/>
                <a:cs typeface="Courier New"/>
              </a:rPr>
              <a:t>('Diana </a:t>
            </a:r>
            <a:r>
              <a:rPr lang="es-CO" sz="1000" spc="-10" dirty="0" err="1">
                <a:solidFill>
                  <a:srgbClr val="1A1F2B"/>
                </a:solidFill>
                <a:latin typeface="Courier New"/>
                <a:cs typeface="Courier New"/>
              </a:rPr>
              <a:t>Arbelaez</a:t>
            </a:r>
            <a:r>
              <a:rPr lang="es-CO" sz="1000" spc="-10" dirty="0">
                <a:solidFill>
                  <a:srgbClr val="1A1F2B"/>
                </a:solidFill>
                <a:latin typeface="Courier New"/>
                <a:cs typeface="Courier New"/>
              </a:rPr>
              <a:t>', 'diana.arbelaez@fakermail.com', '2026-02-10');</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-- 4. Inserciones transaccionales correlativas</a:t>
            </a:r>
          </a:p>
          <a:p>
            <a:pPr marL="165100">
              <a:lnSpc>
                <a:spcPct val="100000"/>
              </a:lnSpc>
            </a:pPr>
            <a:r>
              <a:rPr lang="es-CO" sz="1000" spc="-10" dirty="0">
                <a:solidFill>
                  <a:srgbClr val="1A1F2B"/>
                </a:solidFill>
                <a:latin typeface="Courier New"/>
                <a:cs typeface="Courier New"/>
              </a:rPr>
              <a:t>INSERT INTO INSCRIPCIONES (</a:t>
            </a:r>
            <a:r>
              <a:rPr lang="es-CO" sz="1000" spc="-10" dirty="0" err="1">
                <a:solidFill>
                  <a:srgbClr val="1A1F2B"/>
                </a:solidFill>
                <a:latin typeface="Courier New"/>
                <a:cs typeface="Courier New"/>
              </a:rPr>
              <a:t>id_estudiante</a:t>
            </a: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id_curso</a:t>
            </a: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fecha_inscripcion</a:t>
            </a:r>
            <a:r>
              <a:rPr lang="es-CO" sz="1000" spc="-10" dirty="0">
                <a:solidFill>
                  <a:srgbClr val="1A1F2B"/>
                </a:solidFill>
                <a:latin typeface="Courier New"/>
                <a:cs typeface="Courier New"/>
              </a:rPr>
              <a:t>) VALUES </a:t>
            </a:r>
          </a:p>
          <a:p>
            <a:pPr marL="165100">
              <a:lnSpc>
                <a:spcPct val="100000"/>
              </a:lnSpc>
            </a:pPr>
            <a:r>
              <a:rPr lang="es-CO" sz="1000" spc="-10" dirty="0">
                <a:solidFill>
                  <a:srgbClr val="1A1F2B"/>
                </a:solidFill>
                <a:latin typeface="Courier New"/>
                <a:cs typeface="Courier New"/>
              </a:rPr>
              <a:t>(1, 1, '2026-01-16'),</a:t>
            </a:r>
          </a:p>
          <a:p>
            <a:pPr marL="165100">
              <a:lnSpc>
                <a:spcPct val="100000"/>
              </a:lnSpc>
            </a:pPr>
            <a:r>
              <a:rPr lang="es-CO" sz="1000" spc="-10" dirty="0">
                <a:solidFill>
                  <a:srgbClr val="1A1F2B"/>
                </a:solidFill>
                <a:latin typeface="Courier New"/>
                <a:cs typeface="Courier New"/>
              </a:rPr>
              <a:t>(2, 2, '2026-02-11');</a:t>
            </a:r>
          </a:p>
          <a:p>
            <a:pPr marL="165100">
              <a:lnSpc>
                <a:spcPct val="100000"/>
              </a:lnSpc>
            </a:pPr>
            <a:endParaRPr lang="es-CO" sz="1000" spc="-10" dirty="0">
              <a:solidFill>
                <a:srgbClr val="1A1F2B"/>
              </a:solidFill>
              <a:latin typeface="Courier New"/>
              <a:cs typeface="Courier New"/>
            </a:endParaRPr>
          </a:p>
          <a:p>
            <a:pPr marL="165100">
              <a:lnSpc>
                <a:spcPct val="100000"/>
              </a:lnSpc>
            </a:pPr>
            <a:r>
              <a:rPr lang="es-CO" sz="1000" spc="-10" dirty="0">
                <a:solidFill>
                  <a:srgbClr val="1A1F2B"/>
                </a:solidFill>
                <a:latin typeface="Courier New"/>
                <a:cs typeface="Courier New"/>
              </a:rPr>
              <a:t>-- 5. Logs analíticos de progreso inicial</a:t>
            </a:r>
          </a:p>
          <a:p>
            <a:pPr marL="165100">
              <a:lnSpc>
                <a:spcPct val="100000"/>
              </a:lnSpc>
            </a:pPr>
            <a:r>
              <a:rPr lang="es-CO" sz="1000" spc="-10" dirty="0">
                <a:solidFill>
                  <a:srgbClr val="1A1F2B"/>
                </a:solidFill>
                <a:latin typeface="Courier New"/>
                <a:cs typeface="Courier New"/>
              </a:rPr>
              <a:t>INSERT INTO PROGRESO (</a:t>
            </a:r>
            <a:r>
              <a:rPr lang="es-CO" sz="1000" spc="-10" dirty="0" err="1">
                <a:solidFill>
                  <a:srgbClr val="1A1F2B"/>
                </a:solidFill>
                <a:latin typeface="Courier New"/>
                <a:cs typeface="Courier New"/>
              </a:rPr>
              <a:t>id_inscripcion</a:t>
            </a:r>
            <a:r>
              <a:rPr lang="es-CO" sz="1000" spc="-10" dirty="0">
                <a:solidFill>
                  <a:srgbClr val="1A1F2B"/>
                </a:solidFill>
                <a:latin typeface="Courier New"/>
                <a:cs typeface="Courier New"/>
              </a:rPr>
              <a:t>, </a:t>
            </a:r>
            <a:r>
              <a:rPr lang="es-CO" sz="1000" spc="-10" dirty="0" err="1">
                <a:solidFill>
                  <a:srgbClr val="1A1F2B"/>
                </a:solidFill>
                <a:latin typeface="Courier New"/>
                <a:cs typeface="Courier New"/>
              </a:rPr>
              <a:t>porcentaje_progreso</a:t>
            </a:r>
            <a:r>
              <a:rPr lang="es-CO" sz="1000" spc="-10" dirty="0">
                <a:solidFill>
                  <a:srgbClr val="1A1F2B"/>
                </a:solidFill>
                <a:latin typeface="Courier New"/>
                <a:cs typeface="Courier New"/>
              </a:rPr>
              <a:t>, estado) VALUES</a:t>
            </a:r>
          </a:p>
          <a:p>
            <a:pPr marL="165100">
              <a:lnSpc>
                <a:spcPct val="100000"/>
              </a:lnSpc>
            </a:pPr>
            <a:r>
              <a:rPr lang="es-CO" sz="1000" spc="-10" dirty="0">
                <a:solidFill>
                  <a:srgbClr val="1A1F2B"/>
                </a:solidFill>
                <a:latin typeface="Courier New"/>
                <a:cs typeface="Courier New"/>
              </a:rPr>
              <a:t>(1, 0.00, 'No iniciado'),</a:t>
            </a:r>
          </a:p>
          <a:p>
            <a:pPr marL="165100">
              <a:lnSpc>
                <a:spcPct val="100000"/>
              </a:lnSpc>
            </a:pPr>
            <a:r>
              <a:rPr lang="es-CO" sz="1000" spc="-10" dirty="0">
                <a:solidFill>
                  <a:srgbClr val="1A1F2B"/>
                </a:solidFill>
                <a:latin typeface="Courier New"/>
                <a:cs typeface="Courier New"/>
              </a:rPr>
              <a:t>(2, 15.50, 'En curso');</a:t>
            </a:r>
            <a:endParaRPr sz="1000" dirty="0">
              <a:latin typeface="Courier New"/>
              <a:cs typeface="Courier New"/>
            </a:endParaRPr>
          </a:p>
        </p:txBody>
      </p:sp>
      <p:sp>
        <p:nvSpPr>
          <p:cNvPr id="8" name="object 8"/>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9" name="object 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dirty="0"/>
              <a:t>Slide</a:t>
            </a:r>
            <a:r>
              <a:rPr spc="-45" dirty="0"/>
              <a:t> </a:t>
            </a: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00" y="874066"/>
            <a:ext cx="260858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0"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3</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dirty="0">
                <a:solidFill>
                  <a:srgbClr val="3182CD"/>
                </a:solidFill>
                <a:latin typeface="Arial"/>
                <a:cs typeface="Arial"/>
              </a:rPr>
              <a:t>A</a:t>
            </a:r>
            <a:r>
              <a:rPr sz="1100" b="1" spc="25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25" dirty="0">
                <a:solidFill>
                  <a:srgbClr val="3182CD"/>
                </a:solidFill>
                <a:latin typeface="Arial"/>
                <a:cs typeface="Arial"/>
              </a:rPr>
              <a:t>VA</a:t>
            </a:r>
            <a:endParaRPr sz="1100">
              <a:latin typeface="Arial"/>
              <a:cs typeface="Arial"/>
            </a:endParaRPr>
          </a:p>
        </p:txBody>
      </p:sp>
      <p:sp>
        <p:nvSpPr>
          <p:cNvPr id="3" name="object 3" descr="$PPTXTitle"/>
          <p:cNvSpPr txBox="1">
            <a:spLocks noGrp="1"/>
          </p:cNvSpPr>
          <p:nvPr>
            <p:ph type="title"/>
          </p:nvPr>
        </p:nvSpPr>
        <p:spPr>
          <a:xfrm>
            <a:off x="887299" y="1104676"/>
            <a:ext cx="8955715" cy="351378"/>
          </a:xfrm>
          <a:prstGeom prst="rect">
            <a:avLst/>
          </a:prstGeom>
        </p:spPr>
        <p:txBody>
          <a:bodyPr vert="horz" wrap="square" lIns="0" tIns="12700" rIns="0" bIns="0" rtlCol="0">
            <a:spAutoFit/>
          </a:bodyPr>
          <a:lstStyle/>
          <a:p>
            <a:pPr marL="12700">
              <a:lnSpc>
                <a:spcPct val="100000"/>
              </a:lnSpc>
              <a:spcBef>
                <a:spcPts val="100"/>
              </a:spcBef>
            </a:pPr>
            <a:r>
              <a:rPr lang="es-ES" spc="-10" dirty="0"/>
              <a:t>Arquitectura del Script de Población Automatizada</a:t>
            </a:r>
            <a:endParaRPr spc="-10" dirty="0"/>
          </a:p>
        </p:txBody>
      </p:sp>
      <p:grpSp>
        <p:nvGrpSpPr>
          <p:cNvPr id="4" name="object 4"/>
          <p:cNvGrpSpPr/>
          <p:nvPr/>
        </p:nvGrpSpPr>
        <p:grpSpPr>
          <a:xfrm>
            <a:off x="900000" y="2187642"/>
            <a:ext cx="8892540" cy="4593169"/>
            <a:chOff x="900000" y="2187643"/>
            <a:chExt cx="8892540" cy="2971800"/>
          </a:xfrm>
        </p:grpSpPr>
        <p:sp>
          <p:nvSpPr>
            <p:cNvPr id="5" name="object 5"/>
            <p:cNvSpPr/>
            <p:nvPr/>
          </p:nvSpPr>
          <p:spPr>
            <a:xfrm>
              <a:off x="900000" y="2187643"/>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2914650"/>
                  </a:lnTo>
                  <a:lnTo>
                    <a:pt x="8887490" y="2936840"/>
                  </a:lnTo>
                  <a:lnTo>
                    <a:pt x="8875212" y="2955012"/>
                  </a:lnTo>
                  <a:lnTo>
                    <a:pt x="8857040" y="2967290"/>
                  </a:lnTo>
                  <a:lnTo>
                    <a:pt x="8834850" y="2971800"/>
                  </a:lnTo>
                  <a:close/>
                </a:path>
              </a:pathLst>
            </a:custGeom>
            <a:solidFill>
              <a:srgbClr val="F7F9FB"/>
            </a:solidFill>
          </p:spPr>
          <p:txBody>
            <a:bodyPr wrap="square" lIns="0" tIns="0" rIns="0" bIns="0" rtlCol="0"/>
            <a:lstStyle/>
            <a:p>
              <a:endParaRPr/>
            </a:p>
          </p:txBody>
        </p:sp>
        <p:sp>
          <p:nvSpPr>
            <p:cNvPr id="6" name="object 6"/>
            <p:cNvSpPr/>
            <p:nvPr/>
          </p:nvSpPr>
          <p:spPr>
            <a:xfrm>
              <a:off x="900000" y="2187644"/>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2914650"/>
                  </a:lnTo>
                  <a:lnTo>
                    <a:pt x="13282" y="2933141"/>
                  </a:lnTo>
                  <a:lnTo>
                    <a:pt x="23514" y="2948285"/>
                  </a:lnTo>
                  <a:lnTo>
                    <a:pt x="38658" y="2958517"/>
                  </a:lnTo>
                  <a:lnTo>
                    <a:pt x="57150" y="2962275"/>
                  </a:lnTo>
                  <a:lnTo>
                    <a:pt x="8864463" y="2962275"/>
                  </a:lnTo>
                  <a:lnTo>
                    <a:pt x="8857040" y="2967290"/>
                  </a:lnTo>
                  <a:lnTo>
                    <a:pt x="8834850" y="2971800"/>
                  </a:lnTo>
                  <a:close/>
                </a:path>
                <a:path w="8892540" h="2971800">
                  <a:moveTo>
                    <a:pt x="8864463" y="2962275"/>
                  </a:moveTo>
                  <a:lnTo>
                    <a:pt x="8834850" y="2962275"/>
                  </a:lnTo>
                  <a:lnTo>
                    <a:pt x="8853342" y="2958517"/>
                  </a:lnTo>
                  <a:lnTo>
                    <a:pt x="8868485" y="2948285"/>
                  </a:lnTo>
                  <a:lnTo>
                    <a:pt x="8878717" y="2933141"/>
                  </a:lnTo>
                  <a:lnTo>
                    <a:pt x="8882475" y="29146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2914650"/>
                  </a:lnTo>
                  <a:lnTo>
                    <a:pt x="8887490" y="2936840"/>
                  </a:lnTo>
                  <a:lnTo>
                    <a:pt x="8875212" y="2955012"/>
                  </a:lnTo>
                  <a:lnTo>
                    <a:pt x="8864463" y="2962275"/>
                  </a:lnTo>
                  <a:close/>
                </a:path>
              </a:pathLst>
            </a:custGeom>
            <a:solidFill>
              <a:srgbClr val="E2E8EF"/>
            </a:solidFill>
          </p:spPr>
          <p:txBody>
            <a:bodyPr wrap="square" lIns="0" tIns="0" rIns="0" bIns="0" rtlCol="0"/>
            <a:lstStyle/>
            <a:p>
              <a:endParaRPr/>
            </a:p>
          </p:txBody>
        </p:sp>
      </p:grpSp>
      <p:sp>
        <p:nvSpPr>
          <p:cNvPr id="7" name="object 7"/>
          <p:cNvSpPr txBox="1"/>
          <p:nvPr/>
        </p:nvSpPr>
        <p:spPr>
          <a:xfrm>
            <a:off x="900000" y="1683881"/>
            <a:ext cx="8892540" cy="536044"/>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D3648"/>
                </a:solidFill>
                <a:latin typeface="Arial MT"/>
                <a:cs typeface="Arial MT"/>
              </a:rPr>
              <a:t>E</a:t>
            </a:r>
            <a:r>
              <a:rPr lang="es-ES" sz="1200" dirty="0" err="1"/>
              <a:t>structura</a:t>
            </a:r>
            <a:r>
              <a:rPr lang="es-ES" sz="1200" dirty="0"/>
              <a:t> técnica del bloque lógico en Python (Pandas + MySQL </a:t>
            </a:r>
            <a:r>
              <a:rPr lang="es-ES" sz="1200" dirty="0" err="1"/>
              <a:t>Connector</a:t>
            </a:r>
            <a:r>
              <a:rPr lang="es-ES" sz="1200" dirty="0"/>
              <a:t>) utilizado por el equipo para materializar la estrategia DML y garantizar las reglas de integridad:</a:t>
            </a:r>
            <a:r>
              <a:rPr sz="1200" spc="-10" dirty="0">
                <a:solidFill>
                  <a:srgbClr val="2D3648"/>
                </a:solidFill>
                <a:latin typeface="Arial MT"/>
                <a:cs typeface="Arial MT"/>
              </a:rPr>
              <a:t>:</a:t>
            </a:r>
            <a:endParaRPr sz="1200" dirty="0">
              <a:latin typeface="Arial MT"/>
              <a:cs typeface="Arial MT"/>
            </a:endParaRPr>
          </a:p>
          <a:p>
            <a:pPr marL="165100">
              <a:lnSpc>
                <a:spcPct val="100000"/>
              </a:lnSpc>
            </a:pPr>
            <a:endParaRPr lang="es-CO" sz="1000" spc="-10" dirty="0">
              <a:solidFill>
                <a:srgbClr val="1A1F2B"/>
              </a:solidFill>
              <a:latin typeface="Courier New"/>
              <a:cs typeface="Courier New"/>
            </a:endParaRPr>
          </a:p>
        </p:txBody>
      </p:sp>
      <p:sp>
        <p:nvSpPr>
          <p:cNvPr id="8" name="object 8"/>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9" name="object 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dirty="0"/>
              <a:t>Slide</a:t>
            </a:r>
            <a:r>
              <a:rPr spc="-45" dirty="0"/>
              <a:t> </a:t>
            </a:r>
            <a:fld id="{81D60167-4931-47E6-BA6A-407CBD079E47}" type="slidenum">
              <a:rPr spc="-25" dirty="0"/>
              <a:t>18</a:t>
            </a:fld>
            <a:endParaRPr spc="-25" dirty="0"/>
          </a:p>
        </p:txBody>
      </p:sp>
      <p:pic>
        <p:nvPicPr>
          <p:cNvPr id="12" name="Imagen 11">
            <a:extLst>
              <a:ext uri="{FF2B5EF4-FFF2-40B4-BE49-F238E27FC236}">
                <a16:creationId xmlns:a16="http://schemas.microsoft.com/office/drawing/2014/main" id="{A86E1CCF-2743-4850-96F7-953EC8DD05BA}"/>
              </a:ext>
            </a:extLst>
          </p:cNvPr>
          <p:cNvPicPr>
            <a:picLocks noChangeAspect="1"/>
          </p:cNvPicPr>
          <p:nvPr/>
        </p:nvPicPr>
        <p:blipFill>
          <a:blip r:embed="rId2"/>
          <a:stretch>
            <a:fillRect/>
          </a:stretch>
        </p:blipFill>
        <p:spPr>
          <a:xfrm>
            <a:off x="1079500" y="2302476"/>
            <a:ext cx="8534400" cy="4495834"/>
          </a:xfrm>
          <a:prstGeom prst="rect">
            <a:avLst/>
          </a:prstGeom>
        </p:spPr>
      </p:pic>
    </p:spTree>
    <p:extLst>
      <p:ext uri="{BB962C8B-B14F-4D97-AF65-F5344CB8AC3E}">
        <p14:creationId xmlns:p14="http://schemas.microsoft.com/office/powerpoint/2010/main" val="302319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00" y="874066"/>
            <a:ext cx="260858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0"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3</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dirty="0">
                <a:solidFill>
                  <a:srgbClr val="3182CD"/>
                </a:solidFill>
                <a:latin typeface="Arial"/>
                <a:cs typeface="Arial"/>
              </a:rPr>
              <a:t>A</a:t>
            </a:r>
            <a:r>
              <a:rPr sz="1100" b="1" spc="25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25" dirty="0">
                <a:solidFill>
                  <a:srgbClr val="3182CD"/>
                </a:solidFill>
                <a:latin typeface="Arial"/>
                <a:cs typeface="Arial"/>
              </a:rPr>
              <a:t>VA</a:t>
            </a:r>
            <a:endParaRPr sz="1100">
              <a:latin typeface="Arial"/>
              <a:cs typeface="Arial"/>
            </a:endParaRPr>
          </a:p>
        </p:txBody>
      </p:sp>
      <p:sp>
        <p:nvSpPr>
          <p:cNvPr id="3" name="object 3" descr="$PPTXTitle"/>
          <p:cNvSpPr txBox="1">
            <a:spLocks noGrp="1"/>
          </p:cNvSpPr>
          <p:nvPr>
            <p:ph type="title"/>
          </p:nvPr>
        </p:nvSpPr>
        <p:spPr>
          <a:xfrm>
            <a:off x="887299" y="1104676"/>
            <a:ext cx="8955715" cy="351378"/>
          </a:xfrm>
          <a:prstGeom prst="rect">
            <a:avLst/>
          </a:prstGeom>
        </p:spPr>
        <p:txBody>
          <a:bodyPr vert="horz" wrap="square" lIns="0" tIns="12700" rIns="0" bIns="0" rtlCol="0">
            <a:spAutoFit/>
          </a:bodyPr>
          <a:lstStyle/>
          <a:p>
            <a:pPr marL="12700">
              <a:lnSpc>
                <a:spcPct val="100000"/>
              </a:lnSpc>
              <a:spcBef>
                <a:spcPts val="100"/>
              </a:spcBef>
            </a:pPr>
            <a:r>
              <a:rPr lang="es-ES" spc="-10" dirty="0"/>
              <a:t>Arquitectura del Script de Población Automatizada</a:t>
            </a:r>
            <a:endParaRPr spc="-10" dirty="0"/>
          </a:p>
        </p:txBody>
      </p:sp>
      <p:grpSp>
        <p:nvGrpSpPr>
          <p:cNvPr id="4" name="object 4"/>
          <p:cNvGrpSpPr/>
          <p:nvPr/>
        </p:nvGrpSpPr>
        <p:grpSpPr>
          <a:xfrm>
            <a:off x="900000" y="2187642"/>
            <a:ext cx="8892540" cy="4593169"/>
            <a:chOff x="900000" y="2187643"/>
            <a:chExt cx="8892540" cy="2971800"/>
          </a:xfrm>
        </p:grpSpPr>
        <p:sp>
          <p:nvSpPr>
            <p:cNvPr id="5" name="object 5"/>
            <p:cNvSpPr/>
            <p:nvPr/>
          </p:nvSpPr>
          <p:spPr>
            <a:xfrm>
              <a:off x="900000" y="2187643"/>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2914650"/>
                  </a:lnTo>
                  <a:lnTo>
                    <a:pt x="8887490" y="2936840"/>
                  </a:lnTo>
                  <a:lnTo>
                    <a:pt x="8875212" y="2955012"/>
                  </a:lnTo>
                  <a:lnTo>
                    <a:pt x="8857040" y="2967290"/>
                  </a:lnTo>
                  <a:lnTo>
                    <a:pt x="8834850" y="2971800"/>
                  </a:lnTo>
                  <a:close/>
                </a:path>
              </a:pathLst>
            </a:custGeom>
            <a:solidFill>
              <a:srgbClr val="F7F9FB"/>
            </a:solidFill>
          </p:spPr>
          <p:txBody>
            <a:bodyPr wrap="square" lIns="0" tIns="0" rIns="0" bIns="0" rtlCol="0"/>
            <a:lstStyle/>
            <a:p>
              <a:endParaRPr/>
            </a:p>
          </p:txBody>
        </p:sp>
        <p:sp>
          <p:nvSpPr>
            <p:cNvPr id="6" name="object 6"/>
            <p:cNvSpPr/>
            <p:nvPr/>
          </p:nvSpPr>
          <p:spPr>
            <a:xfrm>
              <a:off x="900000" y="2187644"/>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2914650"/>
                  </a:lnTo>
                  <a:lnTo>
                    <a:pt x="13282" y="2933141"/>
                  </a:lnTo>
                  <a:lnTo>
                    <a:pt x="23514" y="2948285"/>
                  </a:lnTo>
                  <a:lnTo>
                    <a:pt x="38658" y="2958517"/>
                  </a:lnTo>
                  <a:lnTo>
                    <a:pt x="57150" y="2962275"/>
                  </a:lnTo>
                  <a:lnTo>
                    <a:pt x="8864463" y="2962275"/>
                  </a:lnTo>
                  <a:lnTo>
                    <a:pt x="8857040" y="2967290"/>
                  </a:lnTo>
                  <a:lnTo>
                    <a:pt x="8834850" y="2971800"/>
                  </a:lnTo>
                  <a:close/>
                </a:path>
                <a:path w="8892540" h="2971800">
                  <a:moveTo>
                    <a:pt x="8864463" y="2962275"/>
                  </a:moveTo>
                  <a:lnTo>
                    <a:pt x="8834850" y="2962275"/>
                  </a:lnTo>
                  <a:lnTo>
                    <a:pt x="8853342" y="2958517"/>
                  </a:lnTo>
                  <a:lnTo>
                    <a:pt x="8868485" y="2948285"/>
                  </a:lnTo>
                  <a:lnTo>
                    <a:pt x="8878717" y="2933141"/>
                  </a:lnTo>
                  <a:lnTo>
                    <a:pt x="8882475" y="29146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2914650"/>
                  </a:lnTo>
                  <a:lnTo>
                    <a:pt x="8887490" y="2936840"/>
                  </a:lnTo>
                  <a:lnTo>
                    <a:pt x="8875212" y="2955012"/>
                  </a:lnTo>
                  <a:lnTo>
                    <a:pt x="8864463" y="2962275"/>
                  </a:lnTo>
                  <a:close/>
                </a:path>
              </a:pathLst>
            </a:custGeom>
            <a:solidFill>
              <a:srgbClr val="E2E8EF"/>
            </a:solidFill>
          </p:spPr>
          <p:txBody>
            <a:bodyPr wrap="square" lIns="0" tIns="0" rIns="0" bIns="0" rtlCol="0"/>
            <a:lstStyle/>
            <a:p>
              <a:endParaRPr/>
            </a:p>
          </p:txBody>
        </p:sp>
      </p:grpSp>
      <p:sp>
        <p:nvSpPr>
          <p:cNvPr id="7" name="object 7"/>
          <p:cNvSpPr txBox="1"/>
          <p:nvPr/>
        </p:nvSpPr>
        <p:spPr>
          <a:xfrm>
            <a:off x="900000" y="1683881"/>
            <a:ext cx="8892540" cy="536044"/>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D3648"/>
                </a:solidFill>
                <a:latin typeface="Arial MT"/>
                <a:cs typeface="Arial MT"/>
              </a:rPr>
              <a:t>E</a:t>
            </a:r>
            <a:r>
              <a:rPr lang="es-ES" sz="1200" dirty="0" err="1"/>
              <a:t>structura</a:t>
            </a:r>
            <a:r>
              <a:rPr lang="es-ES" sz="1200" dirty="0"/>
              <a:t> técnica del bloque lógico en Python (Pandas + MySQL </a:t>
            </a:r>
            <a:r>
              <a:rPr lang="es-ES" sz="1200" dirty="0" err="1"/>
              <a:t>Connector</a:t>
            </a:r>
            <a:r>
              <a:rPr lang="es-ES" sz="1200" dirty="0"/>
              <a:t>) utilizado por el equipo para materializar la estrategia DML y garantizar las reglas de integridad:</a:t>
            </a:r>
            <a:r>
              <a:rPr sz="1200" spc="-10" dirty="0">
                <a:solidFill>
                  <a:srgbClr val="2D3648"/>
                </a:solidFill>
                <a:latin typeface="Arial MT"/>
                <a:cs typeface="Arial MT"/>
              </a:rPr>
              <a:t>:</a:t>
            </a:r>
            <a:endParaRPr sz="1200" dirty="0">
              <a:latin typeface="Arial MT"/>
              <a:cs typeface="Arial MT"/>
            </a:endParaRPr>
          </a:p>
          <a:p>
            <a:pPr marL="165100">
              <a:lnSpc>
                <a:spcPct val="100000"/>
              </a:lnSpc>
            </a:pPr>
            <a:endParaRPr lang="es-CO" sz="1000" spc="-10" dirty="0">
              <a:solidFill>
                <a:srgbClr val="1A1F2B"/>
              </a:solidFill>
              <a:latin typeface="Courier New"/>
              <a:cs typeface="Courier New"/>
            </a:endParaRPr>
          </a:p>
        </p:txBody>
      </p:sp>
      <p:sp>
        <p:nvSpPr>
          <p:cNvPr id="8" name="object 8"/>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9" name="object 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dirty="0"/>
              <a:t>Slide</a:t>
            </a:r>
            <a:r>
              <a:rPr spc="-45" dirty="0"/>
              <a:t> </a:t>
            </a:r>
            <a:fld id="{81D60167-4931-47E6-BA6A-407CBD079E47}" type="slidenum">
              <a:rPr spc="-25" dirty="0"/>
              <a:t>19</a:t>
            </a:fld>
            <a:endParaRPr spc="-25" dirty="0"/>
          </a:p>
        </p:txBody>
      </p:sp>
      <p:pic>
        <p:nvPicPr>
          <p:cNvPr id="13" name="Imagen 12">
            <a:extLst>
              <a:ext uri="{FF2B5EF4-FFF2-40B4-BE49-F238E27FC236}">
                <a16:creationId xmlns:a16="http://schemas.microsoft.com/office/drawing/2014/main" id="{9EA7CFC6-A389-4F3A-87CE-8CD7594EE63D}"/>
              </a:ext>
            </a:extLst>
          </p:cNvPr>
          <p:cNvPicPr>
            <a:picLocks noChangeAspect="1"/>
          </p:cNvPicPr>
          <p:nvPr/>
        </p:nvPicPr>
        <p:blipFill>
          <a:blip r:embed="rId2"/>
          <a:stretch>
            <a:fillRect/>
          </a:stretch>
        </p:blipFill>
        <p:spPr>
          <a:xfrm>
            <a:off x="1079500" y="2346593"/>
            <a:ext cx="8534400" cy="4247257"/>
          </a:xfrm>
          <a:prstGeom prst="rect">
            <a:avLst/>
          </a:prstGeom>
        </p:spPr>
      </p:pic>
    </p:spTree>
    <p:extLst>
      <p:ext uri="{BB962C8B-B14F-4D97-AF65-F5344CB8AC3E}">
        <p14:creationId xmlns:p14="http://schemas.microsoft.com/office/powerpoint/2010/main" val="2144443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00" y="874066"/>
            <a:ext cx="2608580"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3182CD"/>
                </a:solidFill>
                <a:latin typeface="Arial"/>
                <a:cs typeface="Arial"/>
              </a:rPr>
              <a:t>S</a:t>
            </a:r>
            <a:r>
              <a:rPr sz="1100" b="1" spc="-155" dirty="0">
                <a:solidFill>
                  <a:srgbClr val="3182CD"/>
                </a:solidFill>
                <a:latin typeface="Arial"/>
                <a:cs typeface="Arial"/>
              </a:rPr>
              <a:t> </a:t>
            </a:r>
            <a:r>
              <a:rPr sz="1100" b="1" spc="-10" dirty="0">
                <a:solidFill>
                  <a:srgbClr val="3182CD"/>
                </a:solidFill>
                <a:latin typeface="Arial"/>
                <a:cs typeface="Arial"/>
              </a:rPr>
              <a:t>E</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spc="-10" dirty="0">
                <a:solidFill>
                  <a:srgbClr val="3182CD"/>
                </a:solidFill>
                <a:latin typeface="Arial"/>
                <a:cs typeface="Arial"/>
              </a:rPr>
              <a:t>C</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dirty="0">
                <a:solidFill>
                  <a:srgbClr val="3182CD"/>
                </a:solidFill>
                <a:latin typeface="Arial"/>
                <a:cs typeface="Arial"/>
              </a:rPr>
              <a:t>Ó</a:t>
            </a:r>
            <a:r>
              <a:rPr sz="1100" b="1" spc="-160" dirty="0">
                <a:solidFill>
                  <a:srgbClr val="3182CD"/>
                </a:solidFill>
                <a:latin typeface="Arial"/>
                <a:cs typeface="Arial"/>
              </a:rPr>
              <a:t> </a:t>
            </a:r>
            <a:r>
              <a:rPr sz="1100" b="1" dirty="0">
                <a:solidFill>
                  <a:srgbClr val="3182CD"/>
                </a:solidFill>
                <a:latin typeface="Arial"/>
                <a:cs typeface="Arial"/>
              </a:rPr>
              <a:t>N</a:t>
            </a:r>
            <a:r>
              <a:rPr sz="1100" b="1" spc="290" dirty="0">
                <a:solidFill>
                  <a:srgbClr val="3182CD"/>
                </a:solidFill>
                <a:latin typeface="Arial"/>
                <a:cs typeface="Arial"/>
              </a:rPr>
              <a:t> </a:t>
            </a:r>
            <a:r>
              <a:rPr sz="1100" b="1" spc="-10" dirty="0">
                <a:solidFill>
                  <a:srgbClr val="3182CD"/>
                </a:solidFill>
                <a:latin typeface="Arial"/>
                <a:cs typeface="Arial"/>
              </a:rPr>
              <a:t>0</a:t>
            </a:r>
            <a:r>
              <a:rPr sz="1100" b="1" spc="-160" dirty="0">
                <a:solidFill>
                  <a:srgbClr val="3182CD"/>
                </a:solidFill>
                <a:latin typeface="Arial"/>
                <a:cs typeface="Arial"/>
              </a:rPr>
              <a:t> </a:t>
            </a:r>
            <a:r>
              <a:rPr sz="1100" b="1" dirty="0">
                <a:solidFill>
                  <a:srgbClr val="3182CD"/>
                </a:solidFill>
                <a:latin typeface="Arial"/>
                <a:cs typeface="Arial"/>
              </a:rPr>
              <a:t>3</a:t>
            </a:r>
            <a:r>
              <a:rPr sz="1100" b="1" spc="290" dirty="0">
                <a:solidFill>
                  <a:srgbClr val="3182CD"/>
                </a:solidFill>
                <a:latin typeface="Arial"/>
                <a:cs typeface="Arial"/>
              </a:rPr>
              <a:t> </a:t>
            </a:r>
            <a:r>
              <a:rPr sz="1100" b="1" dirty="0">
                <a:solidFill>
                  <a:srgbClr val="3182CD"/>
                </a:solidFill>
                <a:latin typeface="Arial"/>
                <a:cs typeface="Arial"/>
              </a:rPr>
              <a:t>—</a:t>
            </a:r>
            <a:r>
              <a:rPr sz="1100" b="1" spc="290" dirty="0">
                <a:solidFill>
                  <a:srgbClr val="3182CD"/>
                </a:solidFill>
                <a:latin typeface="Arial"/>
                <a:cs typeface="Arial"/>
              </a:rPr>
              <a:t> </a:t>
            </a:r>
            <a:r>
              <a:rPr sz="1100" b="1" spc="-10" dirty="0">
                <a:solidFill>
                  <a:srgbClr val="3182CD"/>
                </a:solidFill>
                <a:latin typeface="Arial"/>
                <a:cs typeface="Arial"/>
              </a:rPr>
              <a:t>C</a:t>
            </a:r>
            <a:r>
              <a:rPr sz="1100" b="1" spc="-155"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R</a:t>
            </a:r>
            <a:r>
              <a:rPr sz="1100" b="1" spc="-160" dirty="0">
                <a:solidFill>
                  <a:srgbClr val="3182CD"/>
                </a:solidFill>
                <a:latin typeface="Arial"/>
                <a:cs typeface="Arial"/>
              </a:rPr>
              <a:t> </a:t>
            </a:r>
            <a:r>
              <a:rPr sz="1100" b="1" dirty="0">
                <a:solidFill>
                  <a:srgbClr val="3182CD"/>
                </a:solidFill>
                <a:latin typeface="Arial"/>
                <a:cs typeface="Arial"/>
              </a:rPr>
              <a:t>G</a:t>
            </a:r>
            <a:r>
              <a:rPr sz="1100" b="1" spc="-160" dirty="0">
                <a:solidFill>
                  <a:srgbClr val="3182CD"/>
                </a:solidFill>
                <a:latin typeface="Arial"/>
                <a:cs typeface="Arial"/>
              </a:rPr>
              <a:t> </a:t>
            </a:r>
            <a:r>
              <a:rPr sz="1100" b="1" dirty="0">
                <a:solidFill>
                  <a:srgbClr val="3182CD"/>
                </a:solidFill>
                <a:latin typeface="Arial"/>
                <a:cs typeface="Arial"/>
              </a:rPr>
              <a:t>A</a:t>
            </a:r>
            <a:r>
              <a:rPr sz="1100" b="1" spc="250" dirty="0">
                <a:solidFill>
                  <a:srgbClr val="3182CD"/>
                </a:solidFill>
                <a:latin typeface="Arial"/>
                <a:cs typeface="Arial"/>
              </a:rPr>
              <a:t> </a:t>
            </a:r>
            <a:r>
              <a:rPr sz="1100" b="1" dirty="0">
                <a:solidFill>
                  <a:srgbClr val="3182CD"/>
                </a:solidFill>
                <a:latin typeface="Arial"/>
                <a:cs typeface="Arial"/>
              </a:rPr>
              <a:t>M</a:t>
            </a:r>
            <a:r>
              <a:rPr sz="1100" b="1" spc="-160" dirty="0">
                <a:solidFill>
                  <a:srgbClr val="3182CD"/>
                </a:solidFill>
                <a:latin typeface="Arial"/>
                <a:cs typeface="Arial"/>
              </a:rPr>
              <a:t> </a:t>
            </a:r>
            <a:r>
              <a:rPr sz="1100" b="1" spc="-10" dirty="0">
                <a:solidFill>
                  <a:srgbClr val="3182CD"/>
                </a:solidFill>
                <a:latin typeface="Arial"/>
                <a:cs typeface="Arial"/>
              </a:rPr>
              <a:t>A</a:t>
            </a:r>
            <a:r>
              <a:rPr sz="1100" b="1" spc="-160" dirty="0">
                <a:solidFill>
                  <a:srgbClr val="3182CD"/>
                </a:solidFill>
                <a:latin typeface="Arial"/>
                <a:cs typeface="Arial"/>
              </a:rPr>
              <a:t> </a:t>
            </a:r>
            <a:r>
              <a:rPr sz="1100" b="1" spc="-10" dirty="0">
                <a:solidFill>
                  <a:srgbClr val="3182CD"/>
                </a:solidFill>
                <a:latin typeface="Arial"/>
                <a:cs typeface="Arial"/>
              </a:rPr>
              <a:t>S</a:t>
            </a:r>
            <a:r>
              <a:rPr sz="1100" b="1" spc="-160" dirty="0">
                <a:solidFill>
                  <a:srgbClr val="3182CD"/>
                </a:solidFill>
                <a:latin typeface="Arial"/>
                <a:cs typeface="Arial"/>
              </a:rPr>
              <a:t> </a:t>
            </a:r>
            <a:r>
              <a:rPr sz="1100" b="1" dirty="0">
                <a:solidFill>
                  <a:srgbClr val="3182CD"/>
                </a:solidFill>
                <a:latin typeface="Arial"/>
                <a:cs typeface="Arial"/>
              </a:rPr>
              <a:t>I</a:t>
            </a:r>
            <a:r>
              <a:rPr sz="1100" b="1" spc="-160" dirty="0">
                <a:solidFill>
                  <a:srgbClr val="3182CD"/>
                </a:solidFill>
                <a:latin typeface="Arial"/>
                <a:cs typeface="Arial"/>
              </a:rPr>
              <a:t> </a:t>
            </a:r>
            <a:r>
              <a:rPr sz="1100" b="1" spc="-25" dirty="0">
                <a:solidFill>
                  <a:srgbClr val="3182CD"/>
                </a:solidFill>
                <a:latin typeface="Arial"/>
                <a:cs typeface="Arial"/>
              </a:rPr>
              <a:t>VA</a:t>
            </a:r>
            <a:endParaRPr sz="1100">
              <a:latin typeface="Arial"/>
              <a:cs typeface="Arial"/>
            </a:endParaRPr>
          </a:p>
        </p:txBody>
      </p:sp>
      <p:sp>
        <p:nvSpPr>
          <p:cNvPr id="3" name="object 3" descr="$PPTXTitle"/>
          <p:cNvSpPr txBox="1">
            <a:spLocks noGrp="1"/>
          </p:cNvSpPr>
          <p:nvPr>
            <p:ph type="title"/>
          </p:nvPr>
        </p:nvSpPr>
        <p:spPr>
          <a:xfrm>
            <a:off x="887299" y="1104676"/>
            <a:ext cx="8955715" cy="351378"/>
          </a:xfrm>
          <a:prstGeom prst="rect">
            <a:avLst/>
          </a:prstGeom>
        </p:spPr>
        <p:txBody>
          <a:bodyPr vert="horz" wrap="square" lIns="0" tIns="12700" rIns="0" bIns="0" rtlCol="0">
            <a:spAutoFit/>
          </a:bodyPr>
          <a:lstStyle/>
          <a:p>
            <a:pPr marL="12700">
              <a:lnSpc>
                <a:spcPct val="100000"/>
              </a:lnSpc>
              <a:spcBef>
                <a:spcPts val="100"/>
              </a:spcBef>
            </a:pPr>
            <a:r>
              <a:rPr lang="es-ES" spc="-10" dirty="0"/>
              <a:t>Arquitectura del Script de Población Automatizada</a:t>
            </a:r>
            <a:endParaRPr spc="-10" dirty="0"/>
          </a:p>
        </p:txBody>
      </p:sp>
      <p:grpSp>
        <p:nvGrpSpPr>
          <p:cNvPr id="4" name="object 4"/>
          <p:cNvGrpSpPr/>
          <p:nvPr/>
        </p:nvGrpSpPr>
        <p:grpSpPr>
          <a:xfrm>
            <a:off x="900000" y="2187642"/>
            <a:ext cx="8892540" cy="4593169"/>
            <a:chOff x="900000" y="2187643"/>
            <a:chExt cx="8892540" cy="2971800"/>
          </a:xfrm>
        </p:grpSpPr>
        <p:sp>
          <p:nvSpPr>
            <p:cNvPr id="5" name="object 5"/>
            <p:cNvSpPr/>
            <p:nvPr/>
          </p:nvSpPr>
          <p:spPr>
            <a:xfrm>
              <a:off x="900000" y="2187643"/>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75212" y="16787"/>
                  </a:lnTo>
                  <a:lnTo>
                    <a:pt x="8887490" y="34959"/>
                  </a:lnTo>
                  <a:lnTo>
                    <a:pt x="8892000" y="57150"/>
                  </a:lnTo>
                  <a:lnTo>
                    <a:pt x="8892000" y="2914650"/>
                  </a:lnTo>
                  <a:lnTo>
                    <a:pt x="8887490" y="2936840"/>
                  </a:lnTo>
                  <a:lnTo>
                    <a:pt x="8875212" y="2955012"/>
                  </a:lnTo>
                  <a:lnTo>
                    <a:pt x="8857040" y="2967290"/>
                  </a:lnTo>
                  <a:lnTo>
                    <a:pt x="8834850" y="2971800"/>
                  </a:lnTo>
                  <a:close/>
                </a:path>
              </a:pathLst>
            </a:custGeom>
            <a:solidFill>
              <a:srgbClr val="F7F9FB"/>
            </a:solidFill>
          </p:spPr>
          <p:txBody>
            <a:bodyPr wrap="square" lIns="0" tIns="0" rIns="0" bIns="0" rtlCol="0"/>
            <a:lstStyle/>
            <a:p>
              <a:endParaRPr/>
            </a:p>
          </p:txBody>
        </p:sp>
        <p:sp>
          <p:nvSpPr>
            <p:cNvPr id="6" name="object 6"/>
            <p:cNvSpPr/>
            <p:nvPr/>
          </p:nvSpPr>
          <p:spPr>
            <a:xfrm>
              <a:off x="900000" y="2187644"/>
              <a:ext cx="8892540" cy="2971800"/>
            </a:xfrm>
            <a:custGeom>
              <a:avLst/>
              <a:gdLst/>
              <a:ahLst/>
              <a:cxnLst/>
              <a:rect l="l" t="t" r="r" b="b"/>
              <a:pathLst>
                <a:path w="8892540" h="2971800">
                  <a:moveTo>
                    <a:pt x="8834850" y="2971800"/>
                  </a:moveTo>
                  <a:lnTo>
                    <a:pt x="57150" y="2971800"/>
                  </a:lnTo>
                  <a:lnTo>
                    <a:pt x="34959" y="2967290"/>
                  </a:lnTo>
                  <a:lnTo>
                    <a:pt x="16787" y="2955012"/>
                  </a:lnTo>
                  <a:lnTo>
                    <a:pt x="4509" y="2936840"/>
                  </a:lnTo>
                  <a:lnTo>
                    <a:pt x="0" y="2914650"/>
                  </a:lnTo>
                  <a:lnTo>
                    <a:pt x="0" y="57150"/>
                  </a:lnTo>
                  <a:lnTo>
                    <a:pt x="4509" y="34959"/>
                  </a:lnTo>
                  <a:lnTo>
                    <a:pt x="16787" y="16787"/>
                  </a:lnTo>
                  <a:lnTo>
                    <a:pt x="34959" y="4509"/>
                  </a:lnTo>
                  <a:lnTo>
                    <a:pt x="57150" y="0"/>
                  </a:lnTo>
                  <a:lnTo>
                    <a:pt x="8834850" y="0"/>
                  </a:lnTo>
                  <a:lnTo>
                    <a:pt x="8857040" y="4509"/>
                  </a:lnTo>
                  <a:lnTo>
                    <a:pt x="8864463" y="9525"/>
                  </a:lnTo>
                  <a:lnTo>
                    <a:pt x="57150" y="9525"/>
                  </a:lnTo>
                  <a:lnTo>
                    <a:pt x="38658" y="13282"/>
                  </a:lnTo>
                  <a:lnTo>
                    <a:pt x="23514" y="23514"/>
                  </a:lnTo>
                  <a:lnTo>
                    <a:pt x="13282" y="38658"/>
                  </a:lnTo>
                  <a:lnTo>
                    <a:pt x="9525" y="57150"/>
                  </a:lnTo>
                  <a:lnTo>
                    <a:pt x="9525" y="2914650"/>
                  </a:lnTo>
                  <a:lnTo>
                    <a:pt x="13282" y="2933141"/>
                  </a:lnTo>
                  <a:lnTo>
                    <a:pt x="23514" y="2948285"/>
                  </a:lnTo>
                  <a:lnTo>
                    <a:pt x="38658" y="2958517"/>
                  </a:lnTo>
                  <a:lnTo>
                    <a:pt x="57150" y="2962275"/>
                  </a:lnTo>
                  <a:lnTo>
                    <a:pt x="8864463" y="2962275"/>
                  </a:lnTo>
                  <a:lnTo>
                    <a:pt x="8857040" y="2967290"/>
                  </a:lnTo>
                  <a:lnTo>
                    <a:pt x="8834850" y="2971800"/>
                  </a:lnTo>
                  <a:close/>
                </a:path>
                <a:path w="8892540" h="2971800">
                  <a:moveTo>
                    <a:pt x="8864463" y="2962275"/>
                  </a:moveTo>
                  <a:lnTo>
                    <a:pt x="8834850" y="2962275"/>
                  </a:lnTo>
                  <a:lnTo>
                    <a:pt x="8853342" y="2958517"/>
                  </a:lnTo>
                  <a:lnTo>
                    <a:pt x="8868485" y="2948285"/>
                  </a:lnTo>
                  <a:lnTo>
                    <a:pt x="8878717" y="2933141"/>
                  </a:lnTo>
                  <a:lnTo>
                    <a:pt x="8882475" y="2914650"/>
                  </a:lnTo>
                  <a:lnTo>
                    <a:pt x="8882475" y="57150"/>
                  </a:lnTo>
                  <a:lnTo>
                    <a:pt x="8878717" y="38658"/>
                  </a:lnTo>
                  <a:lnTo>
                    <a:pt x="8868485" y="23514"/>
                  </a:lnTo>
                  <a:lnTo>
                    <a:pt x="8853342" y="13282"/>
                  </a:lnTo>
                  <a:lnTo>
                    <a:pt x="8834850" y="9525"/>
                  </a:lnTo>
                  <a:lnTo>
                    <a:pt x="8864463" y="9525"/>
                  </a:lnTo>
                  <a:lnTo>
                    <a:pt x="8875212" y="16787"/>
                  </a:lnTo>
                  <a:lnTo>
                    <a:pt x="8887490" y="34959"/>
                  </a:lnTo>
                  <a:lnTo>
                    <a:pt x="8892000" y="57150"/>
                  </a:lnTo>
                  <a:lnTo>
                    <a:pt x="8892000" y="2914650"/>
                  </a:lnTo>
                  <a:lnTo>
                    <a:pt x="8887490" y="2936840"/>
                  </a:lnTo>
                  <a:lnTo>
                    <a:pt x="8875212" y="2955012"/>
                  </a:lnTo>
                  <a:lnTo>
                    <a:pt x="8864463" y="2962275"/>
                  </a:lnTo>
                  <a:close/>
                </a:path>
              </a:pathLst>
            </a:custGeom>
            <a:solidFill>
              <a:srgbClr val="E2E8EF"/>
            </a:solidFill>
          </p:spPr>
          <p:txBody>
            <a:bodyPr wrap="square" lIns="0" tIns="0" rIns="0" bIns="0" rtlCol="0"/>
            <a:lstStyle/>
            <a:p>
              <a:endParaRPr/>
            </a:p>
          </p:txBody>
        </p:sp>
      </p:grpSp>
      <p:sp>
        <p:nvSpPr>
          <p:cNvPr id="7" name="object 7"/>
          <p:cNvSpPr txBox="1"/>
          <p:nvPr/>
        </p:nvSpPr>
        <p:spPr>
          <a:xfrm>
            <a:off x="900000" y="1683881"/>
            <a:ext cx="8892540" cy="536044"/>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D3648"/>
                </a:solidFill>
                <a:latin typeface="Arial MT"/>
                <a:cs typeface="Arial MT"/>
              </a:rPr>
              <a:t>E</a:t>
            </a:r>
            <a:r>
              <a:rPr lang="es-ES" sz="1200" dirty="0" err="1"/>
              <a:t>structura</a:t>
            </a:r>
            <a:r>
              <a:rPr lang="es-ES" sz="1200" dirty="0"/>
              <a:t> técnica del bloque lógico en Python (Pandas + MySQL </a:t>
            </a:r>
            <a:r>
              <a:rPr lang="es-ES" sz="1200" dirty="0" err="1"/>
              <a:t>Connector</a:t>
            </a:r>
            <a:r>
              <a:rPr lang="es-ES" sz="1200" dirty="0"/>
              <a:t>) utilizado por el equipo para materializar la estrategia DML y garantizar las reglas de integridad:</a:t>
            </a:r>
            <a:r>
              <a:rPr sz="1200" spc="-10" dirty="0">
                <a:solidFill>
                  <a:srgbClr val="2D3648"/>
                </a:solidFill>
                <a:latin typeface="Arial MT"/>
                <a:cs typeface="Arial MT"/>
              </a:rPr>
              <a:t>:</a:t>
            </a:r>
            <a:endParaRPr sz="1200" dirty="0">
              <a:latin typeface="Arial MT"/>
              <a:cs typeface="Arial MT"/>
            </a:endParaRPr>
          </a:p>
          <a:p>
            <a:pPr marL="165100">
              <a:lnSpc>
                <a:spcPct val="100000"/>
              </a:lnSpc>
            </a:pPr>
            <a:endParaRPr lang="es-CO" sz="1000" spc="-10" dirty="0">
              <a:solidFill>
                <a:srgbClr val="1A1F2B"/>
              </a:solidFill>
              <a:latin typeface="Courier New"/>
              <a:cs typeface="Courier New"/>
            </a:endParaRPr>
          </a:p>
        </p:txBody>
      </p:sp>
      <p:sp>
        <p:nvSpPr>
          <p:cNvPr id="8" name="object 8"/>
          <p:cNvSpPr/>
          <p:nvPr/>
        </p:nvSpPr>
        <p:spPr>
          <a:xfrm>
            <a:off x="900000" y="6907482"/>
            <a:ext cx="8892540" cy="9525"/>
          </a:xfrm>
          <a:custGeom>
            <a:avLst/>
            <a:gdLst/>
            <a:ahLst/>
            <a:cxnLst/>
            <a:rect l="l" t="t" r="r" b="b"/>
            <a:pathLst>
              <a:path w="8892540" h="9525">
                <a:moveTo>
                  <a:pt x="8892000" y="9525"/>
                </a:moveTo>
                <a:lnTo>
                  <a:pt x="0" y="9525"/>
                </a:lnTo>
                <a:lnTo>
                  <a:pt x="0" y="0"/>
                </a:lnTo>
                <a:lnTo>
                  <a:pt x="8892000" y="0"/>
                </a:lnTo>
                <a:lnTo>
                  <a:pt x="8892000" y="9525"/>
                </a:lnTo>
                <a:close/>
              </a:path>
            </a:pathLst>
          </a:custGeom>
          <a:solidFill>
            <a:srgbClr val="EDF2F6"/>
          </a:solidFill>
        </p:spPr>
        <p:txBody>
          <a:bodyPr wrap="square" lIns="0" tIns="0" rIns="0" bIns="0" rtlCol="0"/>
          <a:lstStyle/>
          <a:p>
            <a:endParaRPr/>
          </a:p>
        </p:txBody>
      </p:sp>
      <p:sp>
        <p:nvSpPr>
          <p:cNvPr id="9" name="object 9"/>
          <p:cNvSpPr txBox="1"/>
          <p:nvPr/>
        </p:nvSpPr>
        <p:spPr>
          <a:xfrm>
            <a:off x="887300" y="6980508"/>
            <a:ext cx="1795780" cy="160655"/>
          </a:xfrm>
          <a:prstGeom prst="rect">
            <a:avLst/>
          </a:prstGeom>
        </p:spPr>
        <p:txBody>
          <a:bodyPr vert="horz" wrap="square" lIns="0" tIns="1270" rIns="0" bIns="0" rtlCol="0">
            <a:spAutoFit/>
          </a:bodyPr>
          <a:lstStyle/>
          <a:p>
            <a:pPr marL="12700">
              <a:lnSpc>
                <a:spcPct val="100000"/>
              </a:lnSpc>
              <a:spcBef>
                <a:spcPts val="10"/>
              </a:spcBef>
            </a:pPr>
            <a:r>
              <a:rPr sz="950" dirty="0">
                <a:solidFill>
                  <a:srgbClr val="A0AEBF"/>
                </a:solidFill>
                <a:latin typeface="Arial MT"/>
                <a:cs typeface="Arial MT"/>
              </a:rPr>
              <a:t>Grupo</a:t>
            </a:r>
            <a:r>
              <a:rPr sz="950" spc="-20" dirty="0">
                <a:solidFill>
                  <a:srgbClr val="A0AEBF"/>
                </a:solidFill>
                <a:latin typeface="Arial MT"/>
                <a:cs typeface="Arial MT"/>
              </a:rPr>
              <a:t> </a:t>
            </a:r>
            <a:r>
              <a:rPr sz="950" dirty="0">
                <a:solidFill>
                  <a:srgbClr val="A0AEBF"/>
                </a:solidFill>
                <a:latin typeface="Arial MT"/>
                <a:cs typeface="Arial MT"/>
              </a:rPr>
              <a:t>1</a:t>
            </a:r>
            <a:r>
              <a:rPr sz="950" spc="-15" dirty="0">
                <a:solidFill>
                  <a:srgbClr val="A0AEBF"/>
                </a:solidFill>
                <a:latin typeface="Arial MT"/>
                <a:cs typeface="Arial MT"/>
              </a:rPr>
              <a:t> </a:t>
            </a:r>
            <a:r>
              <a:rPr sz="950" dirty="0">
                <a:solidFill>
                  <a:srgbClr val="A0AEBF"/>
                </a:solidFill>
                <a:latin typeface="Arial MT"/>
                <a:cs typeface="Arial MT"/>
              </a:rPr>
              <a:t>—</a:t>
            </a:r>
            <a:r>
              <a:rPr sz="950" spc="-15" dirty="0">
                <a:solidFill>
                  <a:srgbClr val="A0AEBF"/>
                </a:solidFill>
                <a:latin typeface="Arial MT"/>
                <a:cs typeface="Arial MT"/>
              </a:rPr>
              <a:t> </a:t>
            </a:r>
            <a:r>
              <a:rPr sz="950" dirty="0">
                <a:solidFill>
                  <a:srgbClr val="A0AEBF"/>
                </a:solidFill>
                <a:latin typeface="Arial MT"/>
                <a:cs typeface="Arial MT"/>
              </a:rPr>
              <a:t>Plataforma</a:t>
            </a:r>
            <a:r>
              <a:rPr sz="950" spc="-15" dirty="0">
                <a:solidFill>
                  <a:srgbClr val="A0AEBF"/>
                </a:solidFill>
                <a:latin typeface="Arial MT"/>
                <a:cs typeface="Arial MT"/>
              </a:rPr>
              <a:t> </a:t>
            </a:r>
            <a:r>
              <a:rPr sz="950" spc="-10" dirty="0">
                <a:solidFill>
                  <a:srgbClr val="A0AEBF"/>
                </a:solidFill>
                <a:latin typeface="Arial MT"/>
                <a:cs typeface="Arial MT"/>
              </a:rPr>
              <a:t>Educativa</a:t>
            </a:r>
            <a:endParaRPr sz="95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dirty="0"/>
              <a:t>Slide</a:t>
            </a:r>
            <a:r>
              <a:rPr spc="-45" dirty="0"/>
              <a:t> </a:t>
            </a:r>
            <a:fld id="{81D60167-4931-47E6-BA6A-407CBD079E47}" type="slidenum">
              <a:rPr spc="-25" dirty="0"/>
              <a:t>20</a:t>
            </a:fld>
            <a:endParaRPr spc="-25" dirty="0"/>
          </a:p>
        </p:txBody>
      </p:sp>
      <p:pic>
        <p:nvPicPr>
          <p:cNvPr id="12" name="Imagen 11">
            <a:extLst>
              <a:ext uri="{FF2B5EF4-FFF2-40B4-BE49-F238E27FC236}">
                <a16:creationId xmlns:a16="http://schemas.microsoft.com/office/drawing/2014/main" id="{76E850F8-5B9C-4CCF-84B8-5909DB2B01C7}"/>
              </a:ext>
            </a:extLst>
          </p:cNvPr>
          <p:cNvPicPr>
            <a:picLocks noChangeAspect="1"/>
          </p:cNvPicPr>
          <p:nvPr/>
        </p:nvPicPr>
        <p:blipFill>
          <a:blip r:embed="rId2"/>
          <a:stretch>
            <a:fillRect/>
          </a:stretch>
        </p:blipFill>
        <p:spPr>
          <a:xfrm>
            <a:off x="1003300" y="2346594"/>
            <a:ext cx="8610600" cy="4207194"/>
          </a:xfrm>
          <a:prstGeom prst="rect">
            <a:avLst/>
          </a:prstGeom>
        </p:spPr>
      </p:pic>
    </p:spTree>
    <p:extLst>
      <p:ext uri="{BB962C8B-B14F-4D97-AF65-F5344CB8AC3E}">
        <p14:creationId xmlns:p14="http://schemas.microsoft.com/office/powerpoint/2010/main" val="2000291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A1F2B"/>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535</TotalTime>
  <Words>2886</Words>
  <Application>Microsoft Office PowerPoint</Application>
  <PresentationFormat>Personalizado</PresentationFormat>
  <Paragraphs>314</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Arial MT</vt:lpstr>
      <vt:lpstr>Calibri</vt:lpstr>
      <vt:lpstr>Courier New</vt:lpstr>
      <vt:lpstr>Wingdings</vt:lpstr>
      <vt:lpstr>Office Theme</vt:lpstr>
      <vt:lpstr>Implementación Física de Base de Datos Relacional</vt:lpstr>
      <vt:lpstr>SECCIÓN 01 Fundamentos del Negocio</vt:lpstr>
      <vt:lpstr>1. Contexto</vt:lpstr>
      <vt:lpstr>SECCIÓN 01 Arquitectura Semántica</vt:lpstr>
      <vt:lpstr>1. Reglas de Negocio Universales</vt:lpstr>
      <vt:lpstr>SECCIÓN 01 Arquitectura de Capas Semánticas (3FN)</vt:lpstr>
      <vt:lpstr>Organización y Estructura del Negocio</vt:lpstr>
      <vt:lpstr>Diccionario de Datos Técnico (Capa Central)</vt:lpstr>
      <vt:lpstr>Diccionario de Datos Técnico (Capa Catálogo)</vt:lpstr>
      <vt:lpstr>Diccionario de Datos (Capa Transaccional y Avance)</vt:lpstr>
      <vt:lpstr>SECCIÓN 02 Código Estructurado DDL (SQL)</vt:lpstr>
      <vt:lpstr>Código Estructurado DDL (SQL) - Parte 1</vt:lpstr>
      <vt:lpstr>Código Estructurado DDL (SQL) - Parte 2</vt:lpstr>
      <vt:lpstr>Código Estructurado DDL (SQL) - Parte 3</vt:lpstr>
      <vt:lpstr>SECCIÓN 03 Estrategia DML y Calidad de Datos</vt:lpstr>
      <vt:lpstr>1. Filosofía de la Inyección de Datos</vt:lpstr>
      <vt:lpstr>Arquitectura del Script de Población Automatizada</vt:lpstr>
      <vt:lpstr>Arquitectura del Script de Población Automatizada</vt:lpstr>
      <vt:lpstr>Arquitectura del Script de Población Automatizada</vt:lpstr>
      <vt:lpstr>Arquitectura del Script de Población Automatizada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Oficial - Grupo 1 Base de Datos</dc:title>
  <dc:creator>Equipo 3</dc:creator>
  <cp:lastModifiedBy>ALEJANDRO CADAVID</cp:lastModifiedBy>
  <cp:revision>75</cp:revision>
  <dcterms:created xsi:type="dcterms:W3CDTF">2026-06-19T23:22:13Z</dcterms:created>
  <dcterms:modified xsi:type="dcterms:W3CDTF">2026-06-22T19:58:10Z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2026-06-19T00:00:00Z</vt:filetime>
  </property>
  <property fmtid="{D5CDD505-2E9C-101B-9397-08002B2CF9AE}" pid="4" name="Producer">
    <vt:lpwstr>WeasyPrint 62.3</vt:lpwstr>
  </property>
  <property fmtid="{D5CDD505-2E9C-101B-9397-08002B2CF9AE}" pid="5" name="LastSaved">
    <vt:filetime>2026-06-19T00:00:00Z</vt:filetime>
  </property>
</Properties>
</file>